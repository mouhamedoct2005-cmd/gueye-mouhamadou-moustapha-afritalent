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022" autoAdjust="0"/>
    <p:restoredTop sz="87967" autoAdjust="0"/>
  </p:normalViewPr>
  <p:slideViewPr>
    <p:cSldViewPr snapToGrid="0" snapToObjects="1">
      <p:cViewPr>
        <p:scale>
          <a:sx n="90" d="100"/>
          <a:sy n="90" d="100"/>
        </p:scale>
        <p:origin x="84" y="1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124707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de titre. Presenter le projet : site vitrine AfriTalent, plateforme fictive de freelance tech africain. HTML5 + CSS3 + Bootstrap 5 + JavaScript vanilla.</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Palette : orange = CTA et accents, navy = fonds sombres, accent rouge ponctuel. Typo : Syne pour les titres (caractere), Inter pour le corps (lisibilite).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index.html : navbar fixe avec 6 liens + dark mode, hero avec stats animees (IntersectionObserver), section comment ca marche en Bootstrap grid, 6 categories avec hover, carousel 3 temoignages, CTA, footer 4 colonnes.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freelances.html : barre de filtres JS par categorie, 9 cartes profils, responsive 3/2/1 colonnes. tarifs.html : 3 plans, Pro mis en avant avec badge Populaire et bordure orange, FAQ accordion 5 questions.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about.html : histoire, equipe 4 membres avec liens sociaux, 4 valeurs, chiffres cles animes. contact.html : formulaire 5 champs sans balise form, validation JS complete, Google Maps.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4 premieres fonctionnalites JS : dark mode localStorage, navbar au scroll, compteurs IntersectionObserver, fade-in IntersectionObserver. Toutes en vanilla JS, 0 jQuery.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Filtrage dynamique sans rechargement, validation formulaire avec regex pour nom (lettres uniquement) et email. 7e fonctionnalite : bouton retour en haut avec classList.add('visible').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commits exacts avec messages conformes au sujet, repartis dans le temps. GitHub Pages deploye, site accessible en ligne.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difficultes reelles rencontrees et resolues : Bootstrap !important, chemins GitHub Pages, style inline vs JS, regex validation.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Resources consultees conformes au README.md du depot.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Passer au navigateur pour la demonstration live. Montrer dans l'ordre : index (hero + stats animees + dark mode), freelances (filtres), tarifs, contact (validation formulaire).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Conclure sur les competences acquises. Ouvrir sur les questions techniques : etre pret a expliquer chaque ligne de code.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5.jpg"/></Relationships>
</file>

<file path=ppt/slides/_rels/slide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7.jp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A2E"/>
        </a:solidFill>
        <a:effectLst/>
      </p:bgPr>
    </p:bg>
    <p:spTree>
      <p:nvGrpSpPr>
        <p:cNvPr id="1" name=""/>
        <p:cNvGrpSpPr/>
        <p:nvPr/>
      </p:nvGrpSpPr>
      <p:grpSpPr>
        <a:xfrm>
          <a:off x="0" y="0"/>
          <a:ext cx="0" cy="0"/>
          <a:chOff x="0" y="0"/>
          <a:chExt cx="0" cy="0"/>
        </a:xfrm>
      </p:grpSpPr>
      <p:sp>
        <p:nvSpPr>
          <p:cNvPr id="2" name="Shape 0"/>
          <p:cNvSpPr/>
          <p:nvPr/>
        </p:nvSpPr>
        <p:spPr>
          <a:xfrm>
            <a:off x="9601200" y="-1371600"/>
            <a:ext cx="4389120" cy="4389120"/>
          </a:xfrm>
          <a:prstGeom prst="ellipse">
            <a:avLst/>
          </a:prstGeom>
          <a:solidFill>
            <a:srgbClr val="F5A623">
              <a:alpha val="12000"/>
            </a:srgbClr>
          </a:solidFill>
          <a:ln/>
        </p:spPr>
      </p:sp>
      <p:sp>
        <p:nvSpPr>
          <p:cNvPr id="3" name="Shape 1"/>
          <p:cNvSpPr/>
          <p:nvPr/>
        </p:nvSpPr>
        <p:spPr>
          <a:xfrm>
            <a:off x="-1097280" y="4572000"/>
            <a:ext cx="3657600" cy="3657600"/>
          </a:xfrm>
          <a:prstGeom prst="ellipse">
            <a:avLst/>
          </a:prstGeom>
          <a:solidFill>
            <a:srgbClr val="E94560">
              <a:alpha val="12000"/>
            </a:srgbClr>
          </a:solidFill>
          <a:ln/>
        </p:spPr>
      </p:sp>
      <p:sp>
        <p:nvSpPr>
          <p:cNvPr id="4" name="Shape 2"/>
          <p:cNvSpPr/>
          <p:nvPr/>
        </p:nvSpPr>
        <p:spPr>
          <a:xfrm>
            <a:off x="0" y="0"/>
            <a:ext cx="73152" cy="6858000"/>
          </a:xfrm>
          <a:prstGeom prst="rect">
            <a:avLst/>
          </a:prstGeom>
          <a:solidFill>
            <a:srgbClr val="F5A623"/>
          </a:solidFill>
          <a:ln/>
        </p:spPr>
      </p:sp>
      <p:sp>
        <p:nvSpPr>
          <p:cNvPr id="5" name="Text 3"/>
          <p:cNvSpPr/>
          <p:nvPr/>
        </p:nvSpPr>
        <p:spPr>
          <a:xfrm>
            <a:off x="822960" y="1645920"/>
            <a:ext cx="10058400" cy="1280160"/>
          </a:xfrm>
          <a:prstGeom prst="rect">
            <a:avLst/>
          </a:prstGeom>
          <a:noFill/>
          <a:ln/>
        </p:spPr>
        <p:txBody>
          <a:bodyPr wrap="square" lIns="0" tIns="0" rIns="0" bIns="0" rtlCol="0" anchor="ctr"/>
          <a:lstStyle/>
          <a:p>
            <a:pPr marL="0" indent="0" algn="l">
              <a:buNone/>
            </a:pPr>
            <a:r>
              <a:rPr lang="en-US" sz="6000" b="1" dirty="0">
                <a:solidFill>
                  <a:srgbClr val="FFFFFF"/>
                </a:solidFill>
                <a:latin typeface="Bookman Old Style" pitchFamily="34" charset="0"/>
                <a:ea typeface="Bookman Old Style" pitchFamily="34" charset="-122"/>
                <a:cs typeface="Bookman Old Style" pitchFamily="34" charset="-120"/>
              </a:rPr>
              <a:t>AFRITALENT</a:t>
            </a:r>
            <a:endParaRPr lang="en-US" sz="6000" dirty="0"/>
          </a:p>
        </p:txBody>
      </p:sp>
      <p:sp>
        <p:nvSpPr>
          <p:cNvPr id="6" name="Text 4"/>
          <p:cNvSpPr/>
          <p:nvPr/>
        </p:nvSpPr>
        <p:spPr>
          <a:xfrm>
            <a:off x="868680" y="2971800"/>
            <a:ext cx="8229600" cy="594360"/>
          </a:xfrm>
          <a:prstGeom prst="rect">
            <a:avLst/>
          </a:prstGeom>
          <a:noFill/>
          <a:ln/>
        </p:spPr>
        <p:txBody>
          <a:bodyPr wrap="square" lIns="0" tIns="0" rIns="0" bIns="0" rtlCol="0" anchor="ctr"/>
          <a:lstStyle/>
          <a:p>
            <a:pPr marL="0" indent="0">
              <a:buNone/>
            </a:pPr>
            <a:r>
              <a:rPr lang="en-US" sz="2200" i="1" dirty="0">
                <a:solidFill>
                  <a:srgbClr val="FFFFFF"/>
                </a:solidFill>
                <a:latin typeface="Calibri" pitchFamily="34" charset="0"/>
                <a:ea typeface="Calibri" pitchFamily="34" charset="-122"/>
                <a:cs typeface="Calibri" pitchFamily="34" charset="-120"/>
              </a:rPr>
              <a:t>Le talent africain, </a:t>
            </a:r>
            <a:r>
              <a:rPr lang="en-US" sz="2200" i="1" dirty="0">
                <a:solidFill>
                  <a:srgbClr val="F5A623"/>
                </a:solidFill>
                <a:latin typeface="Calibri" pitchFamily="34" charset="0"/>
                <a:ea typeface="Calibri" pitchFamily="34" charset="-122"/>
                <a:cs typeface="Calibri" pitchFamily="34" charset="-120"/>
              </a:rPr>
              <a:t>sans frontieres.</a:t>
            </a:r>
            <a:endParaRPr lang="en-US" sz="2200" dirty="0"/>
          </a:p>
        </p:txBody>
      </p:sp>
      <p:sp>
        <p:nvSpPr>
          <p:cNvPr id="7" name="Shape 5"/>
          <p:cNvSpPr/>
          <p:nvPr/>
        </p:nvSpPr>
        <p:spPr>
          <a:xfrm>
            <a:off x="868680" y="3703320"/>
            <a:ext cx="548640" cy="45720"/>
          </a:xfrm>
          <a:prstGeom prst="rect">
            <a:avLst/>
          </a:prstGeom>
          <a:solidFill>
            <a:srgbClr val="F5A623"/>
          </a:solidFill>
          <a:ln/>
        </p:spPr>
      </p:sp>
      <p:sp>
        <p:nvSpPr>
          <p:cNvPr id="8" name="Text 6"/>
          <p:cNvSpPr/>
          <p:nvPr/>
        </p:nvSpPr>
        <p:spPr>
          <a:xfrm>
            <a:off x="868680" y="3886200"/>
            <a:ext cx="8229600" cy="365760"/>
          </a:xfrm>
          <a:prstGeom prst="rect">
            <a:avLst/>
          </a:prstGeom>
          <a:noFill/>
          <a:ln/>
        </p:spPr>
        <p:txBody>
          <a:bodyPr wrap="square" lIns="0" tIns="0" rIns="0" bIns="0" rtlCol="0" anchor="ctr"/>
          <a:lstStyle/>
          <a:p>
            <a:pPr marL="0" indent="0">
              <a:buNone/>
            </a:pPr>
            <a:r>
              <a:rPr lang="en-US" sz="1450" dirty="0">
                <a:solidFill>
                  <a:srgbClr val="C7C7D9"/>
                </a:solidFill>
                <a:latin typeface="Calibri" pitchFamily="34" charset="0"/>
                <a:ea typeface="Calibri" pitchFamily="34" charset="-122"/>
                <a:cs typeface="Calibri" pitchFamily="34" charset="-120"/>
              </a:rPr>
              <a:t>Site vitrine d'une plateforme freelance tech africaine fictive</a:t>
            </a:r>
            <a:endParaRPr lang="en-US" sz="1450" dirty="0"/>
          </a:p>
        </p:txBody>
      </p:sp>
      <p:sp>
        <p:nvSpPr>
          <p:cNvPr id="9" name="Text 7"/>
          <p:cNvSpPr/>
          <p:nvPr/>
        </p:nvSpPr>
        <p:spPr>
          <a:xfrm>
            <a:off x="868680" y="5303520"/>
            <a:ext cx="8229600" cy="1188720"/>
          </a:xfrm>
          <a:prstGeom prst="rect">
            <a:avLst/>
          </a:prstGeom>
          <a:noFill/>
          <a:ln/>
        </p:spPr>
        <p:txBody>
          <a:bodyPr wrap="square" lIns="0" tIns="0" rIns="0" bIns="0" rtlCol="0" anchor="ctr"/>
          <a:lstStyle/>
          <a:p>
            <a:pPr marL="0" indent="0">
              <a:lnSpc>
                <a:spcPct val="140000"/>
              </a:lnSpc>
              <a:buNone/>
            </a:pPr>
            <a:r>
              <a:rPr lang="en-US" sz="1350" b="1" dirty="0">
                <a:solidFill>
                  <a:srgbClr val="FFFFFF"/>
                </a:solidFill>
                <a:latin typeface="Calibri" pitchFamily="34" charset="0"/>
                <a:ea typeface="Calibri" pitchFamily="34" charset="-122"/>
                <a:cs typeface="Calibri" pitchFamily="34" charset="-120"/>
              </a:rPr>
              <a:t>Mouhamadou Moustapha Gueye
</a:t>
            </a:r>
            <a:endParaRPr lang="en-US" sz="1350" dirty="0"/>
          </a:p>
          <a:p>
            <a:pPr marL="0" indent="0">
              <a:lnSpc>
                <a:spcPct val="140000"/>
              </a:lnSpc>
              <a:buNone/>
            </a:pPr>
            <a:r>
              <a:rPr lang="en-US" sz="1350" dirty="0">
                <a:solidFill>
                  <a:srgbClr val="9999B3"/>
                </a:solidFill>
                <a:latin typeface="Calibri" pitchFamily="34" charset="0"/>
                <a:ea typeface="Calibri" pitchFamily="34" charset="-122"/>
                <a:cs typeface="Calibri" pitchFamily="34" charset="-120"/>
              </a:rPr>
              <a:t>Licence 1 Informatique — Groupe ISI
</a:t>
            </a:r>
            <a:endParaRPr lang="en-US" sz="1350" dirty="0"/>
          </a:p>
          <a:p>
            <a:pPr marL="0" indent="0">
              <a:lnSpc>
                <a:spcPct val="140000"/>
              </a:lnSpc>
              <a:buNone/>
            </a:pPr>
            <a:r>
              <a:rPr lang="en-US" sz="1350" dirty="0">
                <a:solidFill>
                  <a:srgbClr val="9999B3"/>
                </a:solidFill>
                <a:latin typeface="Calibri" pitchFamily="34" charset="0"/>
                <a:ea typeface="Calibri" pitchFamily="34" charset="-122"/>
                <a:cs typeface="Calibri" pitchFamily="34" charset="-120"/>
              </a:rPr>
              <a:t>Projet Semestre 2 — 2025/2026</a:t>
            </a:r>
            <a:endParaRPr lang="en-US" sz="1350" dirty="0"/>
          </a:p>
        </p:txBody>
      </p:sp>
      <p:pic>
        <p:nvPicPr>
          <p:cNvPr id="10" name="Image 0" descr="assets/icon-rocket-fixed.png"/>
          <p:cNvPicPr>
            <a:picLocks noChangeAspect="1"/>
          </p:cNvPicPr>
          <p:nvPr/>
        </p:nvPicPr>
        <p:blipFill>
          <a:blip r:embed="rId3"/>
          <a:stretch>
            <a:fillRect/>
          </a:stretch>
        </p:blipFill>
        <p:spPr>
          <a:xfrm>
            <a:off x="10881360" y="5943600"/>
            <a:ext cx="640080" cy="64008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73152" cy="6858000"/>
          </a:xfrm>
          <a:prstGeom prst="rect">
            <a:avLst/>
          </a:prstGeom>
          <a:solidFill>
            <a:srgbClr val="F5A623"/>
          </a:solidFill>
          <a:ln/>
        </p:spPr>
      </p:sp>
      <p:sp>
        <p:nvSpPr>
          <p:cNvPr id="3" name="Text 1"/>
          <p:cNvSpPr/>
          <p:nvPr/>
        </p:nvSpPr>
        <p:spPr>
          <a:xfrm>
            <a:off x="640080" y="502920"/>
            <a:ext cx="8229600" cy="731520"/>
          </a:xfrm>
          <a:prstGeom prst="rect">
            <a:avLst/>
          </a:prstGeom>
          <a:noFill/>
          <a:ln/>
        </p:spPr>
        <p:txBody>
          <a:bodyPr wrap="square" lIns="0" tIns="0" rIns="0" bIns="0" rtlCol="0" anchor="ctr"/>
          <a:lstStyle/>
          <a:p>
            <a:pPr marL="0" indent="0">
              <a:buNone/>
            </a:pPr>
            <a:r>
              <a:rPr lang="en-US" sz="3400" b="1" dirty="0">
                <a:solidFill>
                  <a:srgbClr val="1A1A2E"/>
                </a:solidFill>
                <a:latin typeface="Bookman Old Style" pitchFamily="34" charset="0"/>
                <a:ea typeface="Bookman Old Style" pitchFamily="34" charset="-122"/>
                <a:cs typeface="Bookman Old Style" pitchFamily="34" charset="-120"/>
              </a:rPr>
              <a:t>Sommaire</a:t>
            </a:r>
            <a:endParaRPr lang="en-US" sz="3400" dirty="0"/>
          </a:p>
        </p:txBody>
      </p:sp>
      <p:sp>
        <p:nvSpPr>
          <p:cNvPr id="4" name="Text 2"/>
          <p:cNvSpPr/>
          <p:nvPr/>
        </p:nvSpPr>
        <p:spPr>
          <a:xfrm>
            <a:off x="640080" y="1600200"/>
            <a:ext cx="749808" cy="502920"/>
          </a:xfrm>
          <a:prstGeom prst="rect">
            <a:avLst/>
          </a:prstGeom>
          <a:noFill/>
          <a:ln/>
        </p:spPr>
        <p:txBody>
          <a:bodyPr wrap="square" lIns="0" tIns="0" rIns="0" bIns="0" rtlCol="0" anchor="ctr"/>
          <a:lstStyle/>
          <a:p>
            <a:pPr marL="0" indent="0">
              <a:buNone/>
            </a:pPr>
            <a:r>
              <a:rPr lang="en-US" sz="2400" b="1" dirty="0">
                <a:solidFill>
                  <a:srgbClr val="F5A623"/>
                </a:solidFill>
                <a:latin typeface="Bookman Old Style" pitchFamily="34" charset="0"/>
                <a:ea typeface="Bookman Old Style" pitchFamily="34" charset="-122"/>
                <a:cs typeface="Bookman Old Style" pitchFamily="34" charset="-120"/>
              </a:rPr>
              <a:t>01</a:t>
            </a:r>
            <a:endParaRPr lang="en-US" sz="2400" dirty="0"/>
          </a:p>
        </p:txBody>
      </p:sp>
      <p:sp>
        <p:nvSpPr>
          <p:cNvPr id="5" name="Text 3"/>
          <p:cNvSpPr/>
          <p:nvPr/>
        </p:nvSpPr>
        <p:spPr>
          <a:xfrm>
            <a:off x="1463040" y="1600200"/>
            <a:ext cx="4572000" cy="502920"/>
          </a:xfrm>
          <a:prstGeom prst="rect">
            <a:avLst/>
          </a:prstGeom>
          <a:noFill/>
          <a:ln/>
        </p:spPr>
        <p:txBody>
          <a:bodyPr wrap="square" lIns="0" tIns="0" rIns="0" bIns="0" rtlCol="0" anchor="ctr"/>
          <a:lstStyle/>
          <a:p>
            <a:pPr marL="0" indent="0">
              <a:buNone/>
            </a:pPr>
            <a:r>
              <a:rPr lang="en-US" sz="1450" dirty="0">
                <a:solidFill>
                  <a:srgbClr val="2D2D2D"/>
                </a:solidFill>
                <a:latin typeface="Calibri" pitchFamily="34" charset="0"/>
                <a:ea typeface="Calibri" pitchFamily="34" charset="-122"/>
                <a:cs typeface="Calibri" pitchFamily="34" charset="-120"/>
              </a:rPr>
              <a:t>Contexte &amp; objectifs</a:t>
            </a:r>
            <a:endParaRPr lang="en-US" sz="1450" dirty="0"/>
          </a:p>
        </p:txBody>
      </p:sp>
      <p:sp>
        <p:nvSpPr>
          <p:cNvPr id="6" name="Text 4"/>
          <p:cNvSpPr/>
          <p:nvPr/>
        </p:nvSpPr>
        <p:spPr>
          <a:xfrm>
            <a:off x="640080" y="2221992"/>
            <a:ext cx="749808" cy="502920"/>
          </a:xfrm>
          <a:prstGeom prst="rect">
            <a:avLst/>
          </a:prstGeom>
          <a:noFill/>
          <a:ln/>
        </p:spPr>
        <p:txBody>
          <a:bodyPr wrap="square" lIns="0" tIns="0" rIns="0" bIns="0" rtlCol="0" anchor="ctr"/>
          <a:lstStyle/>
          <a:p>
            <a:pPr marL="0" indent="0">
              <a:buNone/>
            </a:pPr>
            <a:r>
              <a:rPr lang="en-US" sz="2400" b="1" dirty="0">
                <a:solidFill>
                  <a:srgbClr val="F5A623"/>
                </a:solidFill>
                <a:latin typeface="Bookman Old Style" pitchFamily="34" charset="0"/>
                <a:ea typeface="Bookman Old Style" pitchFamily="34" charset="-122"/>
                <a:cs typeface="Bookman Old Style" pitchFamily="34" charset="-120"/>
              </a:rPr>
              <a:t>02</a:t>
            </a:r>
            <a:endParaRPr lang="en-US" sz="2400" dirty="0"/>
          </a:p>
        </p:txBody>
      </p:sp>
      <p:sp>
        <p:nvSpPr>
          <p:cNvPr id="7" name="Text 5"/>
          <p:cNvSpPr/>
          <p:nvPr/>
        </p:nvSpPr>
        <p:spPr>
          <a:xfrm>
            <a:off x="1463040" y="2221992"/>
            <a:ext cx="4572000" cy="502920"/>
          </a:xfrm>
          <a:prstGeom prst="rect">
            <a:avLst/>
          </a:prstGeom>
          <a:noFill/>
          <a:ln/>
        </p:spPr>
        <p:txBody>
          <a:bodyPr wrap="square" lIns="0" tIns="0" rIns="0" bIns="0" rtlCol="0" anchor="ctr"/>
          <a:lstStyle/>
          <a:p>
            <a:pPr marL="0" indent="0">
              <a:buNone/>
            </a:pPr>
            <a:r>
              <a:rPr lang="en-US" sz="1450" dirty="0">
                <a:solidFill>
                  <a:srgbClr val="2D2D2D"/>
                </a:solidFill>
                <a:latin typeface="Calibri" pitchFamily="34" charset="0"/>
                <a:ea typeface="Calibri" pitchFamily="34" charset="-122"/>
                <a:cs typeface="Calibri" pitchFamily="34" charset="-120"/>
              </a:rPr>
              <a:t>Choix de design : couleurs &amp; typographie</a:t>
            </a:r>
            <a:endParaRPr lang="en-US" sz="1450" dirty="0"/>
          </a:p>
        </p:txBody>
      </p:sp>
      <p:sp>
        <p:nvSpPr>
          <p:cNvPr id="8" name="Text 6"/>
          <p:cNvSpPr/>
          <p:nvPr/>
        </p:nvSpPr>
        <p:spPr>
          <a:xfrm>
            <a:off x="640080" y="2843784"/>
            <a:ext cx="749808" cy="502920"/>
          </a:xfrm>
          <a:prstGeom prst="rect">
            <a:avLst/>
          </a:prstGeom>
          <a:noFill/>
          <a:ln/>
        </p:spPr>
        <p:txBody>
          <a:bodyPr wrap="square" lIns="0" tIns="0" rIns="0" bIns="0" rtlCol="0" anchor="ctr"/>
          <a:lstStyle/>
          <a:p>
            <a:pPr marL="0" indent="0">
              <a:buNone/>
            </a:pPr>
            <a:r>
              <a:rPr lang="en-US" sz="2400" b="1" dirty="0">
                <a:solidFill>
                  <a:srgbClr val="F5A623"/>
                </a:solidFill>
                <a:latin typeface="Bookman Old Style" pitchFamily="34" charset="0"/>
                <a:ea typeface="Bookman Old Style" pitchFamily="34" charset="-122"/>
                <a:cs typeface="Bookman Old Style" pitchFamily="34" charset="-120"/>
              </a:rPr>
              <a:t>03</a:t>
            </a:r>
            <a:endParaRPr lang="en-US" sz="2400" dirty="0"/>
          </a:p>
        </p:txBody>
      </p:sp>
      <p:sp>
        <p:nvSpPr>
          <p:cNvPr id="9" name="Text 7"/>
          <p:cNvSpPr/>
          <p:nvPr/>
        </p:nvSpPr>
        <p:spPr>
          <a:xfrm>
            <a:off x="1463040" y="2843784"/>
            <a:ext cx="4572000" cy="502920"/>
          </a:xfrm>
          <a:prstGeom prst="rect">
            <a:avLst/>
          </a:prstGeom>
          <a:noFill/>
          <a:ln/>
        </p:spPr>
        <p:txBody>
          <a:bodyPr wrap="square" lIns="0" tIns="0" rIns="0" bIns="0" rtlCol="0" anchor="ctr"/>
          <a:lstStyle/>
          <a:p>
            <a:pPr marL="0" indent="0">
              <a:buNone/>
            </a:pPr>
            <a:r>
              <a:rPr lang="en-US" sz="1450" dirty="0">
                <a:solidFill>
                  <a:srgbClr val="2D2D2D"/>
                </a:solidFill>
                <a:latin typeface="Calibri" pitchFamily="34" charset="0"/>
                <a:ea typeface="Calibri" pitchFamily="34" charset="-122"/>
                <a:cs typeface="Calibri" pitchFamily="34" charset="-120"/>
              </a:rPr>
              <a:t>Capture — Page d'accueil</a:t>
            </a:r>
            <a:endParaRPr lang="en-US" sz="1450" dirty="0"/>
          </a:p>
        </p:txBody>
      </p:sp>
      <p:sp>
        <p:nvSpPr>
          <p:cNvPr id="10" name="Text 8"/>
          <p:cNvSpPr/>
          <p:nvPr/>
        </p:nvSpPr>
        <p:spPr>
          <a:xfrm>
            <a:off x="640080" y="3465576"/>
            <a:ext cx="749808" cy="502920"/>
          </a:xfrm>
          <a:prstGeom prst="rect">
            <a:avLst/>
          </a:prstGeom>
          <a:noFill/>
          <a:ln/>
        </p:spPr>
        <p:txBody>
          <a:bodyPr wrap="square" lIns="0" tIns="0" rIns="0" bIns="0" rtlCol="0" anchor="ctr"/>
          <a:lstStyle/>
          <a:p>
            <a:pPr marL="0" indent="0">
              <a:buNone/>
            </a:pPr>
            <a:r>
              <a:rPr lang="en-US" sz="2400" b="1" dirty="0">
                <a:solidFill>
                  <a:srgbClr val="F5A623"/>
                </a:solidFill>
                <a:latin typeface="Bookman Old Style" pitchFamily="34" charset="0"/>
                <a:ea typeface="Bookman Old Style" pitchFamily="34" charset="-122"/>
                <a:cs typeface="Bookman Old Style" pitchFamily="34" charset="-120"/>
              </a:rPr>
              <a:t>04</a:t>
            </a:r>
            <a:endParaRPr lang="en-US" sz="2400" dirty="0"/>
          </a:p>
        </p:txBody>
      </p:sp>
      <p:sp>
        <p:nvSpPr>
          <p:cNvPr id="11" name="Text 9"/>
          <p:cNvSpPr/>
          <p:nvPr/>
        </p:nvSpPr>
        <p:spPr>
          <a:xfrm>
            <a:off x="1463040" y="3465576"/>
            <a:ext cx="4572000" cy="502920"/>
          </a:xfrm>
          <a:prstGeom prst="rect">
            <a:avLst/>
          </a:prstGeom>
          <a:noFill/>
          <a:ln/>
        </p:spPr>
        <p:txBody>
          <a:bodyPr wrap="square" lIns="0" tIns="0" rIns="0" bIns="0" rtlCol="0" anchor="ctr"/>
          <a:lstStyle/>
          <a:p>
            <a:pPr marL="0" indent="0">
              <a:buNone/>
            </a:pPr>
            <a:r>
              <a:rPr lang="en-US" sz="1450" dirty="0">
                <a:solidFill>
                  <a:srgbClr val="2D2D2D"/>
                </a:solidFill>
                <a:latin typeface="Calibri" pitchFamily="34" charset="0"/>
                <a:ea typeface="Calibri" pitchFamily="34" charset="-122"/>
                <a:cs typeface="Calibri" pitchFamily="34" charset="-120"/>
              </a:rPr>
              <a:t>Capture — Freelances &amp; Tarifs</a:t>
            </a:r>
            <a:endParaRPr lang="en-US" sz="1450" dirty="0"/>
          </a:p>
        </p:txBody>
      </p:sp>
      <p:sp>
        <p:nvSpPr>
          <p:cNvPr id="12" name="Text 10"/>
          <p:cNvSpPr/>
          <p:nvPr/>
        </p:nvSpPr>
        <p:spPr>
          <a:xfrm>
            <a:off x="640080" y="4087368"/>
            <a:ext cx="749808" cy="502920"/>
          </a:xfrm>
          <a:prstGeom prst="rect">
            <a:avLst/>
          </a:prstGeom>
          <a:noFill/>
          <a:ln/>
        </p:spPr>
        <p:txBody>
          <a:bodyPr wrap="square" lIns="0" tIns="0" rIns="0" bIns="0" rtlCol="0" anchor="ctr"/>
          <a:lstStyle/>
          <a:p>
            <a:pPr marL="0" indent="0">
              <a:buNone/>
            </a:pPr>
            <a:r>
              <a:rPr lang="en-US" sz="2400" b="1" dirty="0">
                <a:solidFill>
                  <a:srgbClr val="F5A623"/>
                </a:solidFill>
                <a:latin typeface="Bookman Old Style" pitchFamily="34" charset="0"/>
                <a:ea typeface="Bookman Old Style" pitchFamily="34" charset="-122"/>
                <a:cs typeface="Bookman Old Style" pitchFamily="34" charset="-120"/>
              </a:rPr>
              <a:t>05</a:t>
            </a:r>
            <a:endParaRPr lang="en-US" sz="2400" dirty="0"/>
          </a:p>
        </p:txBody>
      </p:sp>
      <p:sp>
        <p:nvSpPr>
          <p:cNvPr id="13" name="Text 11"/>
          <p:cNvSpPr/>
          <p:nvPr/>
        </p:nvSpPr>
        <p:spPr>
          <a:xfrm>
            <a:off x="1463040" y="4087368"/>
            <a:ext cx="4572000" cy="502920"/>
          </a:xfrm>
          <a:prstGeom prst="rect">
            <a:avLst/>
          </a:prstGeom>
          <a:noFill/>
          <a:ln/>
        </p:spPr>
        <p:txBody>
          <a:bodyPr wrap="square" lIns="0" tIns="0" rIns="0" bIns="0" rtlCol="0" anchor="ctr"/>
          <a:lstStyle/>
          <a:p>
            <a:pPr marL="0" indent="0">
              <a:buNone/>
            </a:pPr>
            <a:r>
              <a:rPr lang="en-US" sz="1450" dirty="0">
                <a:solidFill>
                  <a:srgbClr val="2D2D2D"/>
                </a:solidFill>
                <a:latin typeface="Calibri" pitchFamily="34" charset="0"/>
                <a:ea typeface="Calibri" pitchFamily="34" charset="-122"/>
                <a:cs typeface="Calibri" pitchFamily="34" charset="-120"/>
              </a:rPr>
              <a:t>Capture — A propos &amp; Contact</a:t>
            </a:r>
            <a:endParaRPr lang="en-US" sz="1450" dirty="0"/>
          </a:p>
        </p:txBody>
      </p:sp>
      <p:sp>
        <p:nvSpPr>
          <p:cNvPr id="14" name="Text 12"/>
          <p:cNvSpPr/>
          <p:nvPr/>
        </p:nvSpPr>
        <p:spPr>
          <a:xfrm>
            <a:off x="6400800" y="1600200"/>
            <a:ext cx="749808" cy="502920"/>
          </a:xfrm>
          <a:prstGeom prst="rect">
            <a:avLst/>
          </a:prstGeom>
          <a:noFill/>
          <a:ln/>
        </p:spPr>
        <p:txBody>
          <a:bodyPr wrap="square" lIns="0" tIns="0" rIns="0" bIns="0" rtlCol="0" anchor="ctr"/>
          <a:lstStyle/>
          <a:p>
            <a:pPr marL="0" indent="0">
              <a:buNone/>
            </a:pPr>
            <a:r>
              <a:rPr lang="en-US" sz="2400" b="1" dirty="0">
                <a:solidFill>
                  <a:srgbClr val="F5A623"/>
                </a:solidFill>
                <a:latin typeface="Bookman Old Style" pitchFamily="34" charset="0"/>
                <a:ea typeface="Bookman Old Style" pitchFamily="34" charset="-122"/>
                <a:cs typeface="Bookman Old Style" pitchFamily="34" charset="-120"/>
              </a:rPr>
              <a:t>06</a:t>
            </a:r>
            <a:endParaRPr lang="en-US" sz="2400" dirty="0"/>
          </a:p>
        </p:txBody>
      </p:sp>
      <p:sp>
        <p:nvSpPr>
          <p:cNvPr id="15" name="Text 13"/>
          <p:cNvSpPr/>
          <p:nvPr/>
        </p:nvSpPr>
        <p:spPr>
          <a:xfrm>
            <a:off x="7223760" y="1600200"/>
            <a:ext cx="4572000" cy="502920"/>
          </a:xfrm>
          <a:prstGeom prst="rect">
            <a:avLst/>
          </a:prstGeom>
          <a:noFill/>
          <a:ln/>
        </p:spPr>
        <p:txBody>
          <a:bodyPr wrap="square" lIns="0" tIns="0" rIns="0" bIns="0" rtlCol="0" anchor="ctr"/>
          <a:lstStyle/>
          <a:p>
            <a:pPr marL="0" indent="0">
              <a:buNone/>
            </a:pPr>
            <a:r>
              <a:rPr lang="en-US" sz="1450" dirty="0">
                <a:solidFill>
                  <a:srgbClr val="2D2D2D"/>
                </a:solidFill>
                <a:latin typeface="Calibri" pitchFamily="34" charset="0"/>
                <a:ea typeface="Calibri" pitchFamily="34" charset="-122"/>
                <a:cs typeface="Calibri" pitchFamily="34" charset="-120"/>
              </a:rPr>
              <a:t>Fonctionnalites JavaScript (1/2)</a:t>
            </a:r>
            <a:endParaRPr lang="en-US" sz="1450" dirty="0"/>
          </a:p>
        </p:txBody>
      </p:sp>
      <p:sp>
        <p:nvSpPr>
          <p:cNvPr id="16" name="Text 14"/>
          <p:cNvSpPr/>
          <p:nvPr/>
        </p:nvSpPr>
        <p:spPr>
          <a:xfrm>
            <a:off x="6400800" y="2221992"/>
            <a:ext cx="749808" cy="502920"/>
          </a:xfrm>
          <a:prstGeom prst="rect">
            <a:avLst/>
          </a:prstGeom>
          <a:noFill/>
          <a:ln/>
        </p:spPr>
        <p:txBody>
          <a:bodyPr wrap="square" lIns="0" tIns="0" rIns="0" bIns="0" rtlCol="0" anchor="ctr"/>
          <a:lstStyle/>
          <a:p>
            <a:pPr marL="0" indent="0">
              <a:buNone/>
            </a:pPr>
            <a:r>
              <a:rPr lang="en-US" sz="2400" b="1" dirty="0">
                <a:solidFill>
                  <a:srgbClr val="F5A623"/>
                </a:solidFill>
                <a:latin typeface="Bookman Old Style" pitchFamily="34" charset="0"/>
                <a:ea typeface="Bookman Old Style" pitchFamily="34" charset="-122"/>
                <a:cs typeface="Bookman Old Style" pitchFamily="34" charset="-120"/>
              </a:rPr>
              <a:t>07</a:t>
            </a:r>
            <a:endParaRPr lang="en-US" sz="2400" dirty="0"/>
          </a:p>
        </p:txBody>
      </p:sp>
      <p:sp>
        <p:nvSpPr>
          <p:cNvPr id="17" name="Text 15"/>
          <p:cNvSpPr/>
          <p:nvPr/>
        </p:nvSpPr>
        <p:spPr>
          <a:xfrm>
            <a:off x="7223760" y="2221992"/>
            <a:ext cx="4572000" cy="502920"/>
          </a:xfrm>
          <a:prstGeom prst="rect">
            <a:avLst/>
          </a:prstGeom>
          <a:noFill/>
          <a:ln/>
        </p:spPr>
        <p:txBody>
          <a:bodyPr wrap="square" lIns="0" tIns="0" rIns="0" bIns="0" rtlCol="0" anchor="ctr"/>
          <a:lstStyle/>
          <a:p>
            <a:pPr marL="0" indent="0">
              <a:buNone/>
            </a:pPr>
            <a:r>
              <a:rPr lang="en-US" sz="1450" dirty="0">
                <a:solidFill>
                  <a:srgbClr val="2D2D2D"/>
                </a:solidFill>
                <a:latin typeface="Calibri" pitchFamily="34" charset="0"/>
                <a:ea typeface="Calibri" pitchFamily="34" charset="-122"/>
                <a:cs typeface="Calibri" pitchFamily="34" charset="-120"/>
              </a:rPr>
              <a:t>Fonctionnalites JavaScript (2/2)</a:t>
            </a:r>
            <a:endParaRPr lang="en-US" sz="1450" dirty="0"/>
          </a:p>
        </p:txBody>
      </p:sp>
      <p:sp>
        <p:nvSpPr>
          <p:cNvPr id="18" name="Text 16"/>
          <p:cNvSpPr/>
          <p:nvPr/>
        </p:nvSpPr>
        <p:spPr>
          <a:xfrm>
            <a:off x="6400800" y="2843784"/>
            <a:ext cx="749808" cy="502920"/>
          </a:xfrm>
          <a:prstGeom prst="rect">
            <a:avLst/>
          </a:prstGeom>
          <a:noFill/>
          <a:ln/>
        </p:spPr>
        <p:txBody>
          <a:bodyPr wrap="square" lIns="0" tIns="0" rIns="0" bIns="0" rtlCol="0" anchor="ctr"/>
          <a:lstStyle/>
          <a:p>
            <a:pPr marL="0" indent="0">
              <a:buNone/>
            </a:pPr>
            <a:r>
              <a:rPr lang="en-US" sz="2400" b="1" dirty="0">
                <a:solidFill>
                  <a:srgbClr val="F5A623"/>
                </a:solidFill>
                <a:latin typeface="Bookman Old Style" pitchFamily="34" charset="0"/>
                <a:ea typeface="Bookman Old Style" pitchFamily="34" charset="-122"/>
                <a:cs typeface="Bookman Old Style" pitchFamily="34" charset="-120"/>
              </a:rPr>
              <a:t>08</a:t>
            </a:r>
            <a:endParaRPr lang="en-US" sz="2400" dirty="0"/>
          </a:p>
        </p:txBody>
      </p:sp>
      <p:sp>
        <p:nvSpPr>
          <p:cNvPr id="19" name="Text 17"/>
          <p:cNvSpPr/>
          <p:nvPr/>
        </p:nvSpPr>
        <p:spPr>
          <a:xfrm>
            <a:off x="7223760" y="2843784"/>
            <a:ext cx="4572000" cy="502920"/>
          </a:xfrm>
          <a:prstGeom prst="rect">
            <a:avLst/>
          </a:prstGeom>
          <a:noFill/>
          <a:ln/>
        </p:spPr>
        <p:txBody>
          <a:bodyPr wrap="square" lIns="0" tIns="0" rIns="0" bIns="0" rtlCol="0" anchor="ctr"/>
          <a:lstStyle/>
          <a:p>
            <a:pPr marL="0" indent="0">
              <a:buNone/>
            </a:pPr>
            <a:r>
              <a:rPr lang="en-US" sz="1450" dirty="0">
                <a:solidFill>
                  <a:srgbClr val="2D2D2D"/>
                </a:solidFill>
                <a:latin typeface="Calibri" pitchFamily="34" charset="0"/>
                <a:ea typeface="Calibri" pitchFamily="34" charset="-122"/>
                <a:cs typeface="Calibri" pitchFamily="34" charset="-120"/>
              </a:rPr>
              <a:t>Workflow Git &amp; GitHub Pages</a:t>
            </a:r>
            <a:endParaRPr lang="en-US" sz="1450" dirty="0"/>
          </a:p>
        </p:txBody>
      </p:sp>
      <p:sp>
        <p:nvSpPr>
          <p:cNvPr id="20" name="Text 18"/>
          <p:cNvSpPr/>
          <p:nvPr/>
        </p:nvSpPr>
        <p:spPr>
          <a:xfrm>
            <a:off x="6400800" y="3465576"/>
            <a:ext cx="749808" cy="502920"/>
          </a:xfrm>
          <a:prstGeom prst="rect">
            <a:avLst/>
          </a:prstGeom>
          <a:noFill/>
          <a:ln/>
        </p:spPr>
        <p:txBody>
          <a:bodyPr wrap="square" lIns="0" tIns="0" rIns="0" bIns="0" rtlCol="0" anchor="ctr"/>
          <a:lstStyle/>
          <a:p>
            <a:pPr marL="0" indent="0">
              <a:buNone/>
            </a:pPr>
            <a:r>
              <a:rPr lang="en-US" sz="2400" b="1" dirty="0">
                <a:solidFill>
                  <a:srgbClr val="F5A623"/>
                </a:solidFill>
                <a:latin typeface="Bookman Old Style" pitchFamily="34" charset="0"/>
                <a:ea typeface="Bookman Old Style" pitchFamily="34" charset="-122"/>
                <a:cs typeface="Bookman Old Style" pitchFamily="34" charset="-120"/>
              </a:rPr>
              <a:t>09</a:t>
            </a:r>
            <a:endParaRPr lang="en-US" sz="2400" dirty="0"/>
          </a:p>
        </p:txBody>
      </p:sp>
      <p:sp>
        <p:nvSpPr>
          <p:cNvPr id="21" name="Text 19"/>
          <p:cNvSpPr/>
          <p:nvPr/>
        </p:nvSpPr>
        <p:spPr>
          <a:xfrm>
            <a:off x="7223760" y="3465576"/>
            <a:ext cx="4572000" cy="502920"/>
          </a:xfrm>
          <a:prstGeom prst="rect">
            <a:avLst/>
          </a:prstGeom>
          <a:noFill/>
          <a:ln/>
        </p:spPr>
        <p:txBody>
          <a:bodyPr wrap="square" lIns="0" tIns="0" rIns="0" bIns="0" rtlCol="0" anchor="ctr"/>
          <a:lstStyle/>
          <a:p>
            <a:pPr marL="0" indent="0">
              <a:buNone/>
            </a:pPr>
            <a:r>
              <a:rPr lang="en-US" sz="1450" dirty="0">
                <a:solidFill>
                  <a:srgbClr val="2D2D2D"/>
                </a:solidFill>
                <a:latin typeface="Calibri" pitchFamily="34" charset="0"/>
                <a:ea typeface="Calibri" pitchFamily="34" charset="-122"/>
                <a:cs typeface="Calibri" pitchFamily="34" charset="-120"/>
              </a:rPr>
              <a:t>Difficultes &amp; solutions</a:t>
            </a:r>
            <a:endParaRPr lang="en-US" sz="1450" dirty="0"/>
          </a:p>
        </p:txBody>
      </p:sp>
      <p:sp>
        <p:nvSpPr>
          <p:cNvPr id="22" name="Text 20"/>
          <p:cNvSpPr/>
          <p:nvPr/>
        </p:nvSpPr>
        <p:spPr>
          <a:xfrm>
            <a:off x="6400800" y="4087368"/>
            <a:ext cx="749808" cy="502920"/>
          </a:xfrm>
          <a:prstGeom prst="rect">
            <a:avLst/>
          </a:prstGeom>
          <a:noFill/>
          <a:ln/>
        </p:spPr>
        <p:txBody>
          <a:bodyPr wrap="square" lIns="0" tIns="0" rIns="0" bIns="0" rtlCol="0" anchor="ctr"/>
          <a:lstStyle/>
          <a:p>
            <a:pPr marL="0" indent="0">
              <a:buNone/>
            </a:pPr>
            <a:r>
              <a:rPr lang="en-US" sz="2400" b="1" dirty="0">
                <a:solidFill>
                  <a:srgbClr val="F5A623"/>
                </a:solidFill>
                <a:latin typeface="Bookman Old Style" pitchFamily="34" charset="0"/>
                <a:ea typeface="Bookman Old Style" pitchFamily="34" charset="-122"/>
                <a:cs typeface="Bookman Old Style" pitchFamily="34" charset="-120"/>
              </a:rPr>
              <a:t>10</a:t>
            </a:r>
            <a:endParaRPr lang="en-US" sz="2400" dirty="0"/>
          </a:p>
        </p:txBody>
      </p:sp>
      <p:sp>
        <p:nvSpPr>
          <p:cNvPr id="23" name="Text 21"/>
          <p:cNvSpPr/>
          <p:nvPr/>
        </p:nvSpPr>
        <p:spPr>
          <a:xfrm>
            <a:off x="7223760" y="4087368"/>
            <a:ext cx="4572000" cy="502920"/>
          </a:xfrm>
          <a:prstGeom prst="rect">
            <a:avLst/>
          </a:prstGeom>
          <a:noFill/>
          <a:ln/>
        </p:spPr>
        <p:txBody>
          <a:bodyPr wrap="square" lIns="0" tIns="0" rIns="0" bIns="0" rtlCol="0" anchor="ctr"/>
          <a:lstStyle/>
          <a:p>
            <a:pPr marL="0" indent="0">
              <a:buNone/>
            </a:pPr>
            <a:r>
              <a:rPr lang="en-US" sz="1450" dirty="0">
                <a:solidFill>
                  <a:srgbClr val="2D2D2D"/>
                </a:solidFill>
                <a:latin typeface="Calibri" pitchFamily="34" charset="0"/>
                <a:ea typeface="Calibri" pitchFamily="34" charset="-122"/>
                <a:cs typeface="Calibri" pitchFamily="34" charset="-120"/>
              </a:rPr>
              <a:t>Ressources &amp; conclusion</a:t>
            </a:r>
            <a:endParaRPr lang="en-US" sz="14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47472"/>
            <a:ext cx="8229600" cy="292608"/>
          </a:xfrm>
          <a:prstGeom prst="rect">
            <a:avLst/>
          </a:prstGeom>
          <a:noFill/>
          <a:ln/>
        </p:spPr>
        <p:txBody>
          <a:bodyPr wrap="square" lIns="0" tIns="0" rIns="0" bIns="0" rtlCol="0" anchor="ctr"/>
          <a:lstStyle/>
          <a:p>
            <a:pPr marL="0" indent="0">
              <a:buNone/>
            </a:pPr>
            <a:r>
              <a:rPr lang="en-US" sz="1100" b="1" kern="0" spc="250" dirty="0">
                <a:solidFill>
                  <a:srgbClr val="F5A623"/>
                </a:solidFill>
                <a:latin typeface="Calibri" pitchFamily="34" charset="0"/>
                <a:ea typeface="Calibri" pitchFamily="34" charset="-122"/>
                <a:cs typeface="Calibri" pitchFamily="34" charset="-120"/>
              </a:rPr>
              <a:t>CONTEXTE &amp; OBJECTIFS</a:t>
            </a:r>
            <a:endParaRPr lang="en-US" sz="1100" dirty="0"/>
          </a:p>
        </p:txBody>
      </p:sp>
      <p:sp>
        <p:nvSpPr>
          <p:cNvPr id="3" name="Text 1"/>
          <p:cNvSpPr/>
          <p:nvPr/>
        </p:nvSpPr>
        <p:spPr>
          <a:xfrm>
            <a:off x="640080" y="685800"/>
            <a:ext cx="8229600" cy="640080"/>
          </a:xfrm>
          <a:prstGeom prst="rect">
            <a:avLst/>
          </a:prstGeom>
          <a:noFill/>
          <a:ln/>
        </p:spPr>
        <p:txBody>
          <a:bodyPr wrap="square" lIns="0" tIns="0" rIns="0" bIns="0" rtlCol="0" anchor="ctr"/>
          <a:lstStyle/>
          <a:p>
            <a:pPr marL="0" indent="0">
              <a:buNone/>
            </a:pPr>
            <a:r>
              <a:rPr lang="en-US" sz="3000" b="1" dirty="0">
                <a:solidFill>
                  <a:srgbClr val="1A1A2E"/>
                </a:solidFill>
                <a:latin typeface="Bookman Old Style" pitchFamily="34" charset="0"/>
                <a:ea typeface="Bookman Old Style" pitchFamily="34" charset="-122"/>
                <a:cs typeface="Bookman Old Style" pitchFamily="34" charset="-120"/>
              </a:rPr>
              <a:t>Pourquoi AfriTalent ?</a:t>
            </a:r>
            <a:endParaRPr lang="en-US" sz="3000" dirty="0"/>
          </a:p>
        </p:txBody>
      </p:sp>
      <p:sp>
        <p:nvSpPr>
          <p:cNvPr id="4" name="Shape 2"/>
          <p:cNvSpPr/>
          <p:nvPr/>
        </p:nvSpPr>
        <p:spPr>
          <a:xfrm>
            <a:off x="640080" y="1508760"/>
            <a:ext cx="5166360" cy="4663440"/>
          </a:xfrm>
          <a:prstGeom prst="roundRect">
            <a:avLst>
              <a:gd name="adj" fmla="val 1569"/>
            </a:avLst>
          </a:prstGeom>
          <a:solidFill>
            <a:srgbClr val="1A1A2E"/>
          </a:solidFill>
          <a:ln/>
          <a:effectLst>
            <a:outerShdw blurRad="101600" dist="38100" dir="2700000" algn="bl" rotWithShape="0">
              <a:srgbClr val="000000">
                <a:alpha val="15000"/>
              </a:srgbClr>
            </a:outerShdw>
          </a:effectLst>
        </p:spPr>
      </p:sp>
      <p:sp>
        <p:nvSpPr>
          <p:cNvPr id="5" name="Text 3"/>
          <p:cNvSpPr/>
          <p:nvPr/>
        </p:nvSpPr>
        <p:spPr>
          <a:xfrm>
            <a:off x="914400" y="1737360"/>
            <a:ext cx="4572000" cy="411480"/>
          </a:xfrm>
          <a:prstGeom prst="rect">
            <a:avLst/>
          </a:prstGeom>
          <a:noFill/>
          <a:ln/>
        </p:spPr>
        <p:txBody>
          <a:bodyPr wrap="square" lIns="0" tIns="0" rIns="0" bIns="0" rtlCol="0" anchor="ctr"/>
          <a:lstStyle/>
          <a:p>
            <a:pPr marL="0" indent="0">
              <a:buNone/>
            </a:pPr>
            <a:r>
              <a:rPr lang="en-US" sz="1800" b="1" dirty="0">
                <a:solidFill>
                  <a:srgbClr val="F5A623"/>
                </a:solidFill>
                <a:latin typeface="Bookman Old Style" pitchFamily="34" charset="0"/>
                <a:ea typeface="Bookman Old Style" pitchFamily="34" charset="-122"/>
                <a:cs typeface="Bookman Old Style" pitchFamily="34" charset="-120"/>
              </a:rPr>
              <a:t>Contexte</a:t>
            </a:r>
            <a:endParaRPr lang="en-US" sz="1800" dirty="0"/>
          </a:p>
        </p:txBody>
      </p:sp>
      <p:sp>
        <p:nvSpPr>
          <p:cNvPr id="6" name="Text 4"/>
          <p:cNvSpPr/>
          <p:nvPr/>
        </p:nvSpPr>
        <p:spPr>
          <a:xfrm>
            <a:off x="914400" y="2240280"/>
            <a:ext cx="4663440" cy="1280160"/>
          </a:xfrm>
          <a:prstGeom prst="rect">
            <a:avLst/>
          </a:prstGeom>
          <a:noFill/>
          <a:ln/>
        </p:spPr>
        <p:txBody>
          <a:bodyPr wrap="square" lIns="0" tIns="0" rIns="0" bIns="0" rtlCol="0" anchor="ctr"/>
          <a:lstStyle/>
          <a:p>
            <a:pPr marL="0" indent="0">
              <a:lnSpc>
                <a:spcPct val="135000"/>
              </a:lnSpc>
              <a:buNone/>
            </a:pPr>
            <a:r>
              <a:rPr lang="en-US" sz="1200" dirty="0">
                <a:solidFill>
                  <a:srgbClr val="D8D8E8"/>
                </a:solidFill>
                <a:latin typeface="Calibri" pitchFamily="34" charset="0"/>
                <a:ea typeface="Calibri" pitchFamily="34" charset="-122"/>
                <a:cs typeface="Calibri" pitchFamily="34" charset="-120"/>
              </a:rPr>
              <a:t>Le marche du freelance tech en Afrique connait une croissance explosive. De plus en plus de developpeurs, designers et createurs de contenu cherchent une plateforme fiable pour proposer leurs services et trouver des missions.</a:t>
            </a:r>
            <a:endParaRPr lang="en-US" sz="1200" dirty="0"/>
          </a:p>
        </p:txBody>
      </p:sp>
      <p:sp>
        <p:nvSpPr>
          <p:cNvPr id="7" name="Text 5"/>
          <p:cNvSpPr/>
          <p:nvPr/>
        </p:nvSpPr>
        <p:spPr>
          <a:xfrm>
            <a:off x="914400" y="3611880"/>
            <a:ext cx="4572000" cy="365760"/>
          </a:xfrm>
          <a:prstGeom prst="rect">
            <a:avLst/>
          </a:prstGeom>
          <a:noFill/>
          <a:ln/>
        </p:spPr>
        <p:txBody>
          <a:bodyPr wrap="square" lIns="0" tIns="0" rIns="0" bIns="0" rtlCol="0" anchor="ctr"/>
          <a:lstStyle/>
          <a:p>
            <a:pPr marL="0" indent="0">
              <a:buNone/>
            </a:pPr>
            <a:r>
              <a:rPr lang="en-US" sz="1800" b="1" dirty="0">
                <a:solidFill>
                  <a:srgbClr val="F5A623"/>
                </a:solidFill>
                <a:latin typeface="Bookman Old Style" pitchFamily="34" charset="0"/>
                <a:ea typeface="Bookman Old Style" pitchFamily="34" charset="-122"/>
                <a:cs typeface="Bookman Old Style" pitchFamily="34" charset="-120"/>
              </a:rPr>
              <a:t>Objectif</a:t>
            </a:r>
            <a:endParaRPr lang="en-US" sz="1800" dirty="0"/>
          </a:p>
        </p:txBody>
      </p:sp>
      <p:sp>
        <p:nvSpPr>
          <p:cNvPr id="8" name="Text 6"/>
          <p:cNvSpPr/>
          <p:nvPr/>
        </p:nvSpPr>
        <p:spPr>
          <a:xfrm>
            <a:off x="914400" y="4023360"/>
            <a:ext cx="4663440" cy="1097280"/>
          </a:xfrm>
          <a:prstGeom prst="rect">
            <a:avLst/>
          </a:prstGeom>
          <a:noFill/>
          <a:ln/>
        </p:spPr>
        <p:txBody>
          <a:bodyPr wrap="square" lIns="0" tIns="0" rIns="0" bIns="0" rtlCol="0" anchor="ctr"/>
          <a:lstStyle/>
          <a:p>
            <a:pPr marL="0" indent="0">
              <a:lnSpc>
                <a:spcPct val="135000"/>
              </a:lnSpc>
              <a:buNone/>
            </a:pPr>
            <a:r>
              <a:rPr lang="en-US" sz="1200" dirty="0">
                <a:solidFill>
                  <a:srgbClr val="D8D8E8"/>
                </a:solidFill>
                <a:latin typeface="Calibri" pitchFamily="34" charset="0"/>
                <a:ea typeface="Calibri" pitchFamily="34" charset="-122"/>
                <a:cs typeface="Calibri" pitchFamily="34" charset="-120"/>
              </a:rPr>
              <a:t>Concevoir le site vitrine complet d'AfriTalent : 5 pages HTML, design Bento Grid tendances 2026, dark mode, 7 fonctionnalites JavaScript vanilla, deploiement GitHub Pages.</a:t>
            </a:r>
            <a:endParaRPr lang="en-US" sz="1200" dirty="0"/>
          </a:p>
        </p:txBody>
      </p:sp>
      <p:sp>
        <p:nvSpPr>
          <p:cNvPr id="9" name="Text 7"/>
          <p:cNvSpPr/>
          <p:nvPr/>
        </p:nvSpPr>
        <p:spPr>
          <a:xfrm>
            <a:off x="914400" y="5257800"/>
            <a:ext cx="4663440" cy="548640"/>
          </a:xfrm>
          <a:prstGeom prst="rect">
            <a:avLst/>
          </a:prstGeom>
          <a:noFill/>
          <a:ln/>
        </p:spPr>
        <p:txBody>
          <a:bodyPr wrap="square" lIns="0" tIns="0" rIns="0" bIns="0" rtlCol="0" anchor="ctr"/>
          <a:lstStyle/>
          <a:p>
            <a:pPr marL="0" indent="0">
              <a:buNone/>
            </a:pPr>
            <a:r>
              <a:rPr lang="en-US" sz="1100" i="1" dirty="0">
                <a:solidFill>
                  <a:srgbClr val="F5A623"/>
                </a:solidFill>
                <a:latin typeface="Calibri" pitchFamily="34" charset="0"/>
                <a:ea typeface="Calibri" pitchFamily="34" charset="-122"/>
                <a:cs typeface="Calibri" pitchFamily="34" charset="-120"/>
              </a:rPr>
              <a:t>Technologies : HTML5 · CSS3 · Bootstrap 5 · JavaScript Vanilla · Git</a:t>
            </a:r>
            <a:endParaRPr lang="en-US" sz="1100" dirty="0"/>
          </a:p>
        </p:txBody>
      </p:sp>
      <p:sp>
        <p:nvSpPr>
          <p:cNvPr id="10" name="Text 8"/>
          <p:cNvSpPr/>
          <p:nvPr/>
        </p:nvSpPr>
        <p:spPr>
          <a:xfrm>
            <a:off x="6080760" y="1508760"/>
            <a:ext cx="5486400" cy="411480"/>
          </a:xfrm>
          <a:prstGeom prst="rect">
            <a:avLst/>
          </a:prstGeom>
          <a:noFill/>
          <a:ln/>
        </p:spPr>
        <p:txBody>
          <a:bodyPr wrap="square" lIns="0" tIns="0" rIns="0" bIns="0" rtlCol="0" anchor="ctr"/>
          <a:lstStyle/>
          <a:p>
            <a:pPr marL="0" indent="0">
              <a:buNone/>
            </a:pPr>
            <a:r>
              <a:rPr lang="en-US" sz="1800" b="1" dirty="0">
                <a:solidFill>
                  <a:srgbClr val="1A1A2E"/>
                </a:solidFill>
                <a:latin typeface="Bookman Old Style" pitchFamily="34" charset="0"/>
                <a:ea typeface="Bookman Old Style" pitchFamily="34" charset="-122"/>
                <a:cs typeface="Bookman Old Style" pitchFamily="34" charset="-120"/>
              </a:rPr>
              <a:t>Public cible</a:t>
            </a:r>
            <a:endParaRPr lang="en-US" sz="1800" dirty="0"/>
          </a:p>
        </p:txBody>
      </p:sp>
      <p:sp>
        <p:nvSpPr>
          <p:cNvPr id="11" name="Shape 9"/>
          <p:cNvSpPr/>
          <p:nvPr/>
        </p:nvSpPr>
        <p:spPr>
          <a:xfrm>
            <a:off x="6080760" y="2057400"/>
            <a:ext cx="5486400" cy="1234440"/>
          </a:xfrm>
          <a:prstGeom prst="roundRect">
            <a:avLst>
              <a:gd name="adj" fmla="val 5185"/>
            </a:avLst>
          </a:prstGeom>
          <a:solidFill>
            <a:srgbClr val="F9F9F9"/>
          </a:solidFill>
          <a:ln/>
          <a:effectLst>
            <a:outerShdw blurRad="1290320000" dist="483870000" algn="bl" rotWithShape="0">
              <a:srgbClr val="000000">
                <a:alpha val="0"/>
              </a:srgbClr>
            </a:outerShdw>
          </a:effectLst>
        </p:spPr>
      </p:sp>
      <p:sp>
        <p:nvSpPr>
          <p:cNvPr id="12" name="Text 10"/>
          <p:cNvSpPr/>
          <p:nvPr/>
        </p:nvSpPr>
        <p:spPr>
          <a:xfrm>
            <a:off x="6355080" y="2194560"/>
            <a:ext cx="4937760" cy="320040"/>
          </a:xfrm>
          <a:prstGeom prst="rect">
            <a:avLst/>
          </a:prstGeom>
          <a:noFill/>
          <a:ln/>
        </p:spPr>
        <p:txBody>
          <a:bodyPr wrap="square" lIns="0" tIns="0" rIns="0" bIns="0" rtlCol="0" anchor="ctr"/>
          <a:lstStyle/>
          <a:p>
            <a:pPr marL="0" indent="0">
              <a:buNone/>
            </a:pPr>
            <a:r>
              <a:rPr lang="en-US" sz="1350" b="1" dirty="0">
                <a:solidFill>
                  <a:srgbClr val="1A1A2E"/>
                </a:solidFill>
                <a:latin typeface="Calibri" pitchFamily="34" charset="0"/>
                <a:ea typeface="Calibri" pitchFamily="34" charset="-122"/>
                <a:cs typeface="Calibri" pitchFamily="34" charset="-120"/>
              </a:rPr>
              <a:t>Freelances tech</a:t>
            </a:r>
            <a:endParaRPr lang="en-US" sz="1350" dirty="0"/>
          </a:p>
        </p:txBody>
      </p:sp>
      <p:sp>
        <p:nvSpPr>
          <p:cNvPr id="13" name="Text 11"/>
          <p:cNvSpPr/>
          <p:nvPr/>
        </p:nvSpPr>
        <p:spPr>
          <a:xfrm>
            <a:off x="6355080" y="2560320"/>
            <a:ext cx="4937760" cy="640080"/>
          </a:xfrm>
          <a:prstGeom prst="rect">
            <a:avLst/>
          </a:prstGeom>
          <a:noFill/>
          <a:ln/>
        </p:spPr>
        <p:txBody>
          <a:bodyPr wrap="square" lIns="0" tIns="0" rIns="0" bIns="0" rtlCol="0" anchor="ctr"/>
          <a:lstStyle/>
          <a:p>
            <a:pPr marL="0" indent="0">
              <a:lnSpc>
                <a:spcPct val="120000"/>
              </a:lnSpc>
              <a:buNone/>
            </a:pPr>
            <a:r>
              <a:rPr lang="en-US" sz="1100" dirty="0">
                <a:solidFill>
                  <a:srgbClr val="6B7280"/>
                </a:solidFill>
                <a:latin typeface="Calibri" pitchFamily="34" charset="0"/>
                <a:ea typeface="Calibri" pitchFamily="34" charset="-122"/>
                <a:cs typeface="Calibri" pitchFamily="34" charset="-120"/>
              </a:rPr>
              <a:t>Developpeurs, designers, data scientists africains cherchant des missions bien remunerees.</a:t>
            </a:r>
            <a:endParaRPr lang="en-US" sz="1100" dirty="0"/>
          </a:p>
        </p:txBody>
      </p:sp>
      <p:sp>
        <p:nvSpPr>
          <p:cNvPr id="14" name="Shape 12"/>
          <p:cNvSpPr/>
          <p:nvPr/>
        </p:nvSpPr>
        <p:spPr>
          <a:xfrm>
            <a:off x="6080760" y="3447288"/>
            <a:ext cx="5486400" cy="1234440"/>
          </a:xfrm>
          <a:prstGeom prst="roundRect">
            <a:avLst>
              <a:gd name="adj" fmla="val 5185"/>
            </a:avLst>
          </a:prstGeom>
          <a:solidFill>
            <a:srgbClr val="F9F9F9"/>
          </a:solidFill>
          <a:ln/>
          <a:effectLst>
            <a:outerShdw algn="bl" rotWithShape="0">
              <a:srgbClr val="000000">
                <a:alpha val="0"/>
              </a:srgbClr>
            </a:outerShdw>
          </a:effectLst>
        </p:spPr>
      </p:sp>
      <p:sp>
        <p:nvSpPr>
          <p:cNvPr id="15" name="Text 13"/>
          <p:cNvSpPr/>
          <p:nvPr/>
        </p:nvSpPr>
        <p:spPr>
          <a:xfrm>
            <a:off x="6355080" y="3584448"/>
            <a:ext cx="4937760" cy="320040"/>
          </a:xfrm>
          <a:prstGeom prst="rect">
            <a:avLst/>
          </a:prstGeom>
          <a:noFill/>
          <a:ln/>
        </p:spPr>
        <p:txBody>
          <a:bodyPr wrap="square" lIns="0" tIns="0" rIns="0" bIns="0" rtlCol="0" anchor="ctr"/>
          <a:lstStyle/>
          <a:p>
            <a:pPr marL="0" indent="0">
              <a:buNone/>
            </a:pPr>
            <a:r>
              <a:rPr lang="en-US" sz="1350" b="1" dirty="0">
                <a:solidFill>
                  <a:srgbClr val="1A1A2E"/>
                </a:solidFill>
                <a:latin typeface="Calibri" pitchFamily="34" charset="0"/>
                <a:ea typeface="Calibri" pitchFamily="34" charset="-122"/>
                <a:cs typeface="Calibri" pitchFamily="34" charset="-120"/>
              </a:rPr>
              <a:t>Entreprises</a:t>
            </a:r>
            <a:endParaRPr lang="en-US" sz="1350" dirty="0"/>
          </a:p>
        </p:txBody>
      </p:sp>
      <p:sp>
        <p:nvSpPr>
          <p:cNvPr id="16" name="Text 14"/>
          <p:cNvSpPr/>
          <p:nvPr/>
        </p:nvSpPr>
        <p:spPr>
          <a:xfrm>
            <a:off x="6355080" y="3950208"/>
            <a:ext cx="4937760" cy="640080"/>
          </a:xfrm>
          <a:prstGeom prst="rect">
            <a:avLst/>
          </a:prstGeom>
          <a:noFill/>
          <a:ln/>
        </p:spPr>
        <p:txBody>
          <a:bodyPr wrap="square" lIns="0" tIns="0" rIns="0" bIns="0" rtlCol="0" anchor="ctr"/>
          <a:lstStyle/>
          <a:p>
            <a:pPr marL="0" indent="0">
              <a:lnSpc>
                <a:spcPct val="120000"/>
              </a:lnSpc>
              <a:buNone/>
            </a:pPr>
            <a:r>
              <a:rPr lang="en-US" sz="1100" dirty="0">
                <a:solidFill>
                  <a:srgbClr val="6B7280"/>
                </a:solidFill>
                <a:latin typeface="Calibri" pitchFamily="34" charset="0"/>
                <a:ea typeface="Calibri" pitchFamily="34" charset="-122"/>
                <a:cs typeface="Calibri" pitchFamily="34" charset="-120"/>
              </a:rPr>
              <a:t>Startups et PME cherchant des talents tech fiables, rapides et accessibles en Afrique.</a:t>
            </a:r>
            <a:endParaRPr lang="en-US" sz="1100" dirty="0"/>
          </a:p>
        </p:txBody>
      </p:sp>
      <p:sp>
        <p:nvSpPr>
          <p:cNvPr id="17" name="Shape 15"/>
          <p:cNvSpPr/>
          <p:nvPr/>
        </p:nvSpPr>
        <p:spPr>
          <a:xfrm>
            <a:off x="6080760" y="4837176"/>
            <a:ext cx="5486400" cy="1234440"/>
          </a:xfrm>
          <a:prstGeom prst="roundRect">
            <a:avLst>
              <a:gd name="adj" fmla="val 5185"/>
            </a:avLst>
          </a:prstGeom>
          <a:solidFill>
            <a:srgbClr val="F9F9F9"/>
          </a:solidFill>
          <a:ln/>
          <a:effectLst>
            <a:outerShdw algn="bl" rotWithShape="0">
              <a:srgbClr val="000000">
                <a:alpha val="0"/>
              </a:srgbClr>
            </a:outerShdw>
          </a:effectLst>
        </p:spPr>
      </p:sp>
      <p:sp>
        <p:nvSpPr>
          <p:cNvPr id="18" name="Text 16"/>
          <p:cNvSpPr/>
          <p:nvPr/>
        </p:nvSpPr>
        <p:spPr>
          <a:xfrm>
            <a:off x="6355080" y="4974336"/>
            <a:ext cx="4937760" cy="320040"/>
          </a:xfrm>
          <a:prstGeom prst="rect">
            <a:avLst/>
          </a:prstGeom>
          <a:noFill/>
          <a:ln/>
        </p:spPr>
        <p:txBody>
          <a:bodyPr wrap="square" lIns="0" tIns="0" rIns="0" bIns="0" rtlCol="0" anchor="ctr"/>
          <a:lstStyle/>
          <a:p>
            <a:pPr marL="0" indent="0">
              <a:buNone/>
            </a:pPr>
            <a:r>
              <a:rPr lang="en-US" sz="1350" b="1" dirty="0">
                <a:solidFill>
                  <a:srgbClr val="1A1A2E"/>
                </a:solidFill>
                <a:latin typeface="Calibri" pitchFamily="34" charset="0"/>
                <a:ea typeface="Calibri" pitchFamily="34" charset="-122"/>
                <a:cs typeface="Calibri" pitchFamily="34" charset="-120"/>
              </a:rPr>
              <a:t>Visiteurs</a:t>
            </a:r>
            <a:endParaRPr lang="en-US" sz="1350" dirty="0"/>
          </a:p>
        </p:txBody>
      </p:sp>
      <p:sp>
        <p:nvSpPr>
          <p:cNvPr id="19" name="Text 17"/>
          <p:cNvSpPr/>
          <p:nvPr/>
        </p:nvSpPr>
        <p:spPr>
          <a:xfrm>
            <a:off x="6355080" y="5340096"/>
            <a:ext cx="4937760" cy="640080"/>
          </a:xfrm>
          <a:prstGeom prst="rect">
            <a:avLst/>
          </a:prstGeom>
          <a:noFill/>
          <a:ln/>
        </p:spPr>
        <p:txBody>
          <a:bodyPr wrap="square" lIns="0" tIns="0" rIns="0" bIns="0" rtlCol="0" anchor="ctr"/>
          <a:lstStyle/>
          <a:p>
            <a:pPr marL="0" indent="0">
              <a:lnSpc>
                <a:spcPct val="120000"/>
              </a:lnSpc>
              <a:buNone/>
            </a:pPr>
            <a:r>
              <a:rPr lang="en-US" sz="1100" dirty="0">
                <a:solidFill>
                  <a:srgbClr val="6B7280"/>
                </a:solidFill>
                <a:latin typeface="Calibri" pitchFamily="34" charset="0"/>
                <a:ea typeface="Calibri" pitchFamily="34" charset="-122"/>
                <a:cs typeface="Calibri" pitchFamily="34" charset="-120"/>
              </a:rPr>
              <a:t>Tout professionnel curieux de decouvrir la plateforme, ses tarifs et ses fonctionnalites.</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47472"/>
            <a:ext cx="8229600" cy="292608"/>
          </a:xfrm>
          <a:prstGeom prst="rect">
            <a:avLst/>
          </a:prstGeom>
          <a:noFill/>
          <a:ln/>
        </p:spPr>
        <p:txBody>
          <a:bodyPr wrap="square" lIns="0" tIns="0" rIns="0" bIns="0" rtlCol="0" anchor="ctr"/>
          <a:lstStyle/>
          <a:p>
            <a:pPr marL="0" indent="0">
              <a:buNone/>
            </a:pPr>
            <a:r>
              <a:rPr lang="en-US" sz="1100" b="1" kern="0" spc="250" dirty="0">
                <a:solidFill>
                  <a:srgbClr val="F5A623"/>
                </a:solidFill>
                <a:latin typeface="Calibri" pitchFamily="34" charset="0"/>
                <a:ea typeface="Calibri" pitchFamily="34" charset="-122"/>
                <a:cs typeface="Calibri" pitchFamily="34" charset="-120"/>
              </a:rPr>
              <a:t>CHOIX DE DESIGN</a:t>
            </a:r>
            <a:endParaRPr lang="en-US" sz="1100" dirty="0"/>
          </a:p>
        </p:txBody>
      </p:sp>
      <p:sp>
        <p:nvSpPr>
          <p:cNvPr id="3" name="Text 1"/>
          <p:cNvSpPr/>
          <p:nvPr/>
        </p:nvSpPr>
        <p:spPr>
          <a:xfrm>
            <a:off x="640080" y="685800"/>
            <a:ext cx="9144000" cy="594360"/>
          </a:xfrm>
          <a:prstGeom prst="rect">
            <a:avLst/>
          </a:prstGeom>
          <a:noFill/>
          <a:ln/>
        </p:spPr>
        <p:txBody>
          <a:bodyPr wrap="square" lIns="0" tIns="0" rIns="0" bIns="0" rtlCol="0" anchor="ctr"/>
          <a:lstStyle/>
          <a:p>
            <a:pPr marL="0" indent="0">
              <a:buNone/>
            </a:pPr>
            <a:r>
              <a:rPr lang="en-US" sz="3000" b="1" dirty="0">
                <a:solidFill>
                  <a:srgbClr val="1A1A2E"/>
                </a:solidFill>
                <a:latin typeface="Bookman Old Style" pitchFamily="34" charset="0"/>
                <a:ea typeface="Bookman Old Style" pitchFamily="34" charset="-122"/>
                <a:cs typeface="Bookman Old Style" pitchFamily="34" charset="-120"/>
              </a:rPr>
              <a:t>Palette &amp; Typographie</a:t>
            </a:r>
            <a:endParaRPr lang="en-US" sz="3000" dirty="0"/>
          </a:p>
        </p:txBody>
      </p:sp>
      <p:sp>
        <p:nvSpPr>
          <p:cNvPr id="4" name="Shape 2"/>
          <p:cNvSpPr/>
          <p:nvPr/>
        </p:nvSpPr>
        <p:spPr>
          <a:xfrm>
            <a:off x="640080" y="1508760"/>
            <a:ext cx="2103120" cy="1005840"/>
          </a:xfrm>
          <a:prstGeom prst="roundRect">
            <a:avLst>
              <a:gd name="adj" fmla="val 7273"/>
            </a:avLst>
          </a:prstGeom>
          <a:solidFill>
            <a:srgbClr val="F5A623"/>
          </a:solidFill>
          <a:ln/>
          <a:effectLst>
            <a:outerShdw algn="bl" rotWithShape="0">
              <a:srgbClr val="000000">
                <a:alpha val="0"/>
              </a:srgbClr>
            </a:outerShdw>
          </a:effectLst>
        </p:spPr>
      </p:sp>
      <p:sp>
        <p:nvSpPr>
          <p:cNvPr id="5" name="Text 3"/>
          <p:cNvSpPr/>
          <p:nvPr/>
        </p:nvSpPr>
        <p:spPr>
          <a:xfrm>
            <a:off x="640080" y="1572768"/>
            <a:ext cx="210312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Primaire</a:t>
            </a:r>
            <a:endParaRPr lang="en-US" sz="1300" dirty="0"/>
          </a:p>
        </p:txBody>
      </p:sp>
      <p:sp>
        <p:nvSpPr>
          <p:cNvPr id="6" name="Text 4"/>
          <p:cNvSpPr/>
          <p:nvPr/>
        </p:nvSpPr>
        <p:spPr>
          <a:xfrm>
            <a:off x="640080" y="1965960"/>
            <a:ext cx="2103120" cy="274320"/>
          </a:xfrm>
          <a:prstGeom prst="rect">
            <a:avLst/>
          </a:prstGeom>
          <a:noFill/>
          <a:ln/>
        </p:spPr>
        <p:txBody>
          <a:bodyPr wrap="square" lIns="0" tIns="0" rIns="0" bIns="0" rtlCol="0" anchor="ctr"/>
          <a:lstStyle/>
          <a:p>
            <a:pPr marL="0" indent="0" algn="ctr">
              <a:buNone/>
            </a:pPr>
            <a:r>
              <a:rPr lang="en-US" sz="1000" dirty="0">
                <a:solidFill>
                  <a:srgbClr val="FFFFFF"/>
                </a:solidFill>
                <a:latin typeface="Courier New" pitchFamily="34" charset="0"/>
                <a:ea typeface="Courier New" pitchFamily="34" charset="-122"/>
                <a:cs typeface="Courier New" pitchFamily="34" charset="-120"/>
              </a:rPr>
              <a:t>#F5A623</a:t>
            </a:r>
            <a:endParaRPr lang="en-US" sz="1000" dirty="0"/>
          </a:p>
        </p:txBody>
      </p:sp>
      <p:sp>
        <p:nvSpPr>
          <p:cNvPr id="7" name="Text 5"/>
          <p:cNvSpPr/>
          <p:nvPr/>
        </p:nvSpPr>
        <p:spPr>
          <a:xfrm>
            <a:off x="640080" y="2651760"/>
            <a:ext cx="2103120" cy="274320"/>
          </a:xfrm>
          <a:prstGeom prst="rect">
            <a:avLst/>
          </a:prstGeom>
          <a:noFill/>
          <a:ln/>
        </p:spPr>
        <p:txBody>
          <a:bodyPr wrap="square" lIns="0" tIns="0" rIns="0" bIns="0" rtlCol="0" anchor="ctr"/>
          <a:lstStyle/>
          <a:p>
            <a:pPr marL="0" indent="0" algn="ctr">
              <a:buNone/>
            </a:pPr>
            <a:r>
              <a:rPr lang="en-US" sz="950" dirty="0">
                <a:solidFill>
                  <a:srgbClr val="6B7280"/>
                </a:solidFill>
                <a:latin typeface="Calibri" pitchFamily="34" charset="0"/>
                <a:ea typeface="Calibri" pitchFamily="34" charset="-122"/>
                <a:cs typeface="Calibri" pitchFamily="34" charset="-120"/>
              </a:rPr>
              <a:t>Sur fonds sombres</a:t>
            </a:r>
            <a:endParaRPr lang="en-US" sz="950" dirty="0"/>
          </a:p>
        </p:txBody>
      </p:sp>
      <p:sp>
        <p:nvSpPr>
          <p:cNvPr id="8" name="Shape 6"/>
          <p:cNvSpPr/>
          <p:nvPr/>
        </p:nvSpPr>
        <p:spPr>
          <a:xfrm>
            <a:off x="2862072" y="1508760"/>
            <a:ext cx="2103120" cy="1005840"/>
          </a:xfrm>
          <a:prstGeom prst="roundRect">
            <a:avLst>
              <a:gd name="adj" fmla="val 7273"/>
            </a:avLst>
          </a:prstGeom>
          <a:solidFill>
            <a:srgbClr val="1A1A2E"/>
          </a:solidFill>
          <a:ln/>
          <a:effectLst>
            <a:outerShdw algn="bl" rotWithShape="0">
              <a:srgbClr val="000000">
                <a:alpha val="0"/>
              </a:srgbClr>
            </a:outerShdw>
          </a:effectLst>
        </p:spPr>
      </p:sp>
      <p:sp>
        <p:nvSpPr>
          <p:cNvPr id="9" name="Text 7"/>
          <p:cNvSpPr/>
          <p:nvPr/>
        </p:nvSpPr>
        <p:spPr>
          <a:xfrm>
            <a:off x="2862072" y="1572768"/>
            <a:ext cx="210312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Secondaire</a:t>
            </a:r>
            <a:endParaRPr lang="en-US" sz="1300" dirty="0"/>
          </a:p>
        </p:txBody>
      </p:sp>
      <p:sp>
        <p:nvSpPr>
          <p:cNvPr id="10" name="Text 8"/>
          <p:cNvSpPr/>
          <p:nvPr/>
        </p:nvSpPr>
        <p:spPr>
          <a:xfrm>
            <a:off x="2862072" y="1965960"/>
            <a:ext cx="2103120" cy="274320"/>
          </a:xfrm>
          <a:prstGeom prst="rect">
            <a:avLst/>
          </a:prstGeom>
          <a:noFill/>
          <a:ln/>
        </p:spPr>
        <p:txBody>
          <a:bodyPr wrap="square" lIns="0" tIns="0" rIns="0" bIns="0" rtlCol="0" anchor="ctr"/>
          <a:lstStyle/>
          <a:p>
            <a:pPr marL="0" indent="0" algn="ctr">
              <a:buNone/>
            </a:pPr>
            <a:r>
              <a:rPr lang="en-US" sz="1000" dirty="0">
                <a:solidFill>
                  <a:srgbClr val="FFFFFF"/>
                </a:solidFill>
                <a:latin typeface="Courier New" pitchFamily="34" charset="0"/>
                <a:ea typeface="Courier New" pitchFamily="34" charset="-122"/>
                <a:cs typeface="Courier New" pitchFamily="34" charset="-120"/>
              </a:rPr>
              <a:t>#1A1A2E</a:t>
            </a:r>
            <a:endParaRPr lang="en-US" sz="1000" dirty="0"/>
          </a:p>
        </p:txBody>
      </p:sp>
      <p:sp>
        <p:nvSpPr>
          <p:cNvPr id="11" name="Text 9"/>
          <p:cNvSpPr/>
          <p:nvPr/>
        </p:nvSpPr>
        <p:spPr>
          <a:xfrm>
            <a:off x="2862072" y="2651760"/>
            <a:ext cx="2103120" cy="274320"/>
          </a:xfrm>
          <a:prstGeom prst="rect">
            <a:avLst/>
          </a:prstGeom>
          <a:noFill/>
          <a:ln/>
        </p:spPr>
        <p:txBody>
          <a:bodyPr wrap="square" lIns="0" tIns="0" rIns="0" bIns="0" rtlCol="0" anchor="ctr"/>
          <a:lstStyle/>
          <a:p>
            <a:pPr marL="0" indent="0" algn="ctr">
              <a:buNone/>
            </a:pPr>
            <a:r>
              <a:rPr lang="en-US" sz="950" dirty="0">
                <a:solidFill>
                  <a:srgbClr val="6B7280"/>
                </a:solidFill>
                <a:latin typeface="Calibri" pitchFamily="34" charset="0"/>
                <a:ea typeface="Calibri" pitchFamily="34" charset="-122"/>
                <a:cs typeface="Calibri" pitchFamily="34" charset="-120"/>
              </a:rPr>
              <a:t>Sur fonds sombres</a:t>
            </a:r>
            <a:endParaRPr lang="en-US" sz="950" dirty="0"/>
          </a:p>
        </p:txBody>
      </p:sp>
      <p:sp>
        <p:nvSpPr>
          <p:cNvPr id="12" name="Shape 10"/>
          <p:cNvSpPr/>
          <p:nvPr/>
        </p:nvSpPr>
        <p:spPr>
          <a:xfrm>
            <a:off x="5084064" y="1508760"/>
            <a:ext cx="2103120" cy="1005840"/>
          </a:xfrm>
          <a:prstGeom prst="roundRect">
            <a:avLst>
              <a:gd name="adj" fmla="val 7273"/>
            </a:avLst>
          </a:prstGeom>
          <a:solidFill>
            <a:srgbClr val="E94560"/>
          </a:solidFill>
          <a:ln/>
          <a:effectLst>
            <a:outerShdw algn="bl" rotWithShape="0">
              <a:srgbClr val="000000">
                <a:alpha val="0"/>
              </a:srgbClr>
            </a:outerShdw>
          </a:effectLst>
        </p:spPr>
      </p:sp>
      <p:sp>
        <p:nvSpPr>
          <p:cNvPr id="13" name="Text 11"/>
          <p:cNvSpPr/>
          <p:nvPr/>
        </p:nvSpPr>
        <p:spPr>
          <a:xfrm>
            <a:off x="5084064" y="1572768"/>
            <a:ext cx="210312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Accent</a:t>
            </a:r>
            <a:endParaRPr lang="en-US" sz="1300" dirty="0"/>
          </a:p>
        </p:txBody>
      </p:sp>
      <p:sp>
        <p:nvSpPr>
          <p:cNvPr id="14" name="Text 12"/>
          <p:cNvSpPr/>
          <p:nvPr/>
        </p:nvSpPr>
        <p:spPr>
          <a:xfrm>
            <a:off x="5084064" y="1965960"/>
            <a:ext cx="2103120" cy="274320"/>
          </a:xfrm>
          <a:prstGeom prst="rect">
            <a:avLst/>
          </a:prstGeom>
          <a:noFill/>
          <a:ln/>
        </p:spPr>
        <p:txBody>
          <a:bodyPr wrap="square" lIns="0" tIns="0" rIns="0" bIns="0" rtlCol="0" anchor="ctr"/>
          <a:lstStyle/>
          <a:p>
            <a:pPr marL="0" indent="0" algn="ctr">
              <a:buNone/>
            </a:pPr>
            <a:r>
              <a:rPr lang="en-US" sz="1000" dirty="0">
                <a:solidFill>
                  <a:srgbClr val="FFFFFF"/>
                </a:solidFill>
                <a:latin typeface="Courier New" pitchFamily="34" charset="0"/>
                <a:ea typeface="Courier New" pitchFamily="34" charset="-122"/>
                <a:cs typeface="Courier New" pitchFamily="34" charset="-120"/>
              </a:rPr>
              <a:t>#E94560</a:t>
            </a:r>
            <a:endParaRPr lang="en-US" sz="1000" dirty="0"/>
          </a:p>
        </p:txBody>
      </p:sp>
      <p:sp>
        <p:nvSpPr>
          <p:cNvPr id="15" name="Text 13"/>
          <p:cNvSpPr/>
          <p:nvPr/>
        </p:nvSpPr>
        <p:spPr>
          <a:xfrm>
            <a:off x="5084064" y="2651760"/>
            <a:ext cx="2103120" cy="274320"/>
          </a:xfrm>
          <a:prstGeom prst="rect">
            <a:avLst/>
          </a:prstGeom>
          <a:noFill/>
          <a:ln/>
        </p:spPr>
        <p:txBody>
          <a:bodyPr wrap="square" lIns="0" tIns="0" rIns="0" bIns="0" rtlCol="0" anchor="ctr"/>
          <a:lstStyle/>
          <a:p>
            <a:pPr marL="0" indent="0" algn="ctr">
              <a:buNone/>
            </a:pPr>
            <a:r>
              <a:rPr lang="en-US" sz="950" dirty="0">
                <a:solidFill>
                  <a:srgbClr val="6B7280"/>
                </a:solidFill>
                <a:latin typeface="Calibri" pitchFamily="34" charset="0"/>
                <a:ea typeface="Calibri" pitchFamily="34" charset="-122"/>
                <a:cs typeface="Calibri" pitchFamily="34" charset="-120"/>
              </a:rPr>
              <a:t>Sur fonds sombres</a:t>
            </a:r>
            <a:endParaRPr lang="en-US" sz="950" dirty="0"/>
          </a:p>
        </p:txBody>
      </p:sp>
      <p:sp>
        <p:nvSpPr>
          <p:cNvPr id="16" name="Shape 14"/>
          <p:cNvSpPr/>
          <p:nvPr/>
        </p:nvSpPr>
        <p:spPr>
          <a:xfrm>
            <a:off x="7306056" y="1508760"/>
            <a:ext cx="2103120" cy="1005840"/>
          </a:xfrm>
          <a:prstGeom prst="roundRect">
            <a:avLst>
              <a:gd name="adj" fmla="val 7273"/>
            </a:avLst>
          </a:prstGeom>
          <a:solidFill>
            <a:srgbClr val="F9F9F9"/>
          </a:solidFill>
          <a:ln/>
          <a:effectLst>
            <a:outerShdw algn="bl" rotWithShape="0">
              <a:srgbClr val="000000">
                <a:alpha val="0"/>
              </a:srgbClr>
            </a:outerShdw>
          </a:effectLst>
        </p:spPr>
      </p:sp>
      <p:sp>
        <p:nvSpPr>
          <p:cNvPr id="17" name="Text 15"/>
          <p:cNvSpPr/>
          <p:nvPr/>
        </p:nvSpPr>
        <p:spPr>
          <a:xfrm>
            <a:off x="7306056" y="1572768"/>
            <a:ext cx="2103120" cy="365760"/>
          </a:xfrm>
          <a:prstGeom prst="rect">
            <a:avLst/>
          </a:prstGeom>
          <a:noFill/>
          <a:ln/>
        </p:spPr>
        <p:txBody>
          <a:bodyPr wrap="square" lIns="0" tIns="0" rIns="0" bIns="0" rtlCol="0" anchor="ctr"/>
          <a:lstStyle/>
          <a:p>
            <a:pPr marL="0" indent="0" algn="ctr">
              <a:buNone/>
            </a:pPr>
            <a:r>
              <a:rPr lang="en-US" sz="1300" b="1" dirty="0">
                <a:solidFill>
                  <a:srgbClr val="2D2D2D"/>
                </a:solidFill>
                <a:latin typeface="Calibri" pitchFamily="34" charset="0"/>
                <a:ea typeface="Calibri" pitchFamily="34" charset="-122"/>
                <a:cs typeface="Calibri" pitchFamily="34" charset="-120"/>
              </a:rPr>
              <a:t>Neutre</a:t>
            </a:r>
            <a:endParaRPr lang="en-US" sz="1300" dirty="0"/>
          </a:p>
        </p:txBody>
      </p:sp>
      <p:sp>
        <p:nvSpPr>
          <p:cNvPr id="18" name="Text 16"/>
          <p:cNvSpPr/>
          <p:nvPr/>
        </p:nvSpPr>
        <p:spPr>
          <a:xfrm>
            <a:off x="7306056" y="1965960"/>
            <a:ext cx="2103120" cy="274320"/>
          </a:xfrm>
          <a:prstGeom prst="rect">
            <a:avLst/>
          </a:prstGeom>
          <a:noFill/>
          <a:ln/>
        </p:spPr>
        <p:txBody>
          <a:bodyPr wrap="square" lIns="0" tIns="0" rIns="0" bIns="0" rtlCol="0" anchor="ctr"/>
          <a:lstStyle/>
          <a:p>
            <a:pPr marL="0" indent="0" algn="ctr">
              <a:buNone/>
            </a:pPr>
            <a:r>
              <a:rPr lang="en-US" sz="1000" dirty="0">
                <a:solidFill>
                  <a:srgbClr val="2D2D2D"/>
                </a:solidFill>
                <a:latin typeface="Courier New" pitchFamily="34" charset="0"/>
                <a:ea typeface="Courier New" pitchFamily="34" charset="-122"/>
                <a:cs typeface="Courier New" pitchFamily="34" charset="-120"/>
              </a:rPr>
              <a:t>#F9F9F9</a:t>
            </a:r>
            <a:endParaRPr lang="en-US" sz="1000" dirty="0"/>
          </a:p>
        </p:txBody>
      </p:sp>
      <p:sp>
        <p:nvSpPr>
          <p:cNvPr id="19" name="Text 17"/>
          <p:cNvSpPr/>
          <p:nvPr/>
        </p:nvSpPr>
        <p:spPr>
          <a:xfrm>
            <a:off x="7306056" y="2651760"/>
            <a:ext cx="2103120" cy="274320"/>
          </a:xfrm>
          <a:prstGeom prst="rect">
            <a:avLst/>
          </a:prstGeom>
          <a:noFill/>
          <a:ln/>
        </p:spPr>
        <p:txBody>
          <a:bodyPr wrap="square" lIns="0" tIns="0" rIns="0" bIns="0" rtlCol="0" anchor="ctr"/>
          <a:lstStyle/>
          <a:p>
            <a:pPr marL="0" indent="0" algn="ctr">
              <a:buNone/>
            </a:pPr>
            <a:r>
              <a:rPr lang="en-US" sz="950" dirty="0">
                <a:solidFill>
                  <a:srgbClr val="6B7280"/>
                </a:solidFill>
                <a:latin typeface="Calibri" pitchFamily="34" charset="0"/>
                <a:ea typeface="Calibri" pitchFamily="34" charset="-122"/>
                <a:cs typeface="Calibri" pitchFamily="34" charset="-120"/>
              </a:rPr>
              <a:t>Sur fonds clairs</a:t>
            </a:r>
            <a:endParaRPr lang="en-US" sz="950" dirty="0"/>
          </a:p>
        </p:txBody>
      </p:sp>
      <p:sp>
        <p:nvSpPr>
          <p:cNvPr id="20" name="Shape 18"/>
          <p:cNvSpPr/>
          <p:nvPr/>
        </p:nvSpPr>
        <p:spPr>
          <a:xfrm>
            <a:off x="9528048" y="1508760"/>
            <a:ext cx="2103120" cy="1005840"/>
          </a:xfrm>
          <a:prstGeom prst="roundRect">
            <a:avLst>
              <a:gd name="adj" fmla="val 7273"/>
            </a:avLst>
          </a:prstGeom>
          <a:solidFill>
            <a:srgbClr val="2D2D2D"/>
          </a:solidFill>
          <a:ln/>
          <a:effectLst>
            <a:outerShdw algn="bl" rotWithShape="0">
              <a:srgbClr val="000000">
                <a:alpha val="0"/>
              </a:srgbClr>
            </a:outerShdw>
          </a:effectLst>
        </p:spPr>
      </p:sp>
      <p:sp>
        <p:nvSpPr>
          <p:cNvPr id="21" name="Text 19"/>
          <p:cNvSpPr/>
          <p:nvPr/>
        </p:nvSpPr>
        <p:spPr>
          <a:xfrm>
            <a:off x="9528048" y="1572768"/>
            <a:ext cx="210312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Texte</a:t>
            </a:r>
            <a:endParaRPr lang="en-US" sz="1300" dirty="0"/>
          </a:p>
        </p:txBody>
      </p:sp>
      <p:sp>
        <p:nvSpPr>
          <p:cNvPr id="22" name="Text 20"/>
          <p:cNvSpPr/>
          <p:nvPr/>
        </p:nvSpPr>
        <p:spPr>
          <a:xfrm>
            <a:off x="9528048" y="1965960"/>
            <a:ext cx="2103120" cy="274320"/>
          </a:xfrm>
          <a:prstGeom prst="rect">
            <a:avLst/>
          </a:prstGeom>
          <a:noFill/>
          <a:ln/>
        </p:spPr>
        <p:txBody>
          <a:bodyPr wrap="square" lIns="0" tIns="0" rIns="0" bIns="0" rtlCol="0" anchor="ctr"/>
          <a:lstStyle/>
          <a:p>
            <a:pPr marL="0" indent="0" algn="ctr">
              <a:buNone/>
            </a:pPr>
            <a:r>
              <a:rPr lang="en-US" sz="1000" dirty="0">
                <a:solidFill>
                  <a:srgbClr val="FFFFFF"/>
                </a:solidFill>
                <a:latin typeface="Courier New" pitchFamily="34" charset="0"/>
                <a:ea typeface="Courier New" pitchFamily="34" charset="-122"/>
                <a:cs typeface="Courier New" pitchFamily="34" charset="-120"/>
              </a:rPr>
              <a:t>#2D2D2D</a:t>
            </a:r>
            <a:endParaRPr lang="en-US" sz="1000" dirty="0"/>
          </a:p>
        </p:txBody>
      </p:sp>
      <p:sp>
        <p:nvSpPr>
          <p:cNvPr id="23" name="Text 21"/>
          <p:cNvSpPr/>
          <p:nvPr/>
        </p:nvSpPr>
        <p:spPr>
          <a:xfrm>
            <a:off x="9528048" y="2651760"/>
            <a:ext cx="2103120" cy="274320"/>
          </a:xfrm>
          <a:prstGeom prst="rect">
            <a:avLst/>
          </a:prstGeom>
          <a:noFill/>
          <a:ln/>
        </p:spPr>
        <p:txBody>
          <a:bodyPr wrap="square" lIns="0" tIns="0" rIns="0" bIns="0" rtlCol="0" anchor="ctr"/>
          <a:lstStyle/>
          <a:p>
            <a:pPr marL="0" indent="0" algn="ctr">
              <a:buNone/>
            </a:pPr>
            <a:r>
              <a:rPr lang="en-US" sz="950" dirty="0">
                <a:solidFill>
                  <a:srgbClr val="6B7280"/>
                </a:solidFill>
                <a:latin typeface="Calibri" pitchFamily="34" charset="0"/>
                <a:ea typeface="Calibri" pitchFamily="34" charset="-122"/>
                <a:cs typeface="Calibri" pitchFamily="34" charset="-120"/>
              </a:rPr>
              <a:t>Sur fonds sombres</a:t>
            </a:r>
            <a:endParaRPr lang="en-US" sz="950" dirty="0"/>
          </a:p>
        </p:txBody>
      </p:sp>
      <p:sp>
        <p:nvSpPr>
          <p:cNvPr id="24" name="Shape 22"/>
          <p:cNvSpPr/>
          <p:nvPr/>
        </p:nvSpPr>
        <p:spPr>
          <a:xfrm>
            <a:off x="640080" y="3063240"/>
            <a:ext cx="10881360" cy="822960"/>
          </a:xfrm>
          <a:prstGeom prst="roundRect">
            <a:avLst>
              <a:gd name="adj" fmla="val 6667"/>
            </a:avLst>
          </a:prstGeom>
          <a:solidFill>
            <a:srgbClr val="1A1A2E"/>
          </a:solidFill>
          <a:ln/>
        </p:spPr>
      </p:sp>
      <p:pic>
        <p:nvPicPr>
          <p:cNvPr id="25" name="Image 0" descr="assets/icon-moon-orange.png"/>
          <p:cNvPicPr>
            <a:picLocks noChangeAspect="1"/>
          </p:cNvPicPr>
          <p:nvPr/>
        </p:nvPicPr>
        <p:blipFill>
          <a:blip r:embed="rId3"/>
          <a:stretch>
            <a:fillRect/>
          </a:stretch>
        </p:blipFill>
        <p:spPr>
          <a:xfrm>
            <a:off x="868680" y="3218688"/>
            <a:ext cx="384048" cy="384048"/>
          </a:xfrm>
          <a:prstGeom prst="rect">
            <a:avLst/>
          </a:prstGeom>
        </p:spPr>
      </p:pic>
      <p:sp>
        <p:nvSpPr>
          <p:cNvPr id="26" name="Text 23"/>
          <p:cNvSpPr/>
          <p:nvPr/>
        </p:nvSpPr>
        <p:spPr>
          <a:xfrm>
            <a:off x="1417320" y="3246120"/>
            <a:ext cx="9875520" cy="502920"/>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Dark Mode integre : </a:t>
            </a:r>
            <a:r>
              <a:rPr lang="en-US" sz="1150" dirty="0">
                <a:solidFill>
                  <a:srgbClr val="D8D8E8"/>
                </a:solidFill>
                <a:latin typeface="Calibri" pitchFamily="34" charset="0"/>
                <a:ea typeface="Calibri" pitchFamily="34" charset="-122"/>
                <a:cs typeface="Calibri" pitchFamily="34" charset="-120"/>
              </a:rPr>
              <a:t>variables CSS redefinies sur body.dark-mode, sauvegarde localStorage, toggle dans la navbar. Toutes les couleurs s'adaptent automatiquement.</a:t>
            </a:r>
            <a:endParaRPr lang="en-US" sz="1150" dirty="0"/>
          </a:p>
        </p:txBody>
      </p:sp>
      <p:sp>
        <p:nvSpPr>
          <p:cNvPr id="27" name="Shape 24"/>
          <p:cNvSpPr/>
          <p:nvPr/>
        </p:nvSpPr>
        <p:spPr>
          <a:xfrm>
            <a:off x="640080" y="4069080"/>
            <a:ext cx="5120640" cy="2514600"/>
          </a:xfrm>
          <a:prstGeom prst="roundRect">
            <a:avLst>
              <a:gd name="adj" fmla="val 2545"/>
            </a:avLst>
          </a:prstGeom>
          <a:solidFill>
            <a:srgbClr val="1A1A2E"/>
          </a:solidFill>
          <a:ln/>
          <a:effectLst>
            <a:outerShdw algn="bl" rotWithShape="0">
              <a:srgbClr val="000000">
                <a:alpha val="0"/>
              </a:srgbClr>
            </a:outerShdw>
          </a:effectLst>
        </p:spPr>
      </p:sp>
      <p:sp>
        <p:nvSpPr>
          <p:cNvPr id="28" name="Text 25"/>
          <p:cNvSpPr/>
          <p:nvPr/>
        </p:nvSpPr>
        <p:spPr>
          <a:xfrm>
            <a:off x="914400" y="4251960"/>
            <a:ext cx="4572000" cy="822960"/>
          </a:xfrm>
          <a:prstGeom prst="rect">
            <a:avLst/>
          </a:prstGeom>
          <a:noFill/>
          <a:ln/>
        </p:spPr>
        <p:txBody>
          <a:bodyPr wrap="square" lIns="0" tIns="0" rIns="0" bIns="0" rtlCol="0" anchor="ctr"/>
          <a:lstStyle/>
          <a:p>
            <a:pPr marL="0" indent="0">
              <a:buNone/>
            </a:pPr>
            <a:r>
              <a:rPr lang="en-US" sz="4200" b="1" dirty="0">
                <a:solidFill>
                  <a:srgbClr val="F5A623"/>
                </a:solidFill>
                <a:latin typeface="Bookman Old Style" pitchFamily="34" charset="0"/>
                <a:ea typeface="Bookman Old Style" pitchFamily="34" charset="-122"/>
                <a:cs typeface="Bookman Old Style" pitchFamily="34" charset="-120"/>
              </a:rPr>
              <a:t>Syne</a:t>
            </a:r>
            <a:endParaRPr lang="en-US" sz="4200" dirty="0"/>
          </a:p>
        </p:txBody>
      </p:sp>
      <p:sp>
        <p:nvSpPr>
          <p:cNvPr id="29" name="Text 26"/>
          <p:cNvSpPr/>
          <p:nvPr/>
        </p:nvSpPr>
        <p:spPr>
          <a:xfrm>
            <a:off x="914400" y="5120640"/>
            <a:ext cx="4572000" cy="274320"/>
          </a:xfrm>
          <a:prstGeom prst="rect">
            <a:avLst/>
          </a:prstGeom>
          <a:noFill/>
          <a:ln/>
        </p:spPr>
        <p:txBody>
          <a:bodyPr wrap="square" lIns="0" tIns="0" rIns="0" bIns="0" rtlCol="0" anchor="ctr"/>
          <a:lstStyle/>
          <a:p>
            <a:pPr marL="0" indent="0">
              <a:buNone/>
            </a:pPr>
            <a:r>
              <a:rPr lang="en-US" sz="1000" b="1" kern="0" spc="150" dirty="0">
                <a:solidFill>
                  <a:srgbClr val="C7C7D9"/>
                </a:solidFill>
                <a:latin typeface="Calibri" pitchFamily="34" charset="0"/>
                <a:ea typeface="Calibri" pitchFamily="34" charset="-122"/>
                <a:cs typeface="Calibri" pitchFamily="34" charset="-120"/>
              </a:rPr>
              <a:t>TITRES — POIDS 400/600/700/800</a:t>
            </a:r>
            <a:endParaRPr lang="en-US" sz="1000" dirty="0"/>
          </a:p>
        </p:txBody>
      </p:sp>
      <p:sp>
        <p:nvSpPr>
          <p:cNvPr id="30" name="Text 27"/>
          <p:cNvSpPr/>
          <p:nvPr/>
        </p:nvSpPr>
        <p:spPr>
          <a:xfrm>
            <a:off x="914400" y="5440680"/>
            <a:ext cx="4572000" cy="594360"/>
          </a:xfrm>
          <a:prstGeom prst="rect">
            <a:avLst/>
          </a:prstGeom>
          <a:noFill/>
          <a:ln/>
        </p:spPr>
        <p:txBody>
          <a:bodyPr wrap="square" lIns="0" tIns="0" rIns="0" bIns="0" rtlCol="0" anchor="ctr"/>
          <a:lstStyle/>
          <a:p>
            <a:pPr marL="0" indent="0">
              <a:lnSpc>
                <a:spcPct val="130000"/>
              </a:lnSpc>
              <a:buNone/>
            </a:pPr>
            <a:r>
              <a:rPr lang="en-US" sz="1100" dirty="0">
                <a:solidFill>
                  <a:srgbClr val="D8D8E8"/>
                </a:solidFill>
                <a:latin typeface="Calibri" pitchFamily="34" charset="0"/>
                <a:ea typeface="Calibri" pitchFamily="34" charset="-122"/>
                <a:cs typeface="Calibri" pitchFamily="34" charset="-120"/>
              </a:rPr>
              <a:t>Police expressive et geometrique. Donne du caractere aux H1/H2 et aux statistiques animees.</a:t>
            </a:r>
            <a:endParaRPr lang="en-US" sz="1100" dirty="0"/>
          </a:p>
        </p:txBody>
      </p:sp>
      <p:sp>
        <p:nvSpPr>
          <p:cNvPr id="31" name="Shape 28"/>
          <p:cNvSpPr/>
          <p:nvPr/>
        </p:nvSpPr>
        <p:spPr>
          <a:xfrm>
            <a:off x="6035040" y="4069080"/>
            <a:ext cx="5532120" cy="2514600"/>
          </a:xfrm>
          <a:prstGeom prst="roundRect">
            <a:avLst>
              <a:gd name="adj" fmla="val 2545"/>
            </a:avLst>
          </a:prstGeom>
          <a:solidFill>
            <a:srgbClr val="F9F9F9"/>
          </a:solidFill>
          <a:ln w="12700">
            <a:solidFill>
              <a:srgbClr val="E5E7EB"/>
            </a:solidFill>
            <a:prstDash val="solid"/>
          </a:ln>
          <a:effectLst>
            <a:outerShdw algn="bl" rotWithShape="0">
              <a:srgbClr val="000000">
                <a:alpha val="0"/>
              </a:srgbClr>
            </a:outerShdw>
          </a:effectLst>
        </p:spPr>
      </p:sp>
      <p:sp>
        <p:nvSpPr>
          <p:cNvPr id="32" name="Text 29"/>
          <p:cNvSpPr/>
          <p:nvPr/>
        </p:nvSpPr>
        <p:spPr>
          <a:xfrm>
            <a:off x="6309360" y="4251960"/>
            <a:ext cx="4937760" cy="822960"/>
          </a:xfrm>
          <a:prstGeom prst="rect">
            <a:avLst/>
          </a:prstGeom>
          <a:noFill/>
          <a:ln/>
        </p:spPr>
        <p:txBody>
          <a:bodyPr wrap="square" lIns="0" tIns="0" rIns="0" bIns="0" rtlCol="0" anchor="ctr"/>
          <a:lstStyle/>
          <a:p>
            <a:pPr marL="0" indent="0">
              <a:buNone/>
            </a:pPr>
            <a:r>
              <a:rPr lang="en-US" sz="4200" b="1" dirty="0">
                <a:solidFill>
                  <a:srgbClr val="1A1A2E"/>
                </a:solidFill>
                <a:latin typeface="Calibri" pitchFamily="34" charset="0"/>
                <a:ea typeface="Calibri" pitchFamily="34" charset="-122"/>
                <a:cs typeface="Calibri" pitchFamily="34" charset="-120"/>
              </a:rPr>
              <a:t>Inter</a:t>
            </a:r>
            <a:endParaRPr lang="en-US" sz="4200" dirty="0"/>
          </a:p>
        </p:txBody>
      </p:sp>
      <p:sp>
        <p:nvSpPr>
          <p:cNvPr id="33" name="Text 30"/>
          <p:cNvSpPr/>
          <p:nvPr/>
        </p:nvSpPr>
        <p:spPr>
          <a:xfrm>
            <a:off x="6309360" y="5120640"/>
            <a:ext cx="4937760" cy="274320"/>
          </a:xfrm>
          <a:prstGeom prst="rect">
            <a:avLst/>
          </a:prstGeom>
          <a:noFill/>
          <a:ln/>
        </p:spPr>
        <p:txBody>
          <a:bodyPr wrap="square" lIns="0" tIns="0" rIns="0" bIns="0" rtlCol="0" anchor="ctr"/>
          <a:lstStyle/>
          <a:p>
            <a:pPr marL="0" indent="0">
              <a:buNone/>
            </a:pPr>
            <a:r>
              <a:rPr lang="en-US" sz="1000" b="1" kern="0" spc="150" dirty="0">
                <a:solidFill>
                  <a:srgbClr val="6B7280"/>
                </a:solidFill>
                <a:latin typeface="Calibri" pitchFamily="34" charset="0"/>
                <a:ea typeface="Calibri" pitchFamily="34" charset="-122"/>
                <a:cs typeface="Calibri" pitchFamily="34" charset="-120"/>
              </a:rPr>
              <a:t>CORPS DE TEXTE — POIDS 300/400/500/600</a:t>
            </a:r>
            <a:endParaRPr lang="en-US" sz="1000" dirty="0"/>
          </a:p>
        </p:txBody>
      </p:sp>
      <p:sp>
        <p:nvSpPr>
          <p:cNvPr id="34" name="Text 31"/>
          <p:cNvSpPr/>
          <p:nvPr/>
        </p:nvSpPr>
        <p:spPr>
          <a:xfrm>
            <a:off x="6309360" y="5440680"/>
            <a:ext cx="4937760" cy="594360"/>
          </a:xfrm>
          <a:prstGeom prst="rect">
            <a:avLst/>
          </a:prstGeom>
          <a:noFill/>
          <a:ln/>
        </p:spPr>
        <p:txBody>
          <a:bodyPr wrap="square" lIns="0" tIns="0" rIns="0" bIns="0" rtlCol="0" anchor="ctr"/>
          <a:lstStyle/>
          <a:p>
            <a:pPr marL="0" indent="0">
              <a:lnSpc>
                <a:spcPct val="130000"/>
              </a:lnSpc>
              <a:buNone/>
            </a:pPr>
            <a:r>
              <a:rPr lang="en-US" sz="1100" dirty="0">
                <a:solidFill>
                  <a:srgbClr val="6B7280"/>
                </a:solidFill>
                <a:latin typeface="Calibri" pitchFamily="34" charset="0"/>
                <a:ea typeface="Calibri" pitchFamily="34" charset="-122"/>
                <a:cs typeface="Calibri" pitchFamily="34" charset="-120"/>
              </a:rPr>
              <a:t>Sans-serif tres lisible. Paragraphes, boutons, labels de formulaire, menus de navigation.</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A1A2E"/>
        </a:solidFill>
        <a:effectLst/>
      </p:bgPr>
    </p:bg>
    <p:spTree>
      <p:nvGrpSpPr>
        <p:cNvPr id="1" name=""/>
        <p:cNvGrpSpPr/>
        <p:nvPr/>
      </p:nvGrpSpPr>
      <p:grpSpPr>
        <a:xfrm>
          <a:off x="0" y="0"/>
          <a:ext cx="0" cy="0"/>
          <a:chOff x="0" y="0"/>
          <a:chExt cx="0" cy="0"/>
        </a:xfrm>
      </p:grpSpPr>
      <p:sp>
        <p:nvSpPr>
          <p:cNvPr id="2" name="Text 0"/>
          <p:cNvSpPr/>
          <p:nvPr/>
        </p:nvSpPr>
        <p:spPr>
          <a:xfrm>
            <a:off x="640080" y="347472"/>
            <a:ext cx="8229600" cy="292608"/>
          </a:xfrm>
          <a:prstGeom prst="rect">
            <a:avLst/>
          </a:prstGeom>
          <a:noFill/>
          <a:ln/>
        </p:spPr>
        <p:txBody>
          <a:bodyPr wrap="square" lIns="0" tIns="0" rIns="0" bIns="0" rtlCol="0" anchor="ctr"/>
          <a:lstStyle/>
          <a:p>
            <a:pPr marL="0" indent="0">
              <a:buNone/>
            </a:pPr>
            <a:r>
              <a:rPr lang="en-US" sz="1100" b="1" kern="0" spc="250" dirty="0">
                <a:solidFill>
                  <a:srgbClr val="F5A623"/>
                </a:solidFill>
                <a:latin typeface="Calibri" pitchFamily="34" charset="0"/>
                <a:ea typeface="Calibri" pitchFamily="34" charset="-122"/>
                <a:cs typeface="Calibri" pitchFamily="34" charset="-120"/>
              </a:rPr>
              <a:t>CAPTURES D'ECRAN — INDEX.HTML</a:t>
            </a:r>
            <a:endParaRPr lang="en-US" sz="1100" dirty="0"/>
          </a:p>
        </p:txBody>
      </p:sp>
      <p:sp>
        <p:nvSpPr>
          <p:cNvPr id="3" name="Text 1"/>
          <p:cNvSpPr/>
          <p:nvPr/>
        </p:nvSpPr>
        <p:spPr>
          <a:xfrm>
            <a:off x="640080" y="658368"/>
            <a:ext cx="7315200" cy="566928"/>
          </a:xfrm>
          <a:prstGeom prst="rect">
            <a:avLst/>
          </a:prstGeom>
          <a:noFill/>
          <a:ln/>
        </p:spPr>
        <p:txBody>
          <a:bodyPr wrap="square" lIns="0" tIns="0" rIns="0" bIns="0" rtlCol="0" anchor="ctr"/>
          <a:lstStyle/>
          <a:p>
            <a:pPr marL="0" indent="0">
              <a:buNone/>
            </a:pPr>
            <a:r>
              <a:rPr lang="en-US" sz="2800" b="1" dirty="0">
                <a:solidFill>
                  <a:srgbClr val="FFFFFF"/>
                </a:solidFill>
                <a:latin typeface="Bookman Old Style" pitchFamily="34" charset="0"/>
                <a:ea typeface="Bookman Old Style" pitchFamily="34" charset="-122"/>
                <a:cs typeface="Bookman Old Style" pitchFamily="34" charset="-120"/>
              </a:rPr>
              <a:t>Page d'accueil</a:t>
            </a:r>
            <a:endParaRPr lang="en-US" sz="2800" dirty="0"/>
          </a:p>
        </p:txBody>
      </p:sp>
      <p:sp>
        <p:nvSpPr>
          <p:cNvPr id="4" name="Text 2"/>
          <p:cNvSpPr/>
          <p:nvPr/>
        </p:nvSpPr>
        <p:spPr>
          <a:xfrm>
            <a:off x="8138160" y="713232"/>
            <a:ext cx="3291840" cy="457200"/>
          </a:xfrm>
          <a:prstGeom prst="rect">
            <a:avLst/>
          </a:prstGeom>
          <a:noFill/>
          <a:ln/>
        </p:spPr>
        <p:txBody>
          <a:bodyPr wrap="square" lIns="0" tIns="0" rIns="0" bIns="0" rtlCol="0" anchor="ctr"/>
          <a:lstStyle/>
          <a:p>
            <a:pPr marL="0" indent="0" algn="r">
              <a:buNone/>
            </a:pPr>
            <a:r>
              <a:rPr lang="en-US" sz="1400" b="1" dirty="0">
                <a:solidFill>
                  <a:srgbClr val="F5A623"/>
                </a:solidFill>
                <a:latin typeface="Courier New" pitchFamily="34" charset="0"/>
                <a:ea typeface="Courier New" pitchFamily="34" charset="-122"/>
                <a:cs typeface="Courier New" pitchFamily="34" charset="-120"/>
              </a:rPr>
              <a:t>index.html</a:t>
            </a:r>
            <a:endParaRPr lang="en-US" sz="1400" dirty="0"/>
          </a:p>
        </p:txBody>
      </p:sp>
      <p:pic>
        <p:nvPicPr>
          <p:cNvPr id="5" name="Image 0" descr="assets/screen_index_full.jpg"/>
          <p:cNvPicPr>
            <a:picLocks noChangeAspect="1"/>
          </p:cNvPicPr>
          <p:nvPr/>
        </p:nvPicPr>
        <p:blipFill>
          <a:blip r:embed="rId3"/>
          <a:stretch>
            <a:fillRect/>
          </a:stretch>
        </p:blipFill>
        <p:spPr>
          <a:xfrm>
            <a:off x="457200" y="1417320"/>
            <a:ext cx="4389120" cy="5120640"/>
          </a:xfrm>
          <a:prstGeom prst="rect">
            <a:avLst/>
          </a:prstGeom>
        </p:spPr>
      </p:pic>
      <p:sp>
        <p:nvSpPr>
          <p:cNvPr id="6" name="Shape 3"/>
          <p:cNvSpPr/>
          <p:nvPr/>
        </p:nvSpPr>
        <p:spPr>
          <a:xfrm>
            <a:off x="5120640" y="1417320"/>
            <a:ext cx="6766560" cy="896112"/>
          </a:xfrm>
          <a:prstGeom prst="roundRect">
            <a:avLst>
              <a:gd name="adj" fmla="val 7143"/>
            </a:avLst>
          </a:prstGeom>
          <a:solidFill>
            <a:srgbClr val="24243D"/>
          </a:solidFill>
          <a:ln/>
        </p:spPr>
      </p:sp>
      <p:sp>
        <p:nvSpPr>
          <p:cNvPr id="7" name="Shape 4"/>
          <p:cNvSpPr/>
          <p:nvPr/>
        </p:nvSpPr>
        <p:spPr>
          <a:xfrm>
            <a:off x="5257800" y="1545336"/>
            <a:ext cx="73152" cy="73152"/>
          </a:xfrm>
          <a:prstGeom prst="ellipse">
            <a:avLst/>
          </a:prstGeom>
          <a:solidFill>
            <a:srgbClr val="F5A623"/>
          </a:solidFill>
          <a:ln/>
        </p:spPr>
      </p:sp>
      <p:sp>
        <p:nvSpPr>
          <p:cNvPr id="8" name="Text 5"/>
          <p:cNvSpPr/>
          <p:nvPr/>
        </p:nvSpPr>
        <p:spPr>
          <a:xfrm>
            <a:off x="5468112" y="1463040"/>
            <a:ext cx="6309360" cy="292608"/>
          </a:xfrm>
          <a:prstGeom prst="rect">
            <a:avLst/>
          </a:prstGeom>
          <a:noFill/>
          <a:ln/>
        </p:spPr>
        <p:txBody>
          <a:bodyPr wrap="square" lIns="0" tIns="0" rIns="0" bIns="0" rtlCol="0" anchor="ctr"/>
          <a:lstStyle/>
          <a:p>
            <a:pPr marL="0" indent="0">
              <a:buNone/>
            </a:pPr>
            <a:r>
              <a:rPr lang="en-US" sz="1250" b="1" dirty="0">
                <a:solidFill>
                  <a:srgbClr val="F5A623"/>
                </a:solidFill>
                <a:latin typeface="Calibri" pitchFamily="34" charset="0"/>
                <a:ea typeface="Calibri" pitchFamily="34" charset="-122"/>
                <a:cs typeface="Calibri" pitchFamily="34" charset="-120"/>
              </a:rPr>
              <a:t>Navbar fixe + 6 liens</a:t>
            </a:r>
            <a:endParaRPr lang="en-US" sz="1250" dirty="0"/>
          </a:p>
        </p:txBody>
      </p:sp>
      <p:sp>
        <p:nvSpPr>
          <p:cNvPr id="9" name="Text 6"/>
          <p:cNvSpPr/>
          <p:nvPr/>
        </p:nvSpPr>
        <p:spPr>
          <a:xfrm>
            <a:off x="5468112" y="1801368"/>
            <a:ext cx="6309360" cy="411480"/>
          </a:xfrm>
          <a:prstGeom prst="rect">
            <a:avLst/>
          </a:prstGeom>
          <a:noFill/>
          <a:ln/>
        </p:spPr>
        <p:txBody>
          <a:bodyPr wrap="square" lIns="0" tIns="0" rIns="0" bIns="0" rtlCol="0" anchor="ctr"/>
          <a:lstStyle/>
          <a:p>
            <a:pPr marL="0" indent="0">
              <a:lnSpc>
                <a:spcPct val="120000"/>
              </a:lnSpc>
              <a:buNone/>
            </a:pPr>
            <a:r>
              <a:rPr lang="en-US" sz="1050" dirty="0">
                <a:solidFill>
                  <a:srgbClr val="C7C7D9"/>
                </a:solidFill>
                <a:latin typeface="Calibri" pitchFamily="34" charset="0"/>
                <a:ea typeface="Calibri" pitchFamily="34" charset="-122"/>
                <a:cs typeface="Calibri" pitchFamily="34" charset="-120"/>
              </a:rPr>
              <a:t>Logo, menu responsive, bouton dark mode, CTA 'Rejoindre AfriTalent'</a:t>
            </a:r>
            <a:endParaRPr lang="en-US" sz="1050" dirty="0"/>
          </a:p>
        </p:txBody>
      </p:sp>
      <p:sp>
        <p:nvSpPr>
          <p:cNvPr id="10" name="Shape 7"/>
          <p:cNvSpPr/>
          <p:nvPr/>
        </p:nvSpPr>
        <p:spPr>
          <a:xfrm>
            <a:off x="5120640" y="2441448"/>
            <a:ext cx="6766560" cy="896112"/>
          </a:xfrm>
          <a:prstGeom prst="roundRect">
            <a:avLst>
              <a:gd name="adj" fmla="val 7143"/>
            </a:avLst>
          </a:prstGeom>
          <a:solidFill>
            <a:srgbClr val="24243D"/>
          </a:solidFill>
          <a:ln/>
        </p:spPr>
      </p:sp>
      <p:sp>
        <p:nvSpPr>
          <p:cNvPr id="11" name="Shape 8"/>
          <p:cNvSpPr/>
          <p:nvPr/>
        </p:nvSpPr>
        <p:spPr>
          <a:xfrm>
            <a:off x="5257800" y="2569464"/>
            <a:ext cx="73152" cy="73152"/>
          </a:xfrm>
          <a:prstGeom prst="ellipse">
            <a:avLst/>
          </a:prstGeom>
          <a:solidFill>
            <a:srgbClr val="F5A623"/>
          </a:solidFill>
          <a:ln/>
        </p:spPr>
      </p:sp>
      <p:sp>
        <p:nvSpPr>
          <p:cNvPr id="12" name="Text 9"/>
          <p:cNvSpPr/>
          <p:nvPr/>
        </p:nvSpPr>
        <p:spPr>
          <a:xfrm>
            <a:off x="5468112" y="2487168"/>
            <a:ext cx="6309360" cy="292608"/>
          </a:xfrm>
          <a:prstGeom prst="rect">
            <a:avLst/>
          </a:prstGeom>
          <a:noFill/>
          <a:ln/>
        </p:spPr>
        <p:txBody>
          <a:bodyPr wrap="square" lIns="0" tIns="0" rIns="0" bIns="0" rtlCol="0" anchor="ctr"/>
          <a:lstStyle/>
          <a:p>
            <a:pPr marL="0" indent="0">
              <a:buNone/>
            </a:pPr>
            <a:r>
              <a:rPr lang="en-US" sz="1250" b="1" dirty="0">
                <a:solidFill>
                  <a:srgbClr val="F5A623"/>
                </a:solidFill>
                <a:latin typeface="Calibri" pitchFamily="34" charset="0"/>
                <a:ea typeface="Calibri" pitchFamily="34" charset="-122"/>
                <a:cs typeface="Calibri" pitchFamily="34" charset="-120"/>
              </a:rPr>
              <a:t>Section Hero</a:t>
            </a:r>
            <a:endParaRPr lang="en-US" sz="1250" dirty="0"/>
          </a:p>
        </p:txBody>
      </p:sp>
      <p:sp>
        <p:nvSpPr>
          <p:cNvPr id="13" name="Text 10"/>
          <p:cNvSpPr/>
          <p:nvPr/>
        </p:nvSpPr>
        <p:spPr>
          <a:xfrm>
            <a:off x="5468112" y="2825496"/>
            <a:ext cx="6309360" cy="411480"/>
          </a:xfrm>
          <a:prstGeom prst="rect">
            <a:avLst/>
          </a:prstGeom>
          <a:noFill/>
          <a:ln/>
        </p:spPr>
        <p:txBody>
          <a:bodyPr wrap="square" lIns="0" tIns="0" rIns="0" bIns="0" rtlCol="0" anchor="ctr"/>
          <a:lstStyle/>
          <a:p>
            <a:pPr marL="0" indent="0">
              <a:lnSpc>
                <a:spcPct val="120000"/>
              </a:lnSpc>
              <a:buNone/>
            </a:pPr>
            <a:r>
              <a:rPr lang="en-US" sz="1050" dirty="0">
                <a:solidFill>
                  <a:srgbClr val="C7C7D9"/>
                </a:solidFill>
                <a:latin typeface="Calibri" pitchFamily="34" charset="0"/>
                <a:ea typeface="Calibri" pitchFamily="34" charset="-122"/>
                <a:cs typeface="Calibri" pitchFamily="34" charset="-120"/>
              </a:rPr>
              <a:t>H1 accrocheur, H2 proposition de valeur, 2 boutons CTA, image asymetrique</a:t>
            </a:r>
            <a:endParaRPr lang="en-US" sz="1050" dirty="0"/>
          </a:p>
        </p:txBody>
      </p:sp>
      <p:sp>
        <p:nvSpPr>
          <p:cNvPr id="14" name="Shape 11"/>
          <p:cNvSpPr/>
          <p:nvPr/>
        </p:nvSpPr>
        <p:spPr>
          <a:xfrm>
            <a:off x="5120640" y="3465576"/>
            <a:ext cx="6766560" cy="896112"/>
          </a:xfrm>
          <a:prstGeom prst="roundRect">
            <a:avLst>
              <a:gd name="adj" fmla="val 7143"/>
            </a:avLst>
          </a:prstGeom>
          <a:solidFill>
            <a:srgbClr val="24243D"/>
          </a:solidFill>
          <a:ln/>
        </p:spPr>
      </p:sp>
      <p:sp>
        <p:nvSpPr>
          <p:cNvPr id="15" name="Shape 12"/>
          <p:cNvSpPr/>
          <p:nvPr/>
        </p:nvSpPr>
        <p:spPr>
          <a:xfrm>
            <a:off x="5257800" y="3593592"/>
            <a:ext cx="73152" cy="73152"/>
          </a:xfrm>
          <a:prstGeom prst="ellipse">
            <a:avLst/>
          </a:prstGeom>
          <a:solidFill>
            <a:srgbClr val="F5A623"/>
          </a:solidFill>
          <a:ln/>
        </p:spPr>
      </p:sp>
      <p:sp>
        <p:nvSpPr>
          <p:cNvPr id="16" name="Text 13"/>
          <p:cNvSpPr/>
          <p:nvPr/>
        </p:nvSpPr>
        <p:spPr>
          <a:xfrm>
            <a:off x="5468112" y="3511296"/>
            <a:ext cx="6309360" cy="292608"/>
          </a:xfrm>
          <a:prstGeom prst="rect">
            <a:avLst/>
          </a:prstGeom>
          <a:noFill/>
          <a:ln/>
        </p:spPr>
        <p:txBody>
          <a:bodyPr wrap="square" lIns="0" tIns="0" rIns="0" bIns="0" rtlCol="0" anchor="ctr"/>
          <a:lstStyle/>
          <a:p>
            <a:pPr marL="0" indent="0">
              <a:buNone/>
            </a:pPr>
            <a:r>
              <a:rPr lang="en-US" sz="1250" b="1" dirty="0">
                <a:solidFill>
                  <a:srgbClr val="F5A623"/>
                </a:solidFill>
                <a:latin typeface="Calibri" pitchFamily="34" charset="0"/>
                <a:ea typeface="Calibri" pitchFamily="34" charset="-122"/>
                <a:cs typeface="Calibri" pitchFamily="34" charset="-120"/>
              </a:rPr>
              <a:t>Statistiques animees</a:t>
            </a:r>
            <a:endParaRPr lang="en-US" sz="1250" dirty="0"/>
          </a:p>
        </p:txBody>
      </p:sp>
      <p:sp>
        <p:nvSpPr>
          <p:cNvPr id="17" name="Text 14"/>
          <p:cNvSpPr/>
          <p:nvPr/>
        </p:nvSpPr>
        <p:spPr>
          <a:xfrm>
            <a:off x="5468112" y="3849624"/>
            <a:ext cx="6309360" cy="411480"/>
          </a:xfrm>
          <a:prstGeom prst="rect">
            <a:avLst/>
          </a:prstGeom>
          <a:noFill/>
          <a:ln/>
        </p:spPr>
        <p:txBody>
          <a:bodyPr wrap="square" lIns="0" tIns="0" rIns="0" bIns="0" rtlCol="0" anchor="ctr"/>
          <a:lstStyle/>
          <a:p>
            <a:pPr marL="0" indent="0">
              <a:lnSpc>
                <a:spcPct val="120000"/>
              </a:lnSpc>
              <a:buNone/>
            </a:pPr>
            <a:r>
              <a:rPr lang="en-US" sz="1050" dirty="0">
                <a:solidFill>
                  <a:srgbClr val="C7C7D9"/>
                </a:solidFill>
                <a:latin typeface="Calibri" pitchFamily="34" charset="0"/>
                <a:ea typeface="Calibri" pitchFamily="34" charset="-122"/>
                <a:cs typeface="Calibri" pitchFamily="34" charset="-120"/>
              </a:rPr>
              <a:t>2 500+ freelances / 800+ entreprises / 12 000+ missions (IntersectionObserver)</a:t>
            </a:r>
            <a:endParaRPr lang="en-US" sz="1050" dirty="0"/>
          </a:p>
        </p:txBody>
      </p:sp>
      <p:sp>
        <p:nvSpPr>
          <p:cNvPr id="18" name="Shape 15"/>
          <p:cNvSpPr/>
          <p:nvPr/>
        </p:nvSpPr>
        <p:spPr>
          <a:xfrm>
            <a:off x="5120640" y="4489704"/>
            <a:ext cx="6766560" cy="896112"/>
          </a:xfrm>
          <a:prstGeom prst="roundRect">
            <a:avLst>
              <a:gd name="adj" fmla="val 7143"/>
            </a:avLst>
          </a:prstGeom>
          <a:solidFill>
            <a:srgbClr val="24243D"/>
          </a:solidFill>
          <a:ln/>
        </p:spPr>
      </p:sp>
      <p:sp>
        <p:nvSpPr>
          <p:cNvPr id="19" name="Shape 16"/>
          <p:cNvSpPr/>
          <p:nvPr/>
        </p:nvSpPr>
        <p:spPr>
          <a:xfrm>
            <a:off x="5257800" y="4617720"/>
            <a:ext cx="73152" cy="73152"/>
          </a:xfrm>
          <a:prstGeom prst="ellipse">
            <a:avLst/>
          </a:prstGeom>
          <a:solidFill>
            <a:srgbClr val="F5A623"/>
          </a:solidFill>
          <a:ln/>
        </p:spPr>
      </p:sp>
      <p:sp>
        <p:nvSpPr>
          <p:cNvPr id="20" name="Text 17"/>
          <p:cNvSpPr/>
          <p:nvPr/>
        </p:nvSpPr>
        <p:spPr>
          <a:xfrm>
            <a:off x="5468112" y="4535424"/>
            <a:ext cx="6309360" cy="292608"/>
          </a:xfrm>
          <a:prstGeom prst="rect">
            <a:avLst/>
          </a:prstGeom>
          <a:noFill/>
          <a:ln/>
        </p:spPr>
        <p:txBody>
          <a:bodyPr wrap="square" lIns="0" tIns="0" rIns="0" bIns="0" rtlCol="0" anchor="ctr"/>
          <a:lstStyle/>
          <a:p>
            <a:pPr marL="0" indent="0">
              <a:buNone/>
            </a:pPr>
            <a:r>
              <a:rPr lang="en-US" sz="1250" b="1" dirty="0">
                <a:solidFill>
                  <a:srgbClr val="F5A623"/>
                </a:solidFill>
                <a:latin typeface="Calibri" pitchFamily="34" charset="0"/>
                <a:ea typeface="Calibri" pitchFamily="34" charset="-122"/>
                <a:cs typeface="Calibri" pitchFamily="34" charset="-120"/>
              </a:rPr>
              <a:t>Comment ca marche</a:t>
            </a:r>
            <a:endParaRPr lang="en-US" sz="1250" dirty="0"/>
          </a:p>
        </p:txBody>
      </p:sp>
      <p:sp>
        <p:nvSpPr>
          <p:cNvPr id="21" name="Text 18"/>
          <p:cNvSpPr/>
          <p:nvPr/>
        </p:nvSpPr>
        <p:spPr>
          <a:xfrm>
            <a:off x="5468112" y="4873752"/>
            <a:ext cx="6309360" cy="411480"/>
          </a:xfrm>
          <a:prstGeom prst="rect">
            <a:avLst/>
          </a:prstGeom>
          <a:noFill/>
          <a:ln/>
        </p:spPr>
        <p:txBody>
          <a:bodyPr wrap="square" lIns="0" tIns="0" rIns="0" bIns="0" rtlCol="0" anchor="ctr"/>
          <a:lstStyle/>
          <a:p>
            <a:pPr marL="0" indent="0">
              <a:lnSpc>
                <a:spcPct val="120000"/>
              </a:lnSpc>
              <a:buNone/>
            </a:pPr>
            <a:r>
              <a:rPr lang="en-US" sz="1050" dirty="0">
                <a:solidFill>
                  <a:srgbClr val="C7C7D9"/>
                </a:solidFill>
                <a:latin typeface="Calibri" pitchFamily="34" charset="0"/>
                <a:ea typeface="Calibri" pitchFamily="34" charset="-122"/>
                <a:cs typeface="Calibri" pitchFamily="34" charset="-120"/>
              </a:rPr>
              <a:t>4 etapes en grille Bootstrap Cards</a:t>
            </a:r>
            <a:endParaRPr lang="en-US" sz="1050" dirty="0"/>
          </a:p>
        </p:txBody>
      </p:sp>
      <p:sp>
        <p:nvSpPr>
          <p:cNvPr id="22" name="Shape 19"/>
          <p:cNvSpPr/>
          <p:nvPr/>
        </p:nvSpPr>
        <p:spPr>
          <a:xfrm>
            <a:off x="5120640" y="5513832"/>
            <a:ext cx="6766560" cy="896112"/>
          </a:xfrm>
          <a:prstGeom prst="roundRect">
            <a:avLst>
              <a:gd name="adj" fmla="val 7143"/>
            </a:avLst>
          </a:prstGeom>
          <a:solidFill>
            <a:srgbClr val="24243D"/>
          </a:solidFill>
          <a:ln/>
        </p:spPr>
      </p:sp>
      <p:sp>
        <p:nvSpPr>
          <p:cNvPr id="23" name="Shape 20"/>
          <p:cNvSpPr/>
          <p:nvPr/>
        </p:nvSpPr>
        <p:spPr>
          <a:xfrm>
            <a:off x="5257800" y="5641848"/>
            <a:ext cx="73152" cy="73152"/>
          </a:xfrm>
          <a:prstGeom prst="ellipse">
            <a:avLst/>
          </a:prstGeom>
          <a:solidFill>
            <a:srgbClr val="F5A623"/>
          </a:solidFill>
          <a:ln/>
        </p:spPr>
      </p:sp>
      <p:sp>
        <p:nvSpPr>
          <p:cNvPr id="24" name="Text 21"/>
          <p:cNvSpPr/>
          <p:nvPr/>
        </p:nvSpPr>
        <p:spPr>
          <a:xfrm>
            <a:off x="5468112" y="5559552"/>
            <a:ext cx="6309360" cy="292608"/>
          </a:xfrm>
          <a:prstGeom prst="rect">
            <a:avLst/>
          </a:prstGeom>
          <a:noFill/>
          <a:ln/>
        </p:spPr>
        <p:txBody>
          <a:bodyPr wrap="square" lIns="0" tIns="0" rIns="0" bIns="0" rtlCol="0" anchor="ctr"/>
          <a:lstStyle/>
          <a:p>
            <a:pPr marL="0" indent="0">
              <a:buNone/>
            </a:pPr>
            <a:r>
              <a:rPr lang="en-US" sz="1250" b="1" dirty="0">
                <a:solidFill>
                  <a:srgbClr val="F5A623"/>
                </a:solidFill>
                <a:latin typeface="Calibri" pitchFamily="34" charset="0"/>
                <a:ea typeface="Calibri" pitchFamily="34" charset="-122"/>
                <a:cs typeface="Calibri" pitchFamily="34" charset="-120"/>
              </a:rPr>
              <a:t>Categories &amp; Temoignages</a:t>
            </a:r>
            <a:endParaRPr lang="en-US" sz="1250" dirty="0"/>
          </a:p>
        </p:txBody>
      </p:sp>
      <p:sp>
        <p:nvSpPr>
          <p:cNvPr id="25" name="Text 22"/>
          <p:cNvSpPr/>
          <p:nvPr/>
        </p:nvSpPr>
        <p:spPr>
          <a:xfrm>
            <a:off x="5468112" y="5897880"/>
            <a:ext cx="6309360" cy="411480"/>
          </a:xfrm>
          <a:prstGeom prst="rect">
            <a:avLst/>
          </a:prstGeom>
          <a:noFill/>
          <a:ln/>
        </p:spPr>
        <p:txBody>
          <a:bodyPr wrap="square" lIns="0" tIns="0" rIns="0" bIns="0" rtlCol="0" anchor="ctr"/>
          <a:lstStyle/>
          <a:p>
            <a:pPr marL="0" indent="0">
              <a:lnSpc>
                <a:spcPct val="120000"/>
              </a:lnSpc>
              <a:buNone/>
            </a:pPr>
            <a:r>
              <a:rPr lang="en-US" sz="1050" dirty="0">
                <a:solidFill>
                  <a:srgbClr val="C7C7D9"/>
                </a:solidFill>
                <a:latin typeface="Calibri" pitchFamily="34" charset="0"/>
                <a:ea typeface="Calibri" pitchFamily="34" charset="-122"/>
                <a:cs typeface="Calibri" pitchFamily="34" charset="-120"/>
              </a:rPr>
              <a:t>6 categories avec hover CSS, carousel Bootstrap 3 temoignages</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47472"/>
            <a:ext cx="8229600" cy="292608"/>
          </a:xfrm>
          <a:prstGeom prst="rect">
            <a:avLst/>
          </a:prstGeom>
          <a:noFill/>
          <a:ln/>
        </p:spPr>
        <p:txBody>
          <a:bodyPr wrap="square" lIns="0" tIns="0" rIns="0" bIns="0" rtlCol="0" anchor="ctr"/>
          <a:lstStyle/>
          <a:p>
            <a:pPr marL="0" indent="0">
              <a:buNone/>
            </a:pPr>
            <a:r>
              <a:rPr lang="en-US" sz="1100" b="1" kern="0" spc="250" dirty="0">
                <a:solidFill>
                  <a:srgbClr val="F5A623"/>
                </a:solidFill>
                <a:latin typeface="Calibri" pitchFamily="34" charset="0"/>
                <a:ea typeface="Calibri" pitchFamily="34" charset="-122"/>
                <a:cs typeface="Calibri" pitchFamily="34" charset="-120"/>
              </a:rPr>
              <a:t>CAPTURES D'ECRAN</a:t>
            </a:r>
            <a:endParaRPr lang="en-US" sz="1100" dirty="0"/>
          </a:p>
        </p:txBody>
      </p:sp>
      <p:sp>
        <p:nvSpPr>
          <p:cNvPr id="3" name="Text 1"/>
          <p:cNvSpPr/>
          <p:nvPr/>
        </p:nvSpPr>
        <p:spPr>
          <a:xfrm>
            <a:off x="640080" y="658368"/>
            <a:ext cx="9144000" cy="566928"/>
          </a:xfrm>
          <a:prstGeom prst="rect">
            <a:avLst/>
          </a:prstGeom>
          <a:noFill/>
          <a:ln/>
        </p:spPr>
        <p:txBody>
          <a:bodyPr wrap="square" lIns="0" tIns="0" rIns="0" bIns="0" rtlCol="0" anchor="ctr"/>
          <a:lstStyle/>
          <a:p>
            <a:pPr marL="0" indent="0">
              <a:buNone/>
            </a:pPr>
            <a:r>
              <a:rPr lang="en-US" sz="2800" b="1" dirty="0">
                <a:solidFill>
                  <a:srgbClr val="1A1A2E"/>
                </a:solidFill>
                <a:latin typeface="Bookman Old Style" pitchFamily="34" charset="0"/>
                <a:ea typeface="Bookman Old Style" pitchFamily="34" charset="-122"/>
                <a:cs typeface="Bookman Old Style" pitchFamily="34" charset="-120"/>
              </a:rPr>
              <a:t>Freelances &amp; Tarifs</a:t>
            </a:r>
            <a:endParaRPr lang="en-US" sz="2800" dirty="0"/>
          </a:p>
        </p:txBody>
      </p:sp>
      <p:sp>
        <p:nvSpPr>
          <p:cNvPr id="4" name="Shape 2"/>
          <p:cNvSpPr/>
          <p:nvPr/>
        </p:nvSpPr>
        <p:spPr>
          <a:xfrm>
            <a:off x="457200" y="1417320"/>
            <a:ext cx="822960" cy="320040"/>
          </a:xfrm>
          <a:prstGeom prst="roundRect">
            <a:avLst>
              <a:gd name="adj" fmla="val 11429"/>
            </a:avLst>
          </a:prstGeom>
          <a:solidFill>
            <a:srgbClr val="1A1A2E"/>
          </a:solidFill>
          <a:ln/>
        </p:spPr>
      </p:sp>
      <p:sp>
        <p:nvSpPr>
          <p:cNvPr id="5" name="Text 3"/>
          <p:cNvSpPr/>
          <p:nvPr/>
        </p:nvSpPr>
        <p:spPr>
          <a:xfrm>
            <a:off x="457200" y="1417320"/>
            <a:ext cx="3200400" cy="320040"/>
          </a:xfrm>
          <a:prstGeom prst="rect">
            <a:avLst/>
          </a:prstGeom>
          <a:noFill/>
          <a:ln/>
        </p:spPr>
        <p:txBody>
          <a:bodyPr wrap="square" lIns="0" tIns="0" rIns="0" bIns="0" rtlCol="0" anchor="ctr"/>
          <a:lstStyle/>
          <a:p>
            <a:pPr marL="0" indent="0">
              <a:buNone/>
            </a:pPr>
            <a:r>
              <a:rPr lang="en-US" sz="950" b="1" dirty="0">
                <a:solidFill>
                  <a:srgbClr val="F5A623"/>
                </a:solidFill>
                <a:latin typeface="Courier New" pitchFamily="34" charset="0"/>
                <a:ea typeface="Courier New" pitchFamily="34" charset="-122"/>
                <a:cs typeface="Courier New" pitchFamily="34" charset="-120"/>
              </a:rPr>
              <a:t>freelances.html</a:t>
            </a:r>
            <a:endParaRPr lang="en-US" sz="950" dirty="0"/>
          </a:p>
        </p:txBody>
      </p:sp>
      <p:pic>
        <p:nvPicPr>
          <p:cNvPr id="6" name="Image 0" descr="assets/screen_freelances_full.jpg"/>
          <p:cNvPicPr>
            <a:picLocks noChangeAspect="1"/>
          </p:cNvPicPr>
          <p:nvPr/>
        </p:nvPicPr>
        <p:blipFill>
          <a:blip r:embed="rId3"/>
          <a:stretch>
            <a:fillRect/>
          </a:stretch>
        </p:blipFill>
        <p:spPr>
          <a:xfrm>
            <a:off x="457200" y="1828800"/>
            <a:ext cx="5394960" cy="4754880"/>
          </a:xfrm>
          <a:prstGeom prst="rect">
            <a:avLst/>
          </a:prstGeom>
        </p:spPr>
      </p:pic>
      <p:sp>
        <p:nvSpPr>
          <p:cNvPr id="7" name="Shape 4"/>
          <p:cNvSpPr/>
          <p:nvPr/>
        </p:nvSpPr>
        <p:spPr>
          <a:xfrm>
            <a:off x="6492240" y="1417320"/>
            <a:ext cx="822960" cy="320040"/>
          </a:xfrm>
          <a:prstGeom prst="roundRect">
            <a:avLst>
              <a:gd name="adj" fmla="val 11429"/>
            </a:avLst>
          </a:prstGeom>
          <a:solidFill>
            <a:srgbClr val="1A1A2E"/>
          </a:solidFill>
          <a:ln/>
        </p:spPr>
      </p:sp>
      <p:sp>
        <p:nvSpPr>
          <p:cNvPr id="8" name="Text 5"/>
          <p:cNvSpPr/>
          <p:nvPr/>
        </p:nvSpPr>
        <p:spPr>
          <a:xfrm>
            <a:off x="6492240" y="1417320"/>
            <a:ext cx="3200400" cy="320040"/>
          </a:xfrm>
          <a:prstGeom prst="rect">
            <a:avLst/>
          </a:prstGeom>
          <a:noFill/>
          <a:ln/>
        </p:spPr>
        <p:txBody>
          <a:bodyPr wrap="square" lIns="0" tIns="0" rIns="0" bIns="0" rtlCol="0" anchor="ctr"/>
          <a:lstStyle/>
          <a:p>
            <a:pPr marL="0" indent="0">
              <a:buNone/>
            </a:pPr>
            <a:r>
              <a:rPr lang="en-US" sz="950" b="1" dirty="0">
                <a:solidFill>
                  <a:srgbClr val="F5A623"/>
                </a:solidFill>
                <a:latin typeface="Courier New" pitchFamily="34" charset="0"/>
                <a:ea typeface="Courier New" pitchFamily="34" charset="-122"/>
                <a:cs typeface="Courier New" pitchFamily="34" charset="-120"/>
              </a:rPr>
              <a:t>tarifs.html</a:t>
            </a:r>
            <a:endParaRPr lang="en-US" sz="950" dirty="0"/>
          </a:p>
        </p:txBody>
      </p:sp>
      <p:pic>
        <p:nvPicPr>
          <p:cNvPr id="9" name="Image 1" descr="assets/screen_tarifs_full.jpg"/>
          <p:cNvPicPr>
            <a:picLocks noChangeAspect="1"/>
          </p:cNvPicPr>
          <p:nvPr/>
        </p:nvPicPr>
        <p:blipFill>
          <a:blip r:embed="rId4"/>
          <a:stretch>
            <a:fillRect/>
          </a:stretch>
        </p:blipFill>
        <p:spPr>
          <a:xfrm>
            <a:off x="6492240" y="1828800"/>
            <a:ext cx="5349240" cy="4754880"/>
          </a:xfrm>
          <a:prstGeom prst="rect">
            <a:avLst/>
          </a:prstGeom>
        </p:spPr>
      </p:pic>
      <p:sp>
        <p:nvSpPr>
          <p:cNvPr id="10" name="Text 6"/>
          <p:cNvSpPr/>
          <p:nvPr/>
        </p:nvSpPr>
        <p:spPr>
          <a:xfrm>
            <a:off x="502920" y="6355080"/>
            <a:ext cx="5303520" cy="502920"/>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 9 profils fictifs</a:t>
            </a:r>
            <a:endParaRPr lang="en-US" sz="1000" dirty="0"/>
          </a:p>
          <a:p>
            <a:pPr marL="0" indent="0">
              <a:buNone/>
            </a:pPr>
            <a:r>
              <a:rPr lang="en-US" sz="1000" dirty="0">
                <a:solidFill>
                  <a:srgbClr val="6B7280"/>
                </a:solidFill>
                <a:latin typeface="Calibri" pitchFamily="34" charset="0"/>
                <a:ea typeface="Calibri" pitchFamily="34" charset="-122"/>
                <a:cs typeface="Calibri" pitchFamily="34" charset="-120"/>
              </a:rPr>
              <a:t>✓ Filtres par categorie (JS)</a:t>
            </a:r>
            <a:endParaRPr lang="en-US" sz="1000" dirty="0"/>
          </a:p>
          <a:p>
            <a:pPr marL="0" indent="0">
              <a:buNone/>
            </a:pPr>
            <a:endParaRPr lang="en-US" sz="1000" dirty="0"/>
          </a:p>
          <a:p>
            <a:pPr marL="0" indent="0">
              <a:buNone/>
            </a:pPr>
            <a:r>
              <a:rPr lang="en-US" sz="1000" dirty="0">
                <a:solidFill>
                  <a:srgbClr val="6B7280"/>
                </a:solidFill>
                <a:latin typeface="Calibri" pitchFamily="34" charset="0"/>
                <a:ea typeface="Calibri" pitchFamily="34" charset="-122"/>
                <a:cs typeface="Calibri" pitchFamily="34" charset="-120"/>
              </a:rPr>
              <a:t>✓ 3 cols desktop / 1 mobile</a:t>
            </a:r>
            <a:endParaRPr lang="en-US" sz="1000" dirty="0"/>
          </a:p>
        </p:txBody>
      </p:sp>
      <p:sp>
        <p:nvSpPr>
          <p:cNvPr id="11" name="Text 7"/>
          <p:cNvSpPr/>
          <p:nvPr/>
        </p:nvSpPr>
        <p:spPr>
          <a:xfrm>
            <a:off x="6537960" y="6355080"/>
            <a:ext cx="5303520" cy="502920"/>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 3 plans : Gratuit / Pro / Entreprise</a:t>
            </a:r>
            <a:endParaRPr lang="en-US" sz="1000" dirty="0"/>
          </a:p>
          <a:p>
            <a:pPr marL="0" indent="0">
              <a:buNone/>
            </a:pPr>
            <a:r>
              <a:rPr lang="en-US" sz="1000" dirty="0">
                <a:solidFill>
                  <a:srgbClr val="6B7280"/>
                </a:solidFill>
                <a:latin typeface="Calibri" pitchFamily="34" charset="0"/>
                <a:ea typeface="Calibri" pitchFamily="34" charset="-122"/>
                <a:cs typeface="Calibri" pitchFamily="34" charset="-120"/>
              </a:rPr>
              <a:t>✓ Plan Pro mis en avant (badge)</a:t>
            </a:r>
            <a:endParaRPr lang="en-US" sz="1000" dirty="0"/>
          </a:p>
          <a:p>
            <a:pPr marL="0" indent="0">
              <a:buNone/>
            </a:pPr>
            <a:endParaRPr lang="en-US" sz="1000" dirty="0"/>
          </a:p>
          <a:p>
            <a:pPr marL="0" indent="0">
              <a:buNone/>
            </a:pPr>
            <a:r>
              <a:rPr lang="en-US" sz="1000" dirty="0">
                <a:solidFill>
                  <a:srgbClr val="6B7280"/>
                </a:solidFill>
                <a:latin typeface="Calibri" pitchFamily="34" charset="0"/>
                <a:ea typeface="Calibri" pitchFamily="34" charset="-122"/>
                <a:cs typeface="Calibri" pitchFamily="34" charset="-120"/>
              </a:rPr>
              <a:t>✓ FAQ accordion Bootstrap (5 Q)</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47472"/>
            <a:ext cx="8229600" cy="292608"/>
          </a:xfrm>
          <a:prstGeom prst="rect">
            <a:avLst/>
          </a:prstGeom>
          <a:noFill/>
          <a:ln/>
        </p:spPr>
        <p:txBody>
          <a:bodyPr wrap="square" lIns="0" tIns="0" rIns="0" bIns="0" rtlCol="0" anchor="ctr"/>
          <a:lstStyle/>
          <a:p>
            <a:pPr marL="0" indent="0">
              <a:buNone/>
            </a:pPr>
            <a:r>
              <a:rPr lang="en-US" sz="1100" b="1" kern="0" spc="250" dirty="0">
                <a:solidFill>
                  <a:srgbClr val="F5A623"/>
                </a:solidFill>
                <a:latin typeface="Calibri" pitchFamily="34" charset="0"/>
                <a:ea typeface="Calibri" pitchFamily="34" charset="-122"/>
                <a:cs typeface="Calibri" pitchFamily="34" charset="-120"/>
              </a:rPr>
              <a:t>CAPTURES D'ECRAN</a:t>
            </a:r>
            <a:endParaRPr lang="en-US" sz="1100" dirty="0"/>
          </a:p>
        </p:txBody>
      </p:sp>
      <p:sp>
        <p:nvSpPr>
          <p:cNvPr id="3" name="Text 1"/>
          <p:cNvSpPr/>
          <p:nvPr/>
        </p:nvSpPr>
        <p:spPr>
          <a:xfrm>
            <a:off x="640080" y="658368"/>
            <a:ext cx="9144000" cy="566928"/>
          </a:xfrm>
          <a:prstGeom prst="rect">
            <a:avLst/>
          </a:prstGeom>
          <a:noFill/>
          <a:ln/>
        </p:spPr>
        <p:txBody>
          <a:bodyPr wrap="square" lIns="0" tIns="0" rIns="0" bIns="0" rtlCol="0" anchor="ctr"/>
          <a:lstStyle/>
          <a:p>
            <a:pPr marL="0" indent="0">
              <a:buNone/>
            </a:pPr>
            <a:r>
              <a:rPr lang="en-US" sz="2800" b="1" dirty="0">
                <a:solidFill>
                  <a:srgbClr val="1A1A2E"/>
                </a:solidFill>
                <a:latin typeface="Bookman Old Style" pitchFamily="34" charset="0"/>
                <a:ea typeface="Bookman Old Style" pitchFamily="34" charset="-122"/>
                <a:cs typeface="Bookman Old Style" pitchFamily="34" charset="-120"/>
              </a:rPr>
              <a:t>A propos &amp; Contact</a:t>
            </a:r>
            <a:endParaRPr lang="en-US" sz="2800" dirty="0"/>
          </a:p>
        </p:txBody>
      </p:sp>
      <p:sp>
        <p:nvSpPr>
          <p:cNvPr id="4" name="Text 2"/>
          <p:cNvSpPr/>
          <p:nvPr/>
        </p:nvSpPr>
        <p:spPr>
          <a:xfrm>
            <a:off x="457200" y="1417320"/>
            <a:ext cx="3200400" cy="320040"/>
          </a:xfrm>
          <a:prstGeom prst="rect">
            <a:avLst/>
          </a:prstGeom>
          <a:noFill/>
          <a:ln/>
        </p:spPr>
        <p:txBody>
          <a:bodyPr wrap="square" lIns="0" tIns="0" rIns="0" bIns="0" rtlCol="0" anchor="ctr"/>
          <a:lstStyle/>
          <a:p>
            <a:pPr marL="0" indent="0">
              <a:buNone/>
            </a:pPr>
            <a:r>
              <a:rPr lang="en-US" sz="950" b="1" dirty="0">
                <a:solidFill>
                  <a:srgbClr val="F5A623"/>
                </a:solidFill>
                <a:latin typeface="Courier New" pitchFamily="34" charset="0"/>
                <a:ea typeface="Courier New" pitchFamily="34" charset="-122"/>
                <a:cs typeface="Courier New" pitchFamily="34" charset="-120"/>
              </a:rPr>
              <a:t>about.html</a:t>
            </a:r>
            <a:endParaRPr lang="en-US" sz="950" dirty="0"/>
          </a:p>
        </p:txBody>
      </p:sp>
      <p:pic>
        <p:nvPicPr>
          <p:cNvPr id="5" name="Image 0" descr="assets/screen_about_full.jpg"/>
          <p:cNvPicPr>
            <a:picLocks noChangeAspect="1"/>
          </p:cNvPicPr>
          <p:nvPr/>
        </p:nvPicPr>
        <p:blipFill>
          <a:blip r:embed="rId3"/>
          <a:stretch>
            <a:fillRect/>
          </a:stretch>
        </p:blipFill>
        <p:spPr>
          <a:xfrm>
            <a:off x="457200" y="1828800"/>
            <a:ext cx="5394960" cy="4754880"/>
          </a:xfrm>
          <a:prstGeom prst="rect">
            <a:avLst/>
          </a:prstGeom>
        </p:spPr>
      </p:pic>
      <p:sp>
        <p:nvSpPr>
          <p:cNvPr id="6" name="Text 3"/>
          <p:cNvSpPr/>
          <p:nvPr/>
        </p:nvSpPr>
        <p:spPr>
          <a:xfrm>
            <a:off x="6492240" y="1417320"/>
            <a:ext cx="3200400" cy="320040"/>
          </a:xfrm>
          <a:prstGeom prst="rect">
            <a:avLst/>
          </a:prstGeom>
          <a:noFill/>
          <a:ln/>
        </p:spPr>
        <p:txBody>
          <a:bodyPr wrap="square" lIns="0" tIns="0" rIns="0" bIns="0" rtlCol="0" anchor="ctr"/>
          <a:lstStyle/>
          <a:p>
            <a:pPr marL="0" indent="0">
              <a:buNone/>
            </a:pPr>
            <a:r>
              <a:rPr lang="en-US" sz="950" b="1" dirty="0">
                <a:solidFill>
                  <a:srgbClr val="F5A623"/>
                </a:solidFill>
                <a:latin typeface="Courier New" pitchFamily="34" charset="0"/>
                <a:ea typeface="Courier New" pitchFamily="34" charset="-122"/>
                <a:cs typeface="Courier New" pitchFamily="34" charset="-120"/>
              </a:rPr>
              <a:t>contact.html</a:t>
            </a:r>
            <a:endParaRPr lang="en-US" sz="950" dirty="0"/>
          </a:p>
        </p:txBody>
      </p:sp>
      <p:pic>
        <p:nvPicPr>
          <p:cNvPr id="7" name="Image 1" descr="assets/screen_contact_full.jpg"/>
          <p:cNvPicPr>
            <a:picLocks noChangeAspect="1"/>
          </p:cNvPicPr>
          <p:nvPr/>
        </p:nvPicPr>
        <p:blipFill>
          <a:blip r:embed="rId4"/>
          <a:stretch>
            <a:fillRect/>
          </a:stretch>
        </p:blipFill>
        <p:spPr>
          <a:xfrm>
            <a:off x="6492240" y="1828800"/>
            <a:ext cx="5349240" cy="4754880"/>
          </a:xfrm>
          <a:prstGeom prst="rect">
            <a:avLst/>
          </a:prstGeom>
        </p:spPr>
      </p:pic>
      <p:sp>
        <p:nvSpPr>
          <p:cNvPr id="8" name="Text 4"/>
          <p:cNvSpPr/>
          <p:nvPr/>
        </p:nvSpPr>
        <p:spPr>
          <a:xfrm>
            <a:off x="502920" y="6355080"/>
            <a:ext cx="5303520" cy="502920"/>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 Notre histoire + photo</a:t>
            </a:r>
            <a:endParaRPr lang="en-US" sz="1000" dirty="0"/>
          </a:p>
          <a:p>
            <a:pPr marL="0" indent="0">
              <a:buNone/>
            </a:pPr>
            <a:r>
              <a:rPr lang="en-US" sz="1000" dirty="0">
                <a:solidFill>
                  <a:srgbClr val="6B7280"/>
                </a:solidFill>
                <a:latin typeface="Calibri" pitchFamily="34" charset="0"/>
                <a:ea typeface="Calibri" pitchFamily="34" charset="-122"/>
                <a:cs typeface="Calibri" pitchFamily="34" charset="-120"/>
              </a:rPr>
              <a:t>✓ Equipe 4 membres (CEO/CTO/COO/CMO)</a:t>
            </a:r>
            <a:endParaRPr lang="en-US" sz="1000" dirty="0"/>
          </a:p>
          <a:p>
            <a:pPr marL="0" indent="0">
              <a:buNone/>
            </a:pPr>
            <a:endParaRPr lang="en-US" sz="1000" dirty="0"/>
          </a:p>
          <a:p>
            <a:pPr marL="0" indent="0">
              <a:buNone/>
            </a:pPr>
            <a:r>
              <a:rPr lang="en-US" sz="1000" dirty="0">
                <a:solidFill>
                  <a:srgbClr val="6B7280"/>
                </a:solidFill>
                <a:latin typeface="Calibri" pitchFamily="34" charset="0"/>
                <a:ea typeface="Calibri" pitchFamily="34" charset="-122"/>
                <a:cs typeface="Calibri" pitchFamily="34" charset="-120"/>
              </a:rPr>
              <a:t>✓ 4 valeurs + chiffres cles animes</a:t>
            </a:r>
            <a:endParaRPr lang="en-US" sz="1000" dirty="0"/>
          </a:p>
        </p:txBody>
      </p:sp>
      <p:sp>
        <p:nvSpPr>
          <p:cNvPr id="9" name="Text 5"/>
          <p:cNvSpPr/>
          <p:nvPr/>
        </p:nvSpPr>
        <p:spPr>
          <a:xfrm>
            <a:off x="6537960" y="6355080"/>
            <a:ext cx="5303520" cy="502920"/>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 Formulaire 5 champs valide en JS</a:t>
            </a:r>
            <a:endParaRPr lang="en-US" sz="1000" dirty="0"/>
          </a:p>
          <a:p>
            <a:pPr marL="0" indent="0">
              <a:buNone/>
            </a:pPr>
            <a:r>
              <a:rPr lang="en-US" sz="1000" dirty="0">
                <a:solidFill>
                  <a:srgbClr val="6B7280"/>
                </a:solidFill>
                <a:latin typeface="Calibri" pitchFamily="34" charset="0"/>
                <a:ea typeface="Calibri" pitchFamily="34" charset="-122"/>
                <a:cs typeface="Calibri" pitchFamily="34" charset="-120"/>
              </a:rPr>
              <a:t>✓ Validation regex nom + email</a:t>
            </a:r>
            <a:endParaRPr lang="en-US" sz="1000" dirty="0"/>
          </a:p>
          <a:p>
            <a:pPr marL="0" indent="0">
              <a:buNone/>
            </a:pPr>
            <a:endParaRPr lang="en-US" sz="1000" dirty="0"/>
          </a:p>
          <a:p>
            <a:pPr marL="0" indent="0">
              <a:buNone/>
            </a:pPr>
            <a:r>
              <a:rPr lang="en-US" sz="1000" dirty="0">
                <a:solidFill>
                  <a:srgbClr val="6B7280"/>
                </a:solidFill>
                <a:latin typeface="Calibri" pitchFamily="34" charset="0"/>
                <a:ea typeface="Calibri" pitchFamily="34" charset="-122"/>
                <a:cs typeface="Calibri" pitchFamily="34" charset="-120"/>
              </a:rPr>
              <a:t>✓ Google Maps iframe integre</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47472"/>
            <a:ext cx="8229600" cy="292608"/>
          </a:xfrm>
          <a:prstGeom prst="rect">
            <a:avLst/>
          </a:prstGeom>
          <a:noFill/>
          <a:ln/>
        </p:spPr>
        <p:txBody>
          <a:bodyPr wrap="square" lIns="0" tIns="0" rIns="0" bIns="0" rtlCol="0" anchor="ctr"/>
          <a:lstStyle/>
          <a:p>
            <a:pPr marL="0" indent="0">
              <a:buNone/>
            </a:pPr>
            <a:r>
              <a:rPr lang="en-US" sz="1100" b="1" kern="0" spc="250" dirty="0">
                <a:solidFill>
                  <a:srgbClr val="F5A623"/>
                </a:solidFill>
                <a:latin typeface="Calibri" pitchFamily="34" charset="0"/>
                <a:ea typeface="Calibri" pitchFamily="34" charset="-122"/>
                <a:cs typeface="Calibri" pitchFamily="34" charset="-120"/>
              </a:rPr>
              <a:t>FONCTIONNALITES JAVASCRIPT — 1/2</a:t>
            </a:r>
            <a:endParaRPr lang="en-US" sz="1100" dirty="0"/>
          </a:p>
        </p:txBody>
      </p:sp>
      <p:sp>
        <p:nvSpPr>
          <p:cNvPr id="3" name="Text 1"/>
          <p:cNvSpPr/>
          <p:nvPr/>
        </p:nvSpPr>
        <p:spPr>
          <a:xfrm>
            <a:off x="640080" y="658368"/>
            <a:ext cx="9144000" cy="566928"/>
          </a:xfrm>
          <a:prstGeom prst="rect">
            <a:avLst/>
          </a:prstGeom>
          <a:noFill/>
          <a:ln/>
        </p:spPr>
        <p:txBody>
          <a:bodyPr wrap="square" lIns="0" tIns="0" rIns="0" bIns="0" rtlCol="0" anchor="ctr"/>
          <a:lstStyle/>
          <a:p>
            <a:pPr marL="0" indent="0">
              <a:buNone/>
            </a:pPr>
            <a:r>
              <a:rPr lang="en-US" sz="2800" b="1" dirty="0">
                <a:solidFill>
                  <a:srgbClr val="1A1A2E"/>
                </a:solidFill>
                <a:latin typeface="Bookman Old Style" pitchFamily="34" charset="0"/>
                <a:ea typeface="Bookman Old Style" pitchFamily="34" charset="-122"/>
                <a:cs typeface="Bookman Old Style" pitchFamily="34" charset="-120"/>
              </a:rPr>
              <a:t>Interactivite (1/2)</a:t>
            </a:r>
            <a:endParaRPr lang="en-US" sz="2800" dirty="0"/>
          </a:p>
        </p:txBody>
      </p:sp>
      <p:sp>
        <p:nvSpPr>
          <p:cNvPr id="4" name="Text 2"/>
          <p:cNvSpPr/>
          <p:nvPr/>
        </p:nvSpPr>
        <p:spPr>
          <a:xfrm>
            <a:off x="640080" y="1261872"/>
            <a:ext cx="10058400" cy="347472"/>
          </a:xfrm>
          <a:prstGeom prst="rect">
            <a:avLst/>
          </a:prstGeom>
          <a:noFill/>
          <a:ln/>
        </p:spPr>
        <p:txBody>
          <a:bodyPr wrap="square" lIns="0" tIns="0" rIns="0" bIns="0" rtlCol="0" anchor="ctr"/>
          <a:lstStyle/>
          <a:p>
            <a:pPr marL="0" indent="0">
              <a:buNone/>
            </a:pPr>
            <a:r>
              <a:rPr lang="en-US" sz="1250" i="1" dirty="0">
                <a:solidFill>
                  <a:srgbClr val="6B7280"/>
                </a:solidFill>
                <a:latin typeface="Calibri" pitchFamily="34" charset="0"/>
                <a:ea typeface="Calibri" pitchFamily="34" charset="-122"/>
                <a:cs typeface="Calibri" pitchFamily="34" charset="-120"/>
              </a:rPr>
              <a:t>JavaScript vanilla uniquement — aucun framework, aucune librairie externe.</a:t>
            </a:r>
            <a:endParaRPr lang="en-US" sz="1250" dirty="0"/>
          </a:p>
        </p:txBody>
      </p:sp>
      <p:sp>
        <p:nvSpPr>
          <p:cNvPr id="5" name="Shape 3"/>
          <p:cNvSpPr/>
          <p:nvPr/>
        </p:nvSpPr>
        <p:spPr>
          <a:xfrm>
            <a:off x="640080" y="1737360"/>
            <a:ext cx="10881360" cy="1078992"/>
          </a:xfrm>
          <a:prstGeom prst="roundRect">
            <a:avLst>
              <a:gd name="adj" fmla="val 5932"/>
            </a:avLst>
          </a:prstGeom>
          <a:solidFill>
            <a:srgbClr val="F9F9F9"/>
          </a:solidFill>
          <a:ln w="12700">
            <a:solidFill>
              <a:srgbClr val="E5E7EB"/>
            </a:solidFill>
            <a:prstDash val="solid"/>
          </a:ln>
        </p:spPr>
      </p:sp>
      <p:sp>
        <p:nvSpPr>
          <p:cNvPr id="6" name="Shape 4"/>
          <p:cNvSpPr/>
          <p:nvPr/>
        </p:nvSpPr>
        <p:spPr>
          <a:xfrm>
            <a:off x="804672" y="1901952"/>
            <a:ext cx="411480" cy="411480"/>
          </a:xfrm>
          <a:prstGeom prst="ellipse">
            <a:avLst/>
          </a:prstGeom>
          <a:solidFill>
            <a:srgbClr val="1A1A2E"/>
          </a:solidFill>
          <a:ln/>
        </p:spPr>
      </p:sp>
      <p:sp>
        <p:nvSpPr>
          <p:cNvPr id="7" name="Text 5"/>
          <p:cNvSpPr/>
          <p:nvPr/>
        </p:nvSpPr>
        <p:spPr>
          <a:xfrm>
            <a:off x="804672" y="1901952"/>
            <a:ext cx="411480" cy="411480"/>
          </a:xfrm>
          <a:prstGeom prst="rect">
            <a:avLst/>
          </a:prstGeom>
          <a:noFill/>
          <a:ln/>
        </p:spPr>
        <p:txBody>
          <a:bodyPr wrap="square" lIns="0" tIns="0" rIns="0" bIns="0" rtlCol="0" anchor="ctr"/>
          <a:lstStyle/>
          <a:p>
            <a:pPr marL="0" indent="0" algn="ctr">
              <a:buNone/>
            </a:pPr>
            <a:r>
              <a:rPr lang="en-US" sz="1400" b="1" dirty="0">
                <a:solidFill>
                  <a:srgbClr val="F5A623"/>
                </a:solidFill>
                <a:latin typeface="Bookman Old Style" pitchFamily="34" charset="0"/>
                <a:ea typeface="Bookman Old Style" pitchFamily="34" charset="-122"/>
                <a:cs typeface="Bookman Old Style" pitchFamily="34" charset="-120"/>
              </a:rPr>
              <a:t>1</a:t>
            </a:r>
            <a:endParaRPr lang="en-US" sz="1400" dirty="0"/>
          </a:p>
        </p:txBody>
      </p:sp>
      <p:sp>
        <p:nvSpPr>
          <p:cNvPr id="8" name="Text 6"/>
          <p:cNvSpPr/>
          <p:nvPr/>
        </p:nvSpPr>
        <p:spPr>
          <a:xfrm>
            <a:off x="1389888" y="1828800"/>
            <a:ext cx="9966960" cy="292608"/>
          </a:xfrm>
          <a:prstGeom prst="rect">
            <a:avLst/>
          </a:prstGeom>
          <a:noFill/>
          <a:ln/>
        </p:spPr>
        <p:txBody>
          <a:bodyPr wrap="square" lIns="0" tIns="0" rIns="0" bIns="0" rtlCol="0" anchor="ctr"/>
          <a:lstStyle/>
          <a:p>
            <a:pPr marL="0" indent="0">
              <a:buNone/>
            </a:pPr>
            <a:r>
              <a:rPr lang="en-US" sz="1300" b="1" dirty="0">
                <a:solidFill>
                  <a:srgbClr val="1A1A2E"/>
                </a:solidFill>
                <a:latin typeface="Calibri" pitchFamily="34" charset="0"/>
                <a:ea typeface="Calibri" pitchFamily="34" charset="-122"/>
                <a:cs typeface="Calibri" pitchFamily="34" charset="-120"/>
              </a:rPr>
              <a:t>Dark Mode persistant</a:t>
            </a:r>
            <a:endParaRPr lang="en-US" sz="1300" dirty="0"/>
          </a:p>
        </p:txBody>
      </p:sp>
      <p:sp>
        <p:nvSpPr>
          <p:cNvPr id="9" name="Text 7"/>
          <p:cNvSpPr/>
          <p:nvPr/>
        </p:nvSpPr>
        <p:spPr>
          <a:xfrm>
            <a:off x="1389888" y="2157984"/>
            <a:ext cx="9966960" cy="566928"/>
          </a:xfrm>
          <a:prstGeom prst="rect">
            <a:avLst/>
          </a:prstGeom>
          <a:noFill/>
          <a:ln/>
        </p:spPr>
        <p:txBody>
          <a:bodyPr wrap="square" lIns="0" tIns="0" rIns="0" bIns="0" rtlCol="0" anchor="ctr"/>
          <a:lstStyle/>
          <a:p>
            <a:pPr marL="0" indent="0">
              <a:lnSpc>
                <a:spcPct val="120000"/>
              </a:lnSpc>
              <a:buNone/>
            </a:pPr>
            <a:r>
              <a:rPr lang="en-US" sz="1050" dirty="0">
                <a:solidFill>
                  <a:srgbClr val="6B7280"/>
                </a:solidFill>
                <a:latin typeface="Calibri" pitchFamily="34" charset="0"/>
                <a:ea typeface="Calibri" pitchFamily="34" charset="-122"/>
                <a:cs typeface="Calibri" pitchFamily="34" charset="-120"/>
              </a:rPr>
              <a:t>Toggle lune/soleil dans la navbar. Choix sauvegarde en localStorage. Persiste entre toutes les pages. Les couleurs CSS (variables --bg, --text...) se redefinissent automatiquement sur body.dark-mode.</a:t>
            </a:r>
            <a:endParaRPr lang="en-US" sz="1050" dirty="0"/>
          </a:p>
        </p:txBody>
      </p:sp>
      <p:sp>
        <p:nvSpPr>
          <p:cNvPr id="10" name="Shape 8"/>
          <p:cNvSpPr/>
          <p:nvPr/>
        </p:nvSpPr>
        <p:spPr>
          <a:xfrm>
            <a:off x="640080" y="2926080"/>
            <a:ext cx="10881360" cy="1078992"/>
          </a:xfrm>
          <a:prstGeom prst="roundRect">
            <a:avLst>
              <a:gd name="adj" fmla="val 5932"/>
            </a:avLst>
          </a:prstGeom>
          <a:solidFill>
            <a:srgbClr val="FFFFFF"/>
          </a:solidFill>
          <a:ln w="12700">
            <a:solidFill>
              <a:srgbClr val="E5E7EB"/>
            </a:solidFill>
            <a:prstDash val="solid"/>
          </a:ln>
        </p:spPr>
      </p:sp>
      <p:sp>
        <p:nvSpPr>
          <p:cNvPr id="11" name="Shape 9"/>
          <p:cNvSpPr/>
          <p:nvPr/>
        </p:nvSpPr>
        <p:spPr>
          <a:xfrm>
            <a:off x="804672" y="3090672"/>
            <a:ext cx="411480" cy="411480"/>
          </a:xfrm>
          <a:prstGeom prst="ellipse">
            <a:avLst/>
          </a:prstGeom>
          <a:solidFill>
            <a:srgbClr val="1A1A2E"/>
          </a:solidFill>
          <a:ln/>
        </p:spPr>
      </p:sp>
      <p:sp>
        <p:nvSpPr>
          <p:cNvPr id="12" name="Text 10"/>
          <p:cNvSpPr/>
          <p:nvPr/>
        </p:nvSpPr>
        <p:spPr>
          <a:xfrm>
            <a:off x="804672" y="3090672"/>
            <a:ext cx="411480" cy="411480"/>
          </a:xfrm>
          <a:prstGeom prst="rect">
            <a:avLst/>
          </a:prstGeom>
          <a:noFill/>
          <a:ln/>
        </p:spPr>
        <p:txBody>
          <a:bodyPr wrap="square" lIns="0" tIns="0" rIns="0" bIns="0" rtlCol="0" anchor="ctr"/>
          <a:lstStyle/>
          <a:p>
            <a:pPr marL="0" indent="0" algn="ctr">
              <a:buNone/>
            </a:pPr>
            <a:r>
              <a:rPr lang="en-US" sz="1400" b="1" dirty="0">
                <a:solidFill>
                  <a:srgbClr val="F5A623"/>
                </a:solidFill>
                <a:latin typeface="Bookman Old Style" pitchFamily="34" charset="0"/>
                <a:ea typeface="Bookman Old Style" pitchFamily="34" charset="-122"/>
                <a:cs typeface="Bookman Old Style" pitchFamily="34" charset="-120"/>
              </a:rPr>
              <a:t>2</a:t>
            </a:r>
            <a:endParaRPr lang="en-US" sz="1400" dirty="0"/>
          </a:p>
        </p:txBody>
      </p:sp>
      <p:sp>
        <p:nvSpPr>
          <p:cNvPr id="13" name="Text 11"/>
          <p:cNvSpPr/>
          <p:nvPr/>
        </p:nvSpPr>
        <p:spPr>
          <a:xfrm>
            <a:off x="1389888" y="3017520"/>
            <a:ext cx="9966960" cy="292608"/>
          </a:xfrm>
          <a:prstGeom prst="rect">
            <a:avLst/>
          </a:prstGeom>
          <a:noFill/>
          <a:ln/>
        </p:spPr>
        <p:txBody>
          <a:bodyPr wrap="square" lIns="0" tIns="0" rIns="0" bIns="0" rtlCol="0" anchor="ctr"/>
          <a:lstStyle/>
          <a:p>
            <a:pPr marL="0" indent="0">
              <a:buNone/>
            </a:pPr>
            <a:r>
              <a:rPr lang="en-US" sz="1300" b="1" dirty="0">
                <a:solidFill>
                  <a:srgbClr val="1A1A2E"/>
                </a:solidFill>
                <a:latin typeface="Calibri" pitchFamily="34" charset="0"/>
                <a:ea typeface="Calibri" pitchFamily="34" charset="-122"/>
                <a:cs typeface="Calibri" pitchFamily="34" charset="-120"/>
              </a:rPr>
              <a:t>Navbar dynamique</a:t>
            </a:r>
            <a:endParaRPr lang="en-US" sz="1300" dirty="0"/>
          </a:p>
        </p:txBody>
      </p:sp>
      <p:sp>
        <p:nvSpPr>
          <p:cNvPr id="14" name="Text 12"/>
          <p:cNvSpPr/>
          <p:nvPr/>
        </p:nvSpPr>
        <p:spPr>
          <a:xfrm>
            <a:off x="1389888" y="3346704"/>
            <a:ext cx="9966960" cy="566928"/>
          </a:xfrm>
          <a:prstGeom prst="rect">
            <a:avLst/>
          </a:prstGeom>
          <a:noFill/>
          <a:ln/>
        </p:spPr>
        <p:txBody>
          <a:bodyPr wrap="square" lIns="0" tIns="0" rIns="0" bIns="0" rtlCol="0" anchor="ctr"/>
          <a:lstStyle/>
          <a:p>
            <a:pPr marL="0" indent="0">
              <a:lnSpc>
                <a:spcPct val="120000"/>
              </a:lnSpc>
              <a:buNone/>
            </a:pPr>
            <a:r>
              <a:rPr lang="en-US" sz="1050" dirty="0">
                <a:solidFill>
                  <a:srgbClr val="6B7280"/>
                </a:solidFill>
                <a:latin typeface="Calibri" pitchFamily="34" charset="0"/>
                <a:ea typeface="Calibri" pitchFamily="34" charset="-122"/>
                <a:cs typeface="Calibri" pitchFamily="34" charset="-120"/>
              </a:rPr>
              <a:t>window.scrollY &gt; 50 declenche l'ajout de la classe .navbar-scrolled qui ajoute un fond opaque et une ombre. Effet shrink visuel au defilement.</a:t>
            </a:r>
            <a:endParaRPr lang="en-US" sz="1050" dirty="0"/>
          </a:p>
        </p:txBody>
      </p:sp>
      <p:sp>
        <p:nvSpPr>
          <p:cNvPr id="15" name="Shape 13"/>
          <p:cNvSpPr/>
          <p:nvPr/>
        </p:nvSpPr>
        <p:spPr>
          <a:xfrm>
            <a:off x="640080" y="4114800"/>
            <a:ext cx="10881360" cy="1078992"/>
          </a:xfrm>
          <a:prstGeom prst="roundRect">
            <a:avLst>
              <a:gd name="adj" fmla="val 5932"/>
            </a:avLst>
          </a:prstGeom>
          <a:solidFill>
            <a:srgbClr val="F9F9F9"/>
          </a:solidFill>
          <a:ln w="12700">
            <a:solidFill>
              <a:srgbClr val="E5E7EB"/>
            </a:solidFill>
            <a:prstDash val="solid"/>
          </a:ln>
        </p:spPr>
      </p:sp>
      <p:sp>
        <p:nvSpPr>
          <p:cNvPr id="16" name="Shape 14"/>
          <p:cNvSpPr/>
          <p:nvPr/>
        </p:nvSpPr>
        <p:spPr>
          <a:xfrm>
            <a:off x="804672" y="4279392"/>
            <a:ext cx="411480" cy="411480"/>
          </a:xfrm>
          <a:prstGeom prst="ellipse">
            <a:avLst/>
          </a:prstGeom>
          <a:solidFill>
            <a:srgbClr val="1A1A2E"/>
          </a:solidFill>
          <a:ln/>
        </p:spPr>
      </p:sp>
      <p:sp>
        <p:nvSpPr>
          <p:cNvPr id="17" name="Text 15"/>
          <p:cNvSpPr/>
          <p:nvPr/>
        </p:nvSpPr>
        <p:spPr>
          <a:xfrm>
            <a:off x="804672" y="4279392"/>
            <a:ext cx="411480" cy="411480"/>
          </a:xfrm>
          <a:prstGeom prst="rect">
            <a:avLst/>
          </a:prstGeom>
          <a:noFill/>
          <a:ln/>
        </p:spPr>
        <p:txBody>
          <a:bodyPr wrap="square" lIns="0" tIns="0" rIns="0" bIns="0" rtlCol="0" anchor="ctr"/>
          <a:lstStyle/>
          <a:p>
            <a:pPr marL="0" indent="0" algn="ctr">
              <a:buNone/>
            </a:pPr>
            <a:r>
              <a:rPr lang="en-US" sz="1400" b="1" dirty="0">
                <a:solidFill>
                  <a:srgbClr val="F5A623"/>
                </a:solidFill>
                <a:latin typeface="Bookman Old Style" pitchFamily="34" charset="0"/>
                <a:ea typeface="Bookman Old Style" pitchFamily="34" charset="-122"/>
                <a:cs typeface="Bookman Old Style" pitchFamily="34" charset="-120"/>
              </a:rPr>
              <a:t>3</a:t>
            </a:r>
            <a:endParaRPr lang="en-US" sz="1400" dirty="0"/>
          </a:p>
        </p:txBody>
      </p:sp>
      <p:sp>
        <p:nvSpPr>
          <p:cNvPr id="18" name="Text 16"/>
          <p:cNvSpPr/>
          <p:nvPr/>
        </p:nvSpPr>
        <p:spPr>
          <a:xfrm>
            <a:off x="1389888" y="4206240"/>
            <a:ext cx="9966960" cy="292608"/>
          </a:xfrm>
          <a:prstGeom prst="rect">
            <a:avLst/>
          </a:prstGeom>
          <a:noFill/>
          <a:ln/>
        </p:spPr>
        <p:txBody>
          <a:bodyPr wrap="square" lIns="0" tIns="0" rIns="0" bIns="0" rtlCol="0" anchor="ctr"/>
          <a:lstStyle/>
          <a:p>
            <a:pPr marL="0" indent="0">
              <a:buNone/>
            </a:pPr>
            <a:r>
              <a:rPr lang="en-US" sz="1300" b="1" dirty="0">
                <a:solidFill>
                  <a:srgbClr val="1A1A2E"/>
                </a:solidFill>
                <a:latin typeface="Calibri" pitchFamily="34" charset="0"/>
                <a:ea typeface="Calibri" pitchFamily="34" charset="-122"/>
                <a:cs typeface="Calibri" pitchFamily="34" charset="-120"/>
              </a:rPr>
              <a:t>Compteurs animes</a:t>
            </a:r>
            <a:endParaRPr lang="en-US" sz="1300" dirty="0"/>
          </a:p>
        </p:txBody>
      </p:sp>
      <p:sp>
        <p:nvSpPr>
          <p:cNvPr id="19" name="Text 17"/>
          <p:cNvSpPr/>
          <p:nvPr/>
        </p:nvSpPr>
        <p:spPr>
          <a:xfrm>
            <a:off x="1389888" y="4535424"/>
            <a:ext cx="9966960" cy="566928"/>
          </a:xfrm>
          <a:prstGeom prst="rect">
            <a:avLst/>
          </a:prstGeom>
          <a:noFill/>
          <a:ln/>
        </p:spPr>
        <p:txBody>
          <a:bodyPr wrap="square" lIns="0" tIns="0" rIns="0" bIns="0" rtlCol="0" anchor="ctr"/>
          <a:lstStyle/>
          <a:p>
            <a:pPr marL="0" indent="0">
              <a:lnSpc>
                <a:spcPct val="120000"/>
              </a:lnSpc>
              <a:buNone/>
            </a:pPr>
            <a:r>
              <a:rPr lang="en-US" sz="1050" dirty="0">
                <a:solidFill>
                  <a:srgbClr val="6B7280"/>
                </a:solidFill>
                <a:latin typeface="Calibri" pitchFamily="34" charset="0"/>
                <a:ea typeface="Calibri" pitchFamily="34" charset="-122"/>
                <a:cs typeface="Calibri" pitchFamily="34" charset="-120"/>
              </a:rPr>
              <a:t>IntersectionObserver avec threshold: 0.2. Quand la section entre dans le viewport, setInterval incremente de 0 vers la valeur data-target toutes les 20ms.</a:t>
            </a:r>
            <a:endParaRPr lang="en-US" sz="1050" dirty="0"/>
          </a:p>
        </p:txBody>
      </p:sp>
      <p:sp>
        <p:nvSpPr>
          <p:cNvPr id="20" name="Shape 18"/>
          <p:cNvSpPr/>
          <p:nvPr/>
        </p:nvSpPr>
        <p:spPr>
          <a:xfrm>
            <a:off x="640080" y="5303520"/>
            <a:ext cx="10881360" cy="1078992"/>
          </a:xfrm>
          <a:prstGeom prst="roundRect">
            <a:avLst>
              <a:gd name="adj" fmla="val 5932"/>
            </a:avLst>
          </a:prstGeom>
          <a:solidFill>
            <a:srgbClr val="FFFFFF"/>
          </a:solidFill>
          <a:ln w="12700">
            <a:solidFill>
              <a:srgbClr val="E5E7EB"/>
            </a:solidFill>
            <a:prstDash val="solid"/>
          </a:ln>
        </p:spPr>
      </p:sp>
      <p:sp>
        <p:nvSpPr>
          <p:cNvPr id="21" name="Shape 19"/>
          <p:cNvSpPr/>
          <p:nvPr/>
        </p:nvSpPr>
        <p:spPr>
          <a:xfrm>
            <a:off x="804672" y="5468112"/>
            <a:ext cx="411480" cy="411480"/>
          </a:xfrm>
          <a:prstGeom prst="ellipse">
            <a:avLst/>
          </a:prstGeom>
          <a:solidFill>
            <a:srgbClr val="1A1A2E"/>
          </a:solidFill>
          <a:ln/>
        </p:spPr>
      </p:sp>
      <p:sp>
        <p:nvSpPr>
          <p:cNvPr id="22" name="Text 20"/>
          <p:cNvSpPr/>
          <p:nvPr/>
        </p:nvSpPr>
        <p:spPr>
          <a:xfrm>
            <a:off x="804672" y="5468112"/>
            <a:ext cx="411480" cy="411480"/>
          </a:xfrm>
          <a:prstGeom prst="rect">
            <a:avLst/>
          </a:prstGeom>
          <a:noFill/>
          <a:ln/>
        </p:spPr>
        <p:txBody>
          <a:bodyPr wrap="square" lIns="0" tIns="0" rIns="0" bIns="0" rtlCol="0" anchor="ctr"/>
          <a:lstStyle/>
          <a:p>
            <a:pPr marL="0" indent="0" algn="ctr">
              <a:buNone/>
            </a:pPr>
            <a:r>
              <a:rPr lang="en-US" sz="1400" b="1" dirty="0">
                <a:solidFill>
                  <a:srgbClr val="F5A623"/>
                </a:solidFill>
                <a:latin typeface="Bookman Old Style" pitchFamily="34" charset="0"/>
                <a:ea typeface="Bookman Old Style" pitchFamily="34" charset="-122"/>
                <a:cs typeface="Bookman Old Style" pitchFamily="34" charset="-120"/>
              </a:rPr>
              <a:t>4</a:t>
            </a:r>
            <a:endParaRPr lang="en-US" sz="1400" dirty="0"/>
          </a:p>
        </p:txBody>
      </p:sp>
      <p:sp>
        <p:nvSpPr>
          <p:cNvPr id="23" name="Text 21"/>
          <p:cNvSpPr/>
          <p:nvPr/>
        </p:nvSpPr>
        <p:spPr>
          <a:xfrm>
            <a:off x="1389888" y="5394960"/>
            <a:ext cx="9966960" cy="292608"/>
          </a:xfrm>
          <a:prstGeom prst="rect">
            <a:avLst/>
          </a:prstGeom>
          <a:noFill/>
          <a:ln/>
        </p:spPr>
        <p:txBody>
          <a:bodyPr wrap="square" lIns="0" tIns="0" rIns="0" bIns="0" rtlCol="0" anchor="ctr"/>
          <a:lstStyle/>
          <a:p>
            <a:pPr marL="0" indent="0">
              <a:buNone/>
            </a:pPr>
            <a:r>
              <a:rPr lang="en-US" sz="1300" b="1" dirty="0">
                <a:solidFill>
                  <a:srgbClr val="1A1A2E"/>
                </a:solidFill>
                <a:latin typeface="Calibri" pitchFamily="34" charset="0"/>
                <a:ea typeface="Calibri" pitchFamily="34" charset="-122"/>
                <a:cs typeface="Calibri" pitchFamily="34" charset="-120"/>
              </a:rPr>
              <a:t>Fade-in au scroll</a:t>
            </a:r>
            <a:endParaRPr lang="en-US" sz="1300" dirty="0"/>
          </a:p>
        </p:txBody>
      </p:sp>
      <p:sp>
        <p:nvSpPr>
          <p:cNvPr id="24" name="Text 22"/>
          <p:cNvSpPr/>
          <p:nvPr/>
        </p:nvSpPr>
        <p:spPr>
          <a:xfrm>
            <a:off x="1389888" y="5724144"/>
            <a:ext cx="9966960" cy="566928"/>
          </a:xfrm>
          <a:prstGeom prst="rect">
            <a:avLst/>
          </a:prstGeom>
          <a:noFill/>
          <a:ln/>
        </p:spPr>
        <p:txBody>
          <a:bodyPr wrap="square" lIns="0" tIns="0" rIns="0" bIns="0" rtlCol="0" anchor="ctr"/>
          <a:lstStyle/>
          <a:p>
            <a:pPr marL="0" indent="0">
              <a:lnSpc>
                <a:spcPct val="120000"/>
              </a:lnSpc>
              <a:buNone/>
            </a:pPr>
            <a:r>
              <a:rPr lang="en-US" sz="1050" dirty="0">
                <a:solidFill>
                  <a:srgbClr val="6B7280"/>
                </a:solidFill>
                <a:latin typeface="Calibri" pitchFamily="34" charset="0"/>
                <a:ea typeface="Calibri" pitchFamily="34" charset="-122"/>
                <a:cs typeface="Calibri" pitchFamily="34" charset="-120"/>
              </a:rPr>
              <a:t>IntersectionObserver observe chaque section, article et carte. A l'entree dans le viewport, la classe .fade-in-visible est ajoutee (opacity: 0 -&gt; 1, translateY: 30px -&gt; 0).</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47472"/>
            <a:ext cx="8229600" cy="292608"/>
          </a:xfrm>
          <a:prstGeom prst="rect">
            <a:avLst/>
          </a:prstGeom>
          <a:noFill/>
          <a:ln/>
        </p:spPr>
        <p:txBody>
          <a:bodyPr wrap="square" lIns="0" tIns="0" rIns="0" bIns="0" rtlCol="0" anchor="ctr"/>
          <a:lstStyle/>
          <a:p>
            <a:pPr marL="0" indent="0">
              <a:buNone/>
            </a:pPr>
            <a:r>
              <a:rPr lang="en-US" sz="1100" b="1" kern="0" spc="250" dirty="0">
                <a:solidFill>
                  <a:srgbClr val="F5A623"/>
                </a:solidFill>
                <a:latin typeface="Calibri" pitchFamily="34" charset="0"/>
                <a:ea typeface="Calibri" pitchFamily="34" charset="-122"/>
                <a:cs typeface="Calibri" pitchFamily="34" charset="-120"/>
              </a:rPr>
              <a:t>FONCTIONNALITES JAVASCRIPT — 2/2</a:t>
            </a:r>
            <a:endParaRPr lang="en-US" sz="1100" dirty="0"/>
          </a:p>
        </p:txBody>
      </p:sp>
      <p:sp>
        <p:nvSpPr>
          <p:cNvPr id="3" name="Text 1"/>
          <p:cNvSpPr/>
          <p:nvPr/>
        </p:nvSpPr>
        <p:spPr>
          <a:xfrm>
            <a:off x="640080" y="658368"/>
            <a:ext cx="9144000" cy="566928"/>
          </a:xfrm>
          <a:prstGeom prst="rect">
            <a:avLst/>
          </a:prstGeom>
          <a:noFill/>
          <a:ln/>
        </p:spPr>
        <p:txBody>
          <a:bodyPr wrap="square" lIns="0" tIns="0" rIns="0" bIns="0" rtlCol="0" anchor="ctr"/>
          <a:lstStyle/>
          <a:p>
            <a:pPr marL="0" indent="0">
              <a:buNone/>
            </a:pPr>
            <a:r>
              <a:rPr lang="en-US" sz="2800" b="1" dirty="0">
                <a:solidFill>
                  <a:srgbClr val="1A1A2E"/>
                </a:solidFill>
                <a:latin typeface="Bookman Old Style" pitchFamily="34" charset="0"/>
                <a:ea typeface="Bookman Old Style" pitchFamily="34" charset="-122"/>
                <a:cs typeface="Bookman Old Style" pitchFamily="34" charset="-120"/>
              </a:rPr>
              <a:t>Interactivite (2/2)</a:t>
            </a:r>
            <a:endParaRPr lang="en-US" sz="2800" dirty="0"/>
          </a:p>
        </p:txBody>
      </p:sp>
      <p:sp>
        <p:nvSpPr>
          <p:cNvPr id="4" name="Shape 2"/>
          <p:cNvSpPr/>
          <p:nvPr/>
        </p:nvSpPr>
        <p:spPr>
          <a:xfrm>
            <a:off x="640080" y="1444752"/>
            <a:ext cx="5257800" cy="5166360"/>
          </a:xfrm>
          <a:prstGeom prst="roundRect">
            <a:avLst>
              <a:gd name="adj" fmla="val 1416"/>
            </a:avLst>
          </a:prstGeom>
          <a:solidFill>
            <a:srgbClr val="F9F9F9"/>
          </a:solidFill>
          <a:ln/>
          <a:effectLst>
            <a:outerShdw algn="bl" rotWithShape="0">
              <a:srgbClr val="000000">
                <a:alpha val="0"/>
              </a:srgbClr>
            </a:outerShdw>
          </a:effectLst>
        </p:spPr>
      </p:sp>
      <p:pic>
        <p:nvPicPr>
          <p:cNvPr id="5" name="Image 0" descr="assets/icon-filter-orange.png"/>
          <p:cNvPicPr>
            <a:picLocks noChangeAspect="1"/>
          </p:cNvPicPr>
          <p:nvPr/>
        </p:nvPicPr>
        <p:blipFill>
          <a:blip r:embed="rId3"/>
          <a:stretch>
            <a:fillRect/>
          </a:stretch>
        </p:blipFill>
        <p:spPr>
          <a:xfrm>
            <a:off x="868680" y="1664208"/>
            <a:ext cx="365760" cy="365760"/>
          </a:xfrm>
          <a:prstGeom prst="rect">
            <a:avLst/>
          </a:prstGeom>
        </p:spPr>
      </p:pic>
      <p:sp>
        <p:nvSpPr>
          <p:cNvPr id="6" name="Text 3"/>
          <p:cNvSpPr/>
          <p:nvPr/>
        </p:nvSpPr>
        <p:spPr>
          <a:xfrm>
            <a:off x="1353312" y="1691640"/>
            <a:ext cx="4297680" cy="347472"/>
          </a:xfrm>
          <a:prstGeom prst="rect">
            <a:avLst/>
          </a:prstGeom>
          <a:noFill/>
          <a:ln/>
        </p:spPr>
        <p:txBody>
          <a:bodyPr wrap="square" lIns="0" tIns="0" rIns="0" bIns="0" rtlCol="0" anchor="ctr"/>
          <a:lstStyle/>
          <a:p>
            <a:pPr marL="0" indent="0">
              <a:buNone/>
            </a:pPr>
            <a:r>
              <a:rPr lang="en-US" sz="1500" b="1" dirty="0">
                <a:solidFill>
                  <a:srgbClr val="1A1A2E"/>
                </a:solidFill>
                <a:latin typeface="Calibri" pitchFamily="34" charset="0"/>
                <a:ea typeface="Calibri" pitchFamily="34" charset="-122"/>
                <a:cs typeface="Calibri" pitchFamily="34" charset="-120"/>
              </a:rPr>
              <a:t>Filtrage dynamique</a:t>
            </a:r>
            <a:endParaRPr lang="en-US" sz="1500" dirty="0"/>
          </a:p>
        </p:txBody>
      </p:sp>
      <p:sp>
        <p:nvSpPr>
          <p:cNvPr id="7" name="Text 4"/>
          <p:cNvSpPr/>
          <p:nvPr/>
        </p:nvSpPr>
        <p:spPr>
          <a:xfrm>
            <a:off x="868680" y="2148840"/>
            <a:ext cx="4754880" cy="658368"/>
          </a:xfrm>
          <a:prstGeom prst="rect">
            <a:avLst/>
          </a:prstGeom>
          <a:noFill/>
          <a:ln/>
        </p:spPr>
        <p:txBody>
          <a:bodyPr wrap="square" lIns="0" tIns="0" rIns="0" bIns="0" rtlCol="0" anchor="ctr"/>
          <a:lstStyle/>
          <a:p>
            <a:pPr marL="0" indent="0">
              <a:lnSpc>
                <a:spcPct val="125000"/>
              </a:lnSpc>
              <a:buNone/>
            </a:pPr>
            <a:r>
              <a:rPr lang="en-US" sz="1100" dirty="0">
                <a:solidFill>
                  <a:srgbClr val="6B7280"/>
                </a:solidFill>
                <a:latin typeface="Calibri" pitchFamily="34" charset="0"/>
                <a:ea typeface="Calibri" pitchFamily="34" charset="-122"/>
                <a:cs typeface="Calibri" pitchFamily="34" charset="-120"/>
              </a:rPr>
              <a:t>Sur freelances.html, cliquer sur un bouton filtre affiche uniquement les cartes dont data-category correspond. Sans rechargement de page.</a:t>
            </a:r>
            <a:endParaRPr lang="en-US" sz="1100" dirty="0"/>
          </a:p>
        </p:txBody>
      </p:sp>
      <p:sp>
        <p:nvSpPr>
          <p:cNvPr id="8" name="Shape 5"/>
          <p:cNvSpPr/>
          <p:nvPr/>
        </p:nvSpPr>
        <p:spPr>
          <a:xfrm>
            <a:off x="868680" y="2971800"/>
            <a:ext cx="4754880" cy="3383280"/>
          </a:xfrm>
          <a:prstGeom prst="roundRect">
            <a:avLst>
              <a:gd name="adj" fmla="val 1622"/>
            </a:avLst>
          </a:prstGeom>
          <a:solidFill>
            <a:srgbClr val="1A1A2E"/>
          </a:solidFill>
          <a:ln/>
        </p:spPr>
      </p:sp>
      <p:sp>
        <p:nvSpPr>
          <p:cNvPr id="9" name="Shape 6"/>
          <p:cNvSpPr/>
          <p:nvPr/>
        </p:nvSpPr>
        <p:spPr>
          <a:xfrm>
            <a:off x="1078992" y="3127248"/>
            <a:ext cx="91440" cy="91440"/>
          </a:xfrm>
          <a:prstGeom prst="ellipse">
            <a:avLst/>
          </a:prstGeom>
          <a:solidFill>
            <a:srgbClr val="E94560"/>
          </a:solidFill>
          <a:ln/>
        </p:spPr>
      </p:sp>
      <p:sp>
        <p:nvSpPr>
          <p:cNvPr id="10" name="Shape 7"/>
          <p:cNvSpPr/>
          <p:nvPr/>
        </p:nvSpPr>
        <p:spPr>
          <a:xfrm>
            <a:off x="1234440" y="3127248"/>
            <a:ext cx="91440" cy="91440"/>
          </a:xfrm>
          <a:prstGeom prst="ellipse">
            <a:avLst/>
          </a:prstGeom>
          <a:solidFill>
            <a:srgbClr val="F5A623"/>
          </a:solidFill>
          <a:ln/>
        </p:spPr>
      </p:sp>
      <p:sp>
        <p:nvSpPr>
          <p:cNvPr id="11" name="Shape 8"/>
          <p:cNvSpPr/>
          <p:nvPr/>
        </p:nvSpPr>
        <p:spPr>
          <a:xfrm>
            <a:off x="1389888" y="3127248"/>
            <a:ext cx="91440" cy="91440"/>
          </a:xfrm>
          <a:prstGeom prst="ellipse">
            <a:avLst/>
          </a:prstGeom>
          <a:solidFill>
            <a:srgbClr val="22C55E"/>
          </a:solidFill>
          <a:ln/>
        </p:spPr>
      </p:sp>
      <p:sp>
        <p:nvSpPr>
          <p:cNvPr id="12" name="Text 9"/>
          <p:cNvSpPr/>
          <p:nvPr/>
        </p:nvSpPr>
        <p:spPr>
          <a:xfrm>
            <a:off x="1005840" y="3337560"/>
            <a:ext cx="4434840" cy="2926080"/>
          </a:xfrm>
          <a:prstGeom prst="rect">
            <a:avLst/>
          </a:prstGeom>
          <a:noFill/>
          <a:ln/>
        </p:spPr>
        <p:txBody>
          <a:bodyPr wrap="square" lIns="0" tIns="0" rIns="0" bIns="0" rtlCol="0" anchor="ctr"/>
          <a:lstStyle/>
          <a:p>
            <a:pPr marL="0" indent="0">
              <a:lnSpc>
                <a:spcPct val="120000"/>
              </a:lnSpc>
              <a:buNone/>
            </a:pPr>
            <a:r>
              <a:rPr lang="en-US" sz="1000" dirty="0">
                <a:solidFill>
                  <a:srgbClr val="D8D8E8"/>
                </a:solidFill>
                <a:latin typeface="Courier New" pitchFamily="34" charset="0"/>
                <a:ea typeface="Courier New" pitchFamily="34" charset="-122"/>
                <a:cs typeface="Courier New" pitchFamily="34" charset="-120"/>
              </a:rPr>
              <a:t>boutonsFiltre.forEach(btn =&gt; {</a:t>
            </a:r>
            <a:endParaRPr lang="en-US" sz="1000" dirty="0"/>
          </a:p>
          <a:p>
            <a:pPr marL="0" indent="0">
              <a:lnSpc>
                <a:spcPct val="120000"/>
              </a:lnSpc>
              <a:buNone/>
            </a:pPr>
            <a:r>
              <a:rPr lang="en-US" sz="1000" dirty="0">
                <a:solidFill>
                  <a:srgbClr val="D8D8E8"/>
                </a:solidFill>
                <a:latin typeface="Courier New" pitchFamily="34" charset="0"/>
                <a:ea typeface="Courier New" pitchFamily="34" charset="-122"/>
                <a:cs typeface="Courier New" pitchFamily="34" charset="-120"/>
              </a:rPr>
              <a:t>  btn.addEventListener('click', () =&gt; {</a:t>
            </a:r>
            <a:endParaRPr lang="en-US" sz="1000" dirty="0"/>
          </a:p>
          <a:p>
            <a:pPr marL="0" indent="0">
              <a:lnSpc>
                <a:spcPct val="120000"/>
              </a:lnSpc>
              <a:buNone/>
            </a:pPr>
            <a:r>
              <a:rPr lang="en-US" sz="1000" dirty="0">
                <a:solidFill>
                  <a:srgbClr val="D8D8E8"/>
                </a:solidFill>
                <a:latin typeface="Courier New" pitchFamily="34" charset="0"/>
                <a:ea typeface="Courier New" pitchFamily="34" charset="-122"/>
                <a:cs typeface="Courier New" pitchFamily="34" charset="-120"/>
              </a:rPr>
              <a:t>    const cat = btn.dataset.category;</a:t>
            </a:r>
            <a:endParaRPr lang="en-US" sz="1000" dirty="0"/>
          </a:p>
          <a:p>
            <a:pPr marL="0" indent="0">
              <a:lnSpc>
                <a:spcPct val="120000"/>
              </a:lnSpc>
              <a:buNone/>
            </a:pPr>
            <a:r>
              <a:rPr lang="en-US" sz="1000" dirty="0">
                <a:solidFill>
                  <a:srgbClr val="D8D8E8"/>
                </a:solidFill>
                <a:latin typeface="Courier New" pitchFamily="34" charset="0"/>
                <a:ea typeface="Courier New" pitchFamily="34" charset="-122"/>
                <a:cs typeface="Courier New" pitchFamily="34" charset="-120"/>
              </a:rPr>
              <a:t>    cartes.forEach(carte =&gt; {</a:t>
            </a:r>
            <a:endParaRPr lang="en-US" sz="1000" dirty="0"/>
          </a:p>
          <a:p>
            <a:pPr marL="0" indent="0">
              <a:lnSpc>
                <a:spcPct val="120000"/>
              </a:lnSpc>
              <a:buNone/>
            </a:pPr>
            <a:r>
              <a:rPr lang="en-US" sz="1000" dirty="0">
                <a:solidFill>
                  <a:srgbClr val="D8D8E8"/>
                </a:solidFill>
                <a:latin typeface="Courier New" pitchFamily="34" charset="0"/>
                <a:ea typeface="Courier New" pitchFamily="34" charset="-122"/>
                <a:cs typeface="Courier New" pitchFamily="34" charset="-120"/>
              </a:rPr>
              <a:t>      carte.style.display =</a:t>
            </a:r>
            <a:endParaRPr lang="en-US" sz="1000" dirty="0"/>
          </a:p>
          <a:p>
            <a:pPr marL="0" indent="0">
              <a:lnSpc>
                <a:spcPct val="120000"/>
              </a:lnSpc>
              <a:buNone/>
            </a:pPr>
            <a:r>
              <a:rPr lang="en-US" sz="1000" dirty="0">
                <a:solidFill>
                  <a:srgbClr val="D8D8E8"/>
                </a:solidFill>
                <a:latin typeface="Courier New" pitchFamily="34" charset="0"/>
                <a:ea typeface="Courier New" pitchFamily="34" charset="-122"/>
                <a:cs typeface="Courier New" pitchFamily="34" charset="-120"/>
              </a:rPr>
              <a:t>        cat==='tous' ||</a:t>
            </a:r>
            <a:endParaRPr lang="en-US" sz="1000" dirty="0"/>
          </a:p>
          <a:p>
            <a:pPr marL="0" indent="0">
              <a:lnSpc>
                <a:spcPct val="120000"/>
              </a:lnSpc>
              <a:buNone/>
            </a:pPr>
            <a:r>
              <a:rPr lang="en-US" sz="1000" dirty="0">
                <a:solidFill>
                  <a:srgbClr val="D8D8E8"/>
                </a:solidFill>
                <a:latin typeface="Courier New" pitchFamily="34" charset="0"/>
                <a:ea typeface="Courier New" pitchFamily="34" charset="-122"/>
                <a:cs typeface="Courier New" pitchFamily="34" charset="-120"/>
              </a:rPr>
              <a:t>        carte.dataset.category===cat</a:t>
            </a:r>
            <a:endParaRPr lang="en-US" sz="1000" dirty="0"/>
          </a:p>
          <a:p>
            <a:pPr marL="0" indent="0">
              <a:lnSpc>
                <a:spcPct val="120000"/>
              </a:lnSpc>
              <a:buNone/>
            </a:pPr>
            <a:r>
              <a:rPr lang="en-US" sz="1000" dirty="0">
                <a:solidFill>
                  <a:srgbClr val="D8D8E8"/>
                </a:solidFill>
                <a:latin typeface="Courier New" pitchFamily="34" charset="0"/>
                <a:ea typeface="Courier New" pitchFamily="34" charset="-122"/>
                <a:cs typeface="Courier New" pitchFamily="34" charset="-120"/>
              </a:rPr>
              <a:t>        ? 'block' : 'none';</a:t>
            </a:r>
            <a:endParaRPr lang="en-US" sz="1000" dirty="0"/>
          </a:p>
          <a:p>
            <a:pPr marL="0" indent="0">
              <a:lnSpc>
                <a:spcPct val="120000"/>
              </a:lnSpc>
              <a:buNone/>
            </a:pPr>
            <a:r>
              <a:rPr lang="en-US" sz="1000" dirty="0">
                <a:solidFill>
                  <a:srgbClr val="D8D8E8"/>
                </a:solidFill>
                <a:latin typeface="Courier New" pitchFamily="34" charset="0"/>
                <a:ea typeface="Courier New" pitchFamily="34" charset="-122"/>
                <a:cs typeface="Courier New" pitchFamily="34" charset="-120"/>
              </a:rPr>
              <a:t>    });</a:t>
            </a:r>
            <a:endParaRPr lang="en-US" sz="1000" dirty="0"/>
          </a:p>
          <a:p>
            <a:pPr marL="0" indent="0">
              <a:lnSpc>
                <a:spcPct val="120000"/>
              </a:lnSpc>
              <a:buNone/>
            </a:pPr>
            <a:r>
              <a:rPr lang="en-US" sz="1000" dirty="0">
                <a:solidFill>
                  <a:srgbClr val="D8D8E8"/>
                </a:solidFill>
                <a:latin typeface="Courier New" pitchFamily="34" charset="0"/>
                <a:ea typeface="Courier New" pitchFamily="34" charset="-122"/>
                <a:cs typeface="Courier New" pitchFamily="34" charset="-120"/>
              </a:rPr>
              <a:t>  });</a:t>
            </a:r>
            <a:endParaRPr lang="en-US" sz="1000" dirty="0"/>
          </a:p>
          <a:p>
            <a:pPr marL="0" indent="0">
              <a:lnSpc>
                <a:spcPct val="120000"/>
              </a:lnSpc>
              <a:buNone/>
            </a:pPr>
            <a:r>
              <a:rPr lang="en-US" sz="1000" dirty="0">
                <a:solidFill>
                  <a:srgbClr val="D8D8E8"/>
                </a:solidFill>
                <a:latin typeface="Courier New" pitchFamily="34" charset="0"/>
                <a:ea typeface="Courier New" pitchFamily="34" charset="-122"/>
                <a:cs typeface="Courier New" pitchFamily="34" charset="-120"/>
              </a:rPr>
              <a:t>});</a:t>
            </a:r>
            <a:endParaRPr lang="en-US" sz="1000" dirty="0"/>
          </a:p>
        </p:txBody>
      </p:sp>
      <p:sp>
        <p:nvSpPr>
          <p:cNvPr id="13" name="Shape 10"/>
          <p:cNvSpPr/>
          <p:nvPr/>
        </p:nvSpPr>
        <p:spPr>
          <a:xfrm>
            <a:off x="6126480" y="1444752"/>
            <a:ext cx="5486400" cy="5166360"/>
          </a:xfrm>
          <a:prstGeom prst="roundRect">
            <a:avLst>
              <a:gd name="adj" fmla="val 1416"/>
            </a:avLst>
          </a:prstGeom>
          <a:solidFill>
            <a:srgbClr val="F9F9F9"/>
          </a:solidFill>
          <a:ln/>
          <a:effectLst>
            <a:outerShdw algn="bl" rotWithShape="0">
              <a:srgbClr val="000000">
                <a:alpha val="0"/>
              </a:srgbClr>
            </a:outerShdw>
          </a:effectLst>
        </p:spPr>
      </p:sp>
      <p:pic>
        <p:nvPicPr>
          <p:cNvPr id="14" name="Image 1" descr="assets/icon-check-green.png"/>
          <p:cNvPicPr>
            <a:picLocks noChangeAspect="1"/>
          </p:cNvPicPr>
          <p:nvPr/>
        </p:nvPicPr>
        <p:blipFill>
          <a:blip r:embed="rId4"/>
          <a:stretch>
            <a:fillRect/>
          </a:stretch>
        </p:blipFill>
        <p:spPr>
          <a:xfrm>
            <a:off x="6355080" y="1664208"/>
            <a:ext cx="365760" cy="365760"/>
          </a:xfrm>
          <a:prstGeom prst="rect">
            <a:avLst/>
          </a:prstGeom>
        </p:spPr>
      </p:pic>
      <p:sp>
        <p:nvSpPr>
          <p:cNvPr id="15" name="Text 11"/>
          <p:cNvSpPr/>
          <p:nvPr/>
        </p:nvSpPr>
        <p:spPr>
          <a:xfrm>
            <a:off x="6839712" y="1691640"/>
            <a:ext cx="4572000" cy="347472"/>
          </a:xfrm>
          <a:prstGeom prst="rect">
            <a:avLst/>
          </a:prstGeom>
          <a:noFill/>
          <a:ln/>
        </p:spPr>
        <p:txBody>
          <a:bodyPr wrap="square" lIns="0" tIns="0" rIns="0" bIns="0" rtlCol="0" anchor="ctr"/>
          <a:lstStyle/>
          <a:p>
            <a:pPr marL="0" indent="0">
              <a:buNone/>
            </a:pPr>
            <a:r>
              <a:rPr lang="en-US" sz="1500" b="1" dirty="0">
                <a:solidFill>
                  <a:srgbClr val="1A1A2E"/>
                </a:solidFill>
                <a:latin typeface="Calibri" pitchFamily="34" charset="0"/>
                <a:ea typeface="Calibri" pitchFamily="34" charset="-122"/>
                <a:cs typeface="Calibri" pitchFamily="34" charset="-120"/>
              </a:rPr>
              <a:t>Validation du formulaire</a:t>
            </a:r>
            <a:endParaRPr lang="en-US" sz="1500" dirty="0"/>
          </a:p>
        </p:txBody>
      </p:sp>
      <p:pic>
        <p:nvPicPr>
          <p:cNvPr id="16" name="Image 2" descr="assets/icon-check-green.png"/>
          <p:cNvPicPr>
            <a:picLocks noChangeAspect="1"/>
          </p:cNvPicPr>
          <p:nvPr/>
        </p:nvPicPr>
        <p:blipFill>
          <a:blip r:embed="rId4"/>
          <a:stretch>
            <a:fillRect/>
          </a:stretch>
        </p:blipFill>
        <p:spPr>
          <a:xfrm>
            <a:off x="6355080" y="2212848"/>
            <a:ext cx="201168" cy="201168"/>
          </a:xfrm>
          <a:prstGeom prst="rect">
            <a:avLst/>
          </a:prstGeom>
        </p:spPr>
      </p:pic>
      <p:sp>
        <p:nvSpPr>
          <p:cNvPr id="17" name="Text 12"/>
          <p:cNvSpPr/>
          <p:nvPr/>
        </p:nvSpPr>
        <p:spPr>
          <a:xfrm>
            <a:off x="6693408" y="2176272"/>
            <a:ext cx="4754880" cy="292608"/>
          </a:xfrm>
          <a:prstGeom prst="rect">
            <a:avLst/>
          </a:prstGeom>
          <a:noFill/>
          <a:ln/>
        </p:spPr>
        <p:txBody>
          <a:bodyPr wrap="square" lIns="0" tIns="0" rIns="0" bIns="0" rtlCol="0" anchor="ctr"/>
          <a:lstStyle/>
          <a:p>
            <a:pPr marL="0" indent="0">
              <a:buNone/>
            </a:pPr>
            <a:r>
              <a:rPr lang="en-US" sz="1100" dirty="0">
                <a:solidFill>
                  <a:srgbClr val="2D2D2D"/>
                </a:solidFill>
                <a:latin typeface="Calibri" pitchFamily="34" charset="0"/>
                <a:ea typeface="Calibri" pitchFamily="34" charset="-122"/>
                <a:cs typeface="Calibri" pitchFamily="34" charset="-120"/>
              </a:rPr>
              <a:t>Nom &amp; prenom : lettres uniquement (regex)</a:t>
            </a:r>
            <a:endParaRPr lang="en-US" sz="1100" dirty="0"/>
          </a:p>
        </p:txBody>
      </p:sp>
      <p:pic>
        <p:nvPicPr>
          <p:cNvPr id="18" name="Image 3" descr="assets/icon-check-green.png"/>
          <p:cNvPicPr>
            <a:picLocks noChangeAspect="1"/>
          </p:cNvPicPr>
          <p:nvPr/>
        </p:nvPicPr>
        <p:blipFill>
          <a:blip r:embed="rId4"/>
          <a:stretch>
            <a:fillRect/>
          </a:stretch>
        </p:blipFill>
        <p:spPr>
          <a:xfrm>
            <a:off x="6355080" y="2560320"/>
            <a:ext cx="201168" cy="201168"/>
          </a:xfrm>
          <a:prstGeom prst="rect">
            <a:avLst/>
          </a:prstGeom>
        </p:spPr>
      </p:pic>
      <p:sp>
        <p:nvSpPr>
          <p:cNvPr id="19" name="Text 13"/>
          <p:cNvSpPr/>
          <p:nvPr/>
        </p:nvSpPr>
        <p:spPr>
          <a:xfrm>
            <a:off x="6693408" y="2523744"/>
            <a:ext cx="4754880" cy="292608"/>
          </a:xfrm>
          <a:prstGeom prst="rect">
            <a:avLst/>
          </a:prstGeom>
          <a:noFill/>
          <a:ln/>
        </p:spPr>
        <p:txBody>
          <a:bodyPr wrap="square" lIns="0" tIns="0" rIns="0" bIns="0" rtlCol="0" anchor="ctr"/>
          <a:lstStyle/>
          <a:p>
            <a:pPr marL="0" indent="0">
              <a:buNone/>
            </a:pPr>
            <a:r>
              <a:rPr lang="en-US" sz="1100" dirty="0">
                <a:solidFill>
                  <a:srgbClr val="2D2D2D"/>
                </a:solidFill>
                <a:latin typeface="Calibri" pitchFamily="34" charset="0"/>
                <a:ea typeface="Calibri" pitchFamily="34" charset="-122"/>
                <a:cs typeface="Calibri" pitchFamily="34" charset="-120"/>
              </a:rPr>
              <a:t>Email : verifie par expression reguliere</a:t>
            </a:r>
            <a:endParaRPr lang="en-US" sz="1100" dirty="0"/>
          </a:p>
        </p:txBody>
      </p:sp>
      <p:pic>
        <p:nvPicPr>
          <p:cNvPr id="20" name="Image 4" descr="assets/icon-check-green.png"/>
          <p:cNvPicPr>
            <a:picLocks noChangeAspect="1"/>
          </p:cNvPicPr>
          <p:nvPr/>
        </p:nvPicPr>
        <p:blipFill>
          <a:blip r:embed="rId4"/>
          <a:stretch>
            <a:fillRect/>
          </a:stretch>
        </p:blipFill>
        <p:spPr>
          <a:xfrm>
            <a:off x="6355080" y="2907792"/>
            <a:ext cx="201168" cy="201168"/>
          </a:xfrm>
          <a:prstGeom prst="rect">
            <a:avLst/>
          </a:prstGeom>
        </p:spPr>
      </p:pic>
      <p:sp>
        <p:nvSpPr>
          <p:cNvPr id="21" name="Text 14"/>
          <p:cNvSpPr/>
          <p:nvPr/>
        </p:nvSpPr>
        <p:spPr>
          <a:xfrm>
            <a:off x="6693408" y="2871216"/>
            <a:ext cx="4754880" cy="292608"/>
          </a:xfrm>
          <a:prstGeom prst="rect">
            <a:avLst/>
          </a:prstGeom>
          <a:noFill/>
          <a:ln/>
        </p:spPr>
        <p:txBody>
          <a:bodyPr wrap="square" lIns="0" tIns="0" rIns="0" bIns="0" rtlCol="0" anchor="ctr"/>
          <a:lstStyle/>
          <a:p>
            <a:pPr marL="0" indent="0">
              <a:buNone/>
            </a:pPr>
            <a:r>
              <a:rPr lang="en-US" sz="1100" dirty="0">
                <a:solidFill>
                  <a:srgbClr val="2D2D2D"/>
                </a:solidFill>
                <a:latin typeface="Calibri" pitchFamily="34" charset="0"/>
                <a:ea typeface="Calibri" pitchFamily="34" charset="-122"/>
                <a:cs typeface="Calibri" pitchFamily="34" charset="-120"/>
              </a:rPr>
              <a:t>Message : minimum 20 caracteres</a:t>
            </a:r>
            <a:endParaRPr lang="en-US" sz="1100" dirty="0"/>
          </a:p>
        </p:txBody>
      </p:sp>
      <p:pic>
        <p:nvPicPr>
          <p:cNvPr id="22" name="Image 5" descr="assets/icon-check-green.png"/>
          <p:cNvPicPr>
            <a:picLocks noChangeAspect="1"/>
          </p:cNvPicPr>
          <p:nvPr/>
        </p:nvPicPr>
        <p:blipFill>
          <a:blip r:embed="rId4"/>
          <a:stretch>
            <a:fillRect/>
          </a:stretch>
        </p:blipFill>
        <p:spPr>
          <a:xfrm>
            <a:off x="6355080" y="3255264"/>
            <a:ext cx="201168" cy="201168"/>
          </a:xfrm>
          <a:prstGeom prst="rect">
            <a:avLst/>
          </a:prstGeom>
        </p:spPr>
      </p:pic>
      <p:sp>
        <p:nvSpPr>
          <p:cNvPr id="23" name="Text 15"/>
          <p:cNvSpPr/>
          <p:nvPr/>
        </p:nvSpPr>
        <p:spPr>
          <a:xfrm>
            <a:off x="6693408" y="3218688"/>
            <a:ext cx="4754880" cy="292608"/>
          </a:xfrm>
          <a:prstGeom prst="rect">
            <a:avLst/>
          </a:prstGeom>
          <a:noFill/>
          <a:ln/>
        </p:spPr>
        <p:txBody>
          <a:bodyPr wrap="square" lIns="0" tIns="0" rIns="0" bIns="0" rtlCol="0" anchor="ctr"/>
          <a:lstStyle/>
          <a:p>
            <a:pPr marL="0" indent="0">
              <a:buNone/>
            </a:pPr>
            <a:r>
              <a:rPr lang="en-US" sz="1100" dirty="0">
                <a:solidFill>
                  <a:srgbClr val="2D2D2D"/>
                </a:solidFill>
                <a:latin typeface="Calibri" pitchFamily="34" charset="0"/>
                <a:ea typeface="Calibri" pitchFamily="34" charset="-122"/>
                <a:cs typeface="Calibri" pitchFamily="34" charset="-120"/>
              </a:rPr>
              <a:t>Sujet : selection obligatoire</a:t>
            </a:r>
            <a:endParaRPr lang="en-US" sz="1100" dirty="0"/>
          </a:p>
        </p:txBody>
      </p:sp>
      <p:pic>
        <p:nvPicPr>
          <p:cNvPr id="24" name="Image 6" descr="assets/icon-check-green.png"/>
          <p:cNvPicPr>
            <a:picLocks noChangeAspect="1"/>
          </p:cNvPicPr>
          <p:nvPr/>
        </p:nvPicPr>
        <p:blipFill>
          <a:blip r:embed="rId4"/>
          <a:stretch>
            <a:fillRect/>
          </a:stretch>
        </p:blipFill>
        <p:spPr>
          <a:xfrm>
            <a:off x="6355080" y="3602736"/>
            <a:ext cx="201168" cy="201168"/>
          </a:xfrm>
          <a:prstGeom prst="rect">
            <a:avLst/>
          </a:prstGeom>
        </p:spPr>
      </p:pic>
      <p:sp>
        <p:nvSpPr>
          <p:cNvPr id="25" name="Text 16"/>
          <p:cNvSpPr/>
          <p:nvPr/>
        </p:nvSpPr>
        <p:spPr>
          <a:xfrm>
            <a:off x="6693408" y="3566160"/>
            <a:ext cx="4754880" cy="292608"/>
          </a:xfrm>
          <a:prstGeom prst="rect">
            <a:avLst/>
          </a:prstGeom>
          <a:noFill/>
          <a:ln/>
        </p:spPr>
        <p:txBody>
          <a:bodyPr wrap="square" lIns="0" tIns="0" rIns="0" bIns="0" rtlCol="0" anchor="ctr"/>
          <a:lstStyle/>
          <a:p>
            <a:pPr marL="0" indent="0">
              <a:buNone/>
            </a:pPr>
            <a:r>
              <a:rPr lang="en-US" sz="1100" dirty="0">
                <a:solidFill>
                  <a:srgbClr val="2D2D2D"/>
                </a:solidFill>
                <a:latin typeface="Calibri" pitchFamily="34" charset="0"/>
                <a:ea typeface="Calibri" pitchFamily="34" charset="-122"/>
                <a:cs typeface="Calibri" pitchFamily="34" charset="-120"/>
              </a:rPr>
              <a:t>Erreurs affichees sous chaque champ (rouge)</a:t>
            </a:r>
            <a:endParaRPr lang="en-US" sz="1100" dirty="0"/>
          </a:p>
        </p:txBody>
      </p:sp>
      <p:pic>
        <p:nvPicPr>
          <p:cNvPr id="26" name="Image 7" descr="assets/icon-check-green.png"/>
          <p:cNvPicPr>
            <a:picLocks noChangeAspect="1"/>
          </p:cNvPicPr>
          <p:nvPr/>
        </p:nvPicPr>
        <p:blipFill>
          <a:blip r:embed="rId4"/>
          <a:stretch>
            <a:fillRect/>
          </a:stretch>
        </p:blipFill>
        <p:spPr>
          <a:xfrm>
            <a:off x="6355080" y="3950208"/>
            <a:ext cx="201168" cy="201168"/>
          </a:xfrm>
          <a:prstGeom prst="rect">
            <a:avLst/>
          </a:prstGeom>
        </p:spPr>
      </p:pic>
      <p:sp>
        <p:nvSpPr>
          <p:cNvPr id="27" name="Text 17"/>
          <p:cNvSpPr/>
          <p:nvPr/>
        </p:nvSpPr>
        <p:spPr>
          <a:xfrm>
            <a:off x="6693408" y="3913632"/>
            <a:ext cx="4754880" cy="292608"/>
          </a:xfrm>
          <a:prstGeom prst="rect">
            <a:avLst/>
          </a:prstGeom>
          <a:noFill/>
          <a:ln/>
        </p:spPr>
        <p:txBody>
          <a:bodyPr wrap="square" lIns="0" tIns="0" rIns="0" bIns="0" rtlCol="0" anchor="ctr"/>
          <a:lstStyle/>
          <a:p>
            <a:pPr marL="0" indent="0">
              <a:buNone/>
            </a:pPr>
            <a:r>
              <a:rPr lang="en-US" sz="1100" dirty="0">
                <a:solidFill>
                  <a:srgbClr val="2D2D2D"/>
                </a:solidFill>
                <a:latin typeface="Calibri" pitchFamily="34" charset="0"/>
                <a:ea typeface="Calibri" pitchFamily="34" charset="-122"/>
                <a:cs typeface="Calibri" pitchFamily="34" charset="-120"/>
              </a:rPr>
              <a:t>Message de succes apres soumission valide</a:t>
            </a:r>
            <a:endParaRPr lang="en-US" sz="1100" dirty="0"/>
          </a:p>
        </p:txBody>
      </p:sp>
      <p:sp>
        <p:nvSpPr>
          <p:cNvPr id="28" name="Shape 18"/>
          <p:cNvSpPr/>
          <p:nvPr/>
        </p:nvSpPr>
        <p:spPr>
          <a:xfrm>
            <a:off x="6355080" y="4434840"/>
            <a:ext cx="5029200" cy="2011680"/>
          </a:xfrm>
          <a:prstGeom prst="roundRect">
            <a:avLst>
              <a:gd name="adj" fmla="val 2727"/>
            </a:avLst>
          </a:prstGeom>
          <a:solidFill>
            <a:srgbClr val="1A1A2E"/>
          </a:solidFill>
          <a:ln/>
        </p:spPr>
      </p:sp>
      <p:sp>
        <p:nvSpPr>
          <p:cNvPr id="29" name="Shape 19"/>
          <p:cNvSpPr/>
          <p:nvPr/>
        </p:nvSpPr>
        <p:spPr>
          <a:xfrm>
            <a:off x="6537960" y="4590288"/>
            <a:ext cx="91440" cy="91440"/>
          </a:xfrm>
          <a:prstGeom prst="ellipse">
            <a:avLst/>
          </a:prstGeom>
          <a:solidFill>
            <a:srgbClr val="E94560"/>
          </a:solidFill>
          <a:ln/>
        </p:spPr>
      </p:sp>
      <p:sp>
        <p:nvSpPr>
          <p:cNvPr id="30" name="Shape 20"/>
          <p:cNvSpPr/>
          <p:nvPr/>
        </p:nvSpPr>
        <p:spPr>
          <a:xfrm>
            <a:off x="6693408" y="4590288"/>
            <a:ext cx="91440" cy="91440"/>
          </a:xfrm>
          <a:prstGeom prst="ellipse">
            <a:avLst/>
          </a:prstGeom>
          <a:solidFill>
            <a:srgbClr val="F5A623"/>
          </a:solidFill>
          <a:ln/>
        </p:spPr>
      </p:sp>
      <p:sp>
        <p:nvSpPr>
          <p:cNvPr id="31" name="Shape 21"/>
          <p:cNvSpPr/>
          <p:nvPr/>
        </p:nvSpPr>
        <p:spPr>
          <a:xfrm>
            <a:off x="6848856" y="4590288"/>
            <a:ext cx="91440" cy="91440"/>
          </a:xfrm>
          <a:prstGeom prst="ellipse">
            <a:avLst/>
          </a:prstGeom>
          <a:solidFill>
            <a:srgbClr val="22C55E"/>
          </a:solidFill>
          <a:ln/>
        </p:spPr>
      </p:sp>
      <p:sp>
        <p:nvSpPr>
          <p:cNvPr id="32" name="Text 22"/>
          <p:cNvSpPr/>
          <p:nvPr/>
        </p:nvSpPr>
        <p:spPr>
          <a:xfrm>
            <a:off x="6492240" y="4754880"/>
            <a:ext cx="4754880" cy="1572768"/>
          </a:xfrm>
          <a:prstGeom prst="rect">
            <a:avLst/>
          </a:prstGeom>
          <a:noFill/>
          <a:ln/>
        </p:spPr>
        <p:txBody>
          <a:bodyPr wrap="square" lIns="0" tIns="0" rIns="0" bIns="0" rtlCol="0" anchor="ctr"/>
          <a:lstStyle/>
          <a:p>
            <a:pPr marL="0" indent="0">
              <a:lnSpc>
                <a:spcPct val="120000"/>
              </a:lnSpc>
              <a:buNone/>
            </a:pPr>
            <a:r>
              <a:rPr lang="en-US" sz="1000" dirty="0">
                <a:solidFill>
                  <a:srgbClr val="D8D8E8"/>
                </a:solidFill>
                <a:latin typeface="Courier New" pitchFamily="34" charset="0"/>
                <a:ea typeface="Courier New" pitchFamily="34" charset="-122"/>
                <a:cs typeface="Courier New" pitchFamily="34" charset="-120"/>
              </a:rPr>
              <a:t>const regexNom = /^[a-zA-ZA-y\s\-']+$/;</a:t>
            </a:r>
            <a:endParaRPr lang="en-US" sz="1000" dirty="0"/>
          </a:p>
          <a:p>
            <a:pPr marL="0" indent="0">
              <a:lnSpc>
                <a:spcPct val="120000"/>
              </a:lnSpc>
              <a:buNone/>
            </a:pPr>
            <a:r>
              <a:rPr lang="en-US" sz="1000" dirty="0">
                <a:solidFill>
                  <a:srgbClr val="D8D8E8"/>
                </a:solidFill>
                <a:latin typeface="Courier New" pitchFamily="34" charset="0"/>
                <a:ea typeface="Courier New" pitchFamily="34" charset="-122"/>
                <a:cs typeface="Courier New" pitchFamily="34" charset="-120"/>
              </a:rPr>
              <a:t>const regexEmail =</a:t>
            </a:r>
            <a:endParaRPr lang="en-US" sz="1000" dirty="0"/>
          </a:p>
          <a:p>
            <a:pPr marL="0" indent="0">
              <a:lnSpc>
                <a:spcPct val="120000"/>
              </a:lnSpc>
              <a:buNone/>
            </a:pPr>
            <a:r>
              <a:rPr lang="en-US" sz="1000" dirty="0">
                <a:solidFill>
                  <a:srgbClr val="D8D8E8"/>
                </a:solidFill>
                <a:latin typeface="Courier New" pitchFamily="34" charset="0"/>
                <a:ea typeface="Courier New" pitchFamily="34" charset="-122"/>
                <a:cs typeface="Courier New" pitchFamily="34" charset="-120"/>
              </a:rPr>
              <a:t>  /^[\w.+-]+@[\w.-]+\.\w{2,}$/;</a:t>
            </a:r>
            <a:endParaRPr lang="en-US" sz="1000" dirty="0"/>
          </a:p>
          <a:p>
            <a:pPr marL="0" indent="0">
              <a:lnSpc>
                <a:spcPct val="120000"/>
              </a:lnSpc>
              <a:buNone/>
            </a:pPr>
            <a:endParaRPr lang="en-US" sz="1000" dirty="0"/>
          </a:p>
          <a:p>
            <a:pPr marL="0" indent="0">
              <a:lnSpc>
                <a:spcPct val="120000"/>
              </a:lnSpc>
              <a:buNone/>
            </a:pPr>
            <a:r>
              <a:rPr lang="en-US" sz="1000" dirty="0">
                <a:solidFill>
                  <a:srgbClr val="D8D8E8"/>
                </a:solidFill>
                <a:latin typeface="Courier New" pitchFamily="34" charset="0"/>
                <a:ea typeface="Courier New" pitchFamily="34" charset="-122"/>
                <a:cs typeface="Courier New" pitchFamily="34" charset="-120"/>
              </a:rPr>
              <a:t>if (!regexNom.test(nom.value))</a:t>
            </a:r>
            <a:endParaRPr lang="en-US" sz="1000" dirty="0"/>
          </a:p>
          <a:p>
            <a:pPr marL="0" indent="0">
              <a:lnSpc>
                <a:spcPct val="120000"/>
              </a:lnSpc>
              <a:buNone/>
            </a:pPr>
            <a:r>
              <a:rPr lang="en-US" sz="1000" dirty="0">
                <a:solidFill>
                  <a:srgbClr val="D8D8E8"/>
                </a:solidFill>
                <a:latin typeface="Courier New" pitchFamily="34" charset="0"/>
                <a:ea typeface="Courier New" pitchFamily="34" charset="-122"/>
                <a:cs typeface="Courier New" pitchFamily="34" charset="-120"/>
              </a:rPr>
              <a:t>  afficherErreur('nom',</a:t>
            </a:r>
            <a:endParaRPr lang="en-US" sz="1000" dirty="0"/>
          </a:p>
          <a:p>
            <a:pPr marL="0" indent="0">
              <a:lnSpc>
                <a:spcPct val="120000"/>
              </a:lnSpc>
              <a:buNone/>
            </a:pPr>
            <a:r>
              <a:rPr lang="en-US" sz="1000" dirty="0">
                <a:solidFill>
                  <a:srgbClr val="D8D8E8"/>
                </a:solidFill>
                <a:latin typeface="Courier New" pitchFamily="34" charset="0"/>
                <a:ea typeface="Courier New" pitchFamily="34" charset="-122"/>
                <a:cs typeface="Courier New" pitchFamily="34" charset="-120"/>
              </a:rPr>
              <a:t>    'Lettres uniquement.');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47472"/>
            <a:ext cx="8229600" cy="292608"/>
          </a:xfrm>
          <a:prstGeom prst="rect">
            <a:avLst/>
          </a:prstGeom>
          <a:noFill/>
          <a:ln/>
        </p:spPr>
        <p:txBody>
          <a:bodyPr wrap="square" lIns="0" tIns="0" rIns="0" bIns="0" rtlCol="0" anchor="ctr"/>
          <a:lstStyle/>
          <a:p>
            <a:pPr marL="0" indent="0">
              <a:buNone/>
            </a:pPr>
            <a:r>
              <a:rPr lang="en-US" sz="1100" b="1" kern="0" spc="250" dirty="0">
                <a:solidFill>
                  <a:srgbClr val="F5A623"/>
                </a:solidFill>
                <a:latin typeface="Calibri" pitchFamily="34" charset="0"/>
                <a:ea typeface="Calibri" pitchFamily="34" charset="-122"/>
                <a:cs typeface="Calibri" pitchFamily="34" charset="-120"/>
              </a:rPr>
              <a:t>GIT &amp; GITHUB PAGES</a:t>
            </a:r>
            <a:endParaRPr lang="en-US" sz="1100" dirty="0"/>
          </a:p>
        </p:txBody>
      </p:sp>
      <p:sp>
        <p:nvSpPr>
          <p:cNvPr id="3" name="Text 1"/>
          <p:cNvSpPr/>
          <p:nvPr/>
        </p:nvSpPr>
        <p:spPr>
          <a:xfrm>
            <a:off x="640080" y="658368"/>
            <a:ext cx="9144000" cy="566928"/>
          </a:xfrm>
          <a:prstGeom prst="rect">
            <a:avLst/>
          </a:prstGeom>
          <a:noFill/>
          <a:ln/>
        </p:spPr>
        <p:txBody>
          <a:bodyPr wrap="square" lIns="0" tIns="0" rIns="0" bIns="0" rtlCol="0" anchor="ctr"/>
          <a:lstStyle/>
          <a:p>
            <a:pPr marL="0" indent="0">
              <a:buNone/>
            </a:pPr>
            <a:r>
              <a:rPr lang="en-US" sz="2800" b="1" dirty="0">
                <a:solidFill>
                  <a:srgbClr val="1A1A2E"/>
                </a:solidFill>
                <a:latin typeface="Bookman Old Style" pitchFamily="34" charset="0"/>
                <a:ea typeface="Bookman Old Style" pitchFamily="34" charset="-122"/>
                <a:cs typeface="Bookman Old Style" pitchFamily="34" charset="-120"/>
              </a:rPr>
              <a:t>10 commits &amp; deploiement</a:t>
            </a:r>
            <a:endParaRPr lang="en-US" sz="2800" dirty="0"/>
          </a:p>
        </p:txBody>
      </p:sp>
      <p:sp>
        <p:nvSpPr>
          <p:cNvPr id="4" name="Shape 2"/>
          <p:cNvSpPr/>
          <p:nvPr/>
        </p:nvSpPr>
        <p:spPr>
          <a:xfrm>
            <a:off x="960120" y="1463040"/>
            <a:ext cx="0" cy="4800600"/>
          </a:xfrm>
          <a:prstGeom prst="line">
            <a:avLst/>
          </a:prstGeom>
          <a:noFill/>
          <a:ln w="25400">
            <a:solidFill>
              <a:srgbClr val="E5E7EB"/>
            </a:solidFill>
            <a:prstDash val="solid"/>
          </a:ln>
        </p:spPr>
      </p:sp>
      <p:sp>
        <p:nvSpPr>
          <p:cNvPr id="5" name="Shape 3"/>
          <p:cNvSpPr/>
          <p:nvPr/>
        </p:nvSpPr>
        <p:spPr>
          <a:xfrm>
            <a:off x="877824" y="1563624"/>
            <a:ext cx="164592" cy="164592"/>
          </a:xfrm>
          <a:prstGeom prst="ellipse">
            <a:avLst/>
          </a:prstGeom>
          <a:solidFill>
            <a:srgbClr val="F5A623"/>
          </a:solidFill>
          <a:ln w="19050">
            <a:solidFill>
              <a:srgbClr val="FFFFFF"/>
            </a:solidFill>
            <a:prstDash val="solid"/>
          </a:ln>
        </p:spPr>
      </p:sp>
      <p:sp>
        <p:nvSpPr>
          <p:cNvPr id="6" name="Text 4"/>
          <p:cNvSpPr/>
          <p:nvPr/>
        </p:nvSpPr>
        <p:spPr>
          <a:xfrm>
            <a:off x="1161288" y="1508760"/>
            <a:ext cx="502920" cy="347472"/>
          </a:xfrm>
          <a:prstGeom prst="rect">
            <a:avLst/>
          </a:prstGeom>
          <a:noFill/>
          <a:ln/>
        </p:spPr>
        <p:txBody>
          <a:bodyPr wrap="square" lIns="0" tIns="0" rIns="0" bIns="0" rtlCol="0" anchor="ctr"/>
          <a:lstStyle/>
          <a:p>
            <a:pPr marL="0" indent="0">
              <a:buNone/>
            </a:pPr>
            <a:r>
              <a:rPr lang="en-US" sz="1000" b="1" dirty="0">
                <a:solidFill>
                  <a:srgbClr val="F5A623"/>
                </a:solidFill>
                <a:latin typeface="Courier New" pitchFamily="34" charset="0"/>
                <a:ea typeface="Courier New" pitchFamily="34" charset="-122"/>
                <a:cs typeface="Courier New" pitchFamily="34" charset="-120"/>
              </a:rPr>
              <a:t>C1</a:t>
            </a:r>
            <a:endParaRPr lang="en-US" sz="1000" dirty="0"/>
          </a:p>
        </p:txBody>
      </p:sp>
      <p:sp>
        <p:nvSpPr>
          <p:cNvPr id="7" name="Text 5"/>
          <p:cNvSpPr/>
          <p:nvPr/>
        </p:nvSpPr>
        <p:spPr>
          <a:xfrm>
            <a:off x="1737360" y="1508760"/>
            <a:ext cx="9738360" cy="347472"/>
          </a:xfrm>
          <a:prstGeom prst="rect">
            <a:avLst/>
          </a:prstGeom>
          <a:noFill/>
          <a:ln/>
        </p:spPr>
        <p:txBody>
          <a:bodyPr wrap="square" lIns="0" tIns="0" rIns="0" bIns="0" rtlCol="0" anchor="ctr"/>
          <a:lstStyle/>
          <a:p>
            <a:pPr marL="0" indent="0">
              <a:buNone/>
            </a:pPr>
            <a:r>
              <a:rPr lang="en-US" sz="1000" dirty="0">
                <a:solidFill>
                  <a:srgbClr val="2D2D2D"/>
                </a:solidFill>
                <a:latin typeface="Calibri" pitchFamily="34" charset="0"/>
                <a:ea typeface="Calibri" pitchFamily="34" charset="-122"/>
                <a:cs typeface="Calibri" pitchFamily="34" charset="-120"/>
              </a:rPr>
              <a:t>Init : creation du depot, arborescence des fichiers et structure HTML de base</a:t>
            </a:r>
            <a:endParaRPr lang="en-US" sz="1000" dirty="0"/>
          </a:p>
        </p:txBody>
      </p:sp>
      <p:sp>
        <p:nvSpPr>
          <p:cNvPr id="8" name="Shape 6"/>
          <p:cNvSpPr/>
          <p:nvPr/>
        </p:nvSpPr>
        <p:spPr>
          <a:xfrm>
            <a:off x="877824" y="2020824"/>
            <a:ext cx="164592" cy="164592"/>
          </a:xfrm>
          <a:prstGeom prst="ellipse">
            <a:avLst/>
          </a:prstGeom>
          <a:solidFill>
            <a:srgbClr val="F5A623"/>
          </a:solidFill>
          <a:ln w="19050">
            <a:solidFill>
              <a:srgbClr val="FFFFFF"/>
            </a:solidFill>
            <a:prstDash val="solid"/>
          </a:ln>
        </p:spPr>
      </p:sp>
      <p:sp>
        <p:nvSpPr>
          <p:cNvPr id="9" name="Text 7"/>
          <p:cNvSpPr/>
          <p:nvPr/>
        </p:nvSpPr>
        <p:spPr>
          <a:xfrm>
            <a:off x="1161288" y="1965960"/>
            <a:ext cx="502920" cy="347472"/>
          </a:xfrm>
          <a:prstGeom prst="rect">
            <a:avLst/>
          </a:prstGeom>
          <a:noFill/>
          <a:ln/>
        </p:spPr>
        <p:txBody>
          <a:bodyPr wrap="square" lIns="0" tIns="0" rIns="0" bIns="0" rtlCol="0" anchor="ctr"/>
          <a:lstStyle/>
          <a:p>
            <a:pPr marL="0" indent="0">
              <a:buNone/>
            </a:pPr>
            <a:r>
              <a:rPr lang="en-US" sz="1000" b="1" dirty="0">
                <a:solidFill>
                  <a:srgbClr val="F5A623"/>
                </a:solidFill>
                <a:latin typeface="Courier New" pitchFamily="34" charset="0"/>
                <a:ea typeface="Courier New" pitchFamily="34" charset="-122"/>
                <a:cs typeface="Courier New" pitchFamily="34" charset="-120"/>
              </a:rPr>
              <a:t>C2</a:t>
            </a:r>
            <a:endParaRPr lang="en-US" sz="1000" dirty="0"/>
          </a:p>
        </p:txBody>
      </p:sp>
      <p:sp>
        <p:nvSpPr>
          <p:cNvPr id="10" name="Text 8"/>
          <p:cNvSpPr/>
          <p:nvPr/>
        </p:nvSpPr>
        <p:spPr>
          <a:xfrm>
            <a:off x="1737360" y="1965960"/>
            <a:ext cx="9738360" cy="347472"/>
          </a:xfrm>
          <a:prstGeom prst="rect">
            <a:avLst/>
          </a:prstGeom>
          <a:noFill/>
          <a:ln/>
        </p:spPr>
        <p:txBody>
          <a:bodyPr wrap="square" lIns="0" tIns="0" rIns="0" bIns="0" rtlCol="0" anchor="ctr"/>
          <a:lstStyle/>
          <a:p>
            <a:pPr marL="0" indent="0">
              <a:buNone/>
            </a:pPr>
            <a:r>
              <a:rPr lang="en-US" sz="1000" dirty="0">
                <a:solidFill>
                  <a:srgbClr val="2D2D2D"/>
                </a:solidFill>
                <a:latin typeface="Calibri" pitchFamily="34" charset="0"/>
                <a:ea typeface="Calibri" pitchFamily="34" charset="-122"/>
                <a:cs typeface="Calibri" pitchFamily="34" charset="-120"/>
              </a:rPr>
              <a:t>HTML : structure complete des 5 pages avec sections et contenu texte</a:t>
            </a:r>
            <a:endParaRPr lang="en-US" sz="1000" dirty="0"/>
          </a:p>
        </p:txBody>
      </p:sp>
      <p:sp>
        <p:nvSpPr>
          <p:cNvPr id="11" name="Shape 9"/>
          <p:cNvSpPr/>
          <p:nvPr/>
        </p:nvSpPr>
        <p:spPr>
          <a:xfrm>
            <a:off x="877824" y="2478024"/>
            <a:ext cx="164592" cy="164592"/>
          </a:xfrm>
          <a:prstGeom prst="ellipse">
            <a:avLst/>
          </a:prstGeom>
          <a:solidFill>
            <a:srgbClr val="F5A623"/>
          </a:solidFill>
          <a:ln w="19050">
            <a:solidFill>
              <a:srgbClr val="FFFFFF"/>
            </a:solidFill>
            <a:prstDash val="solid"/>
          </a:ln>
        </p:spPr>
      </p:sp>
      <p:sp>
        <p:nvSpPr>
          <p:cNvPr id="12" name="Text 10"/>
          <p:cNvSpPr/>
          <p:nvPr/>
        </p:nvSpPr>
        <p:spPr>
          <a:xfrm>
            <a:off x="1161288" y="2423160"/>
            <a:ext cx="502920" cy="347472"/>
          </a:xfrm>
          <a:prstGeom prst="rect">
            <a:avLst/>
          </a:prstGeom>
          <a:noFill/>
          <a:ln/>
        </p:spPr>
        <p:txBody>
          <a:bodyPr wrap="square" lIns="0" tIns="0" rIns="0" bIns="0" rtlCol="0" anchor="ctr"/>
          <a:lstStyle/>
          <a:p>
            <a:pPr marL="0" indent="0">
              <a:buNone/>
            </a:pPr>
            <a:r>
              <a:rPr lang="en-US" sz="1000" b="1" dirty="0">
                <a:solidFill>
                  <a:srgbClr val="F5A623"/>
                </a:solidFill>
                <a:latin typeface="Courier New" pitchFamily="34" charset="0"/>
                <a:ea typeface="Courier New" pitchFamily="34" charset="-122"/>
                <a:cs typeface="Courier New" pitchFamily="34" charset="-120"/>
              </a:rPr>
              <a:t>C3</a:t>
            </a:r>
            <a:endParaRPr lang="en-US" sz="1000" dirty="0"/>
          </a:p>
        </p:txBody>
      </p:sp>
      <p:sp>
        <p:nvSpPr>
          <p:cNvPr id="13" name="Text 11"/>
          <p:cNvSpPr/>
          <p:nvPr/>
        </p:nvSpPr>
        <p:spPr>
          <a:xfrm>
            <a:off x="1737360" y="2423160"/>
            <a:ext cx="9738360" cy="347472"/>
          </a:xfrm>
          <a:prstGeom prst="rect">
            <a:avLst/>
          </a:prstGeom>
          <a:noFill/>
          <a:ln/>
        </p:spPr>
        <p:txBody>
          <a:bodyPr wrap="square" lIns="0" tIns="0" rIns="0" bIns="0" rtlCol="0" anchor="ctr"/>
          <a:lstStyle/>
          <a:p>
            <a:pPr marL="0" indent="0">
              <a:buNone/>
            </a:pPr>
            <a:r>
              <a:rPr lang="en-US" sz="1000" dirty="0">
                <a:solidFill>
                  <a:srgbClr val="2D2D2D"/>
                </a:solidFill>
                <a:latin typeface="Calibri" pitchFamily="34" charset="0"/>
                <a:ea typeface="Calibri" pitchFamily="34" charset="-122"/>
                <a:cs typeface="Calibri" pitchFamily="34" charset="-120"/>
              </a:rPr>
              <a:t>CSS : variables, typographie, layout general et styles de base</a:t>
            </a:r>
            <a:endParaRPr lang="en-US" sz="1000" dirty="0"/>
          </a:p>
        </p:txBody>
      </p:sp>
      <p:sp>
        <p:nvSpPr>
          <p:cNvPr id="14" name="Shape 12"/>
          <p:cNvSpPr/>
          <p:nvPr/>
        </p:nvSpPr>
        <p:spPr>
          <a:xfrm>
            <a:off x="877824" y="2935224"/>
            <a:ext cx="164592" cy="164592"/>
          </a:xfrm>
          <a:prstGeom prst="ellipse">
            <a:avLst/>
          </a:prstGeom>
          <a:solidFill>
            <a:srgbClr val="F5A623"/>
          </a:solidFill>
          <a:ln w="19050">
            <a:solidFill>
              <a:srgbClr val="FFFFFF"/>
            </a:solidFill>
            <a:prstDash val="solid"/>
          </a:ln>
        </p:spPr>
      </p:sp>
      <p:sp>
        <p:nvSpPr>
          <p:cNvPr id="15" name="Text 13"/>
          <p:cNvSpPr/>
          <p:nvPr/>
        </p:nvSpPr>
        <p:spPr>
          <a:xfrm>
            <a:off x="1161288" y="2880360"/>
            <a:ext cx="502920" cy="347472"/>
          </a:xfrm>
          <a:prstGeom prst="rect">
            <a:avLst/>
          </a:prstGeom>
          <a:noFill/>
          <a:ln/>
        </p:spPr>
        <p:txBody>
          <a:bodyPr wrap="square" lIns="0" tIns="0" rIns="0" bIns="0" rtlCol="0" anchor="ctr"/>
          <a:lstStyle/>
          <a:p>
            <a:pPr marL="0" indent="0">
              <a:buNone/>
            </a:pPr>
            <a:r>
              <a:rPr lang="en-US" sz="1000" b="1" dirty="0">
                <a:solidFill>
                  <a:srgbClr val="F5A623"/>
                </a:solidFill>
                <a:latin typeface="Courier New" pitchFamily="34" charset="0"/>
                <a:ea typeface="Courier New" pitchFamily="34" charset="-122"/>
                <a:cs typeface="Courier New" pitchFamily="34" charset="-120"/>
              </a:rPr>
              <a:t>C4</a:t>
            </a:r>
            <a:endParaRPr lang="en-US" sz="1000" dirty="0"/>
          </a:p>
        </p:txBody>
      </p:sp>
      <p:sp>
        <p:nvSpPr>
          <p:cNvPr id="16" name="Text 14"/>
          <p:cNvSpPr/>
          <p:nvPr/>
        </p:nvSpPr>
        <p:spPr>
          <a:xfrm>
            <a:off x="1737360" y="2880360"/>
            <a:ext cx="9738360" cy="347472"/>
          </a:xfrm>
          <a:prstGeom prst="rect">
            <a:avLst/>
          </a:prstGeom>
          <a:noFill/>
          <a:ln/>
        </p:spPr>
        <p:txBody>
          <a:bodyPr wrap="square" lIns="0" tIns="0" rIns="0" bIns="0" rtlCol="0" anchor="ctr"/>
          <a:lstStyle/>
          <a:p>
            <a:pPr marL="0" indent="0">
              <a:buNone/>
            </a:pPr>
            <a:r>
              <a:rPr lang="en-US" sz="1000" dirty="0">
                <a:solidFill>
                  <a:srgbClr val="2D2D2D"/>
                </a:solidFill>
                <a:latin typeface="Calibri" pitchFamily="34" charset="0"/>
                <a:ea typeface="Calibri" pitchFamily="34" charset="-122"/>
                <a:cs typeface="Calibri" pitchFamily="34" charset="-120"/>
              </a:rPr>
              <a:t>CSS : Bento Grid, sections hero et categories, effets hover</a:t>
            </a:r>
            <a:endParaRPr lang="en-US" sz="1000" dirty="0"/>
          </a:p>
        </p:txBody>
      </p:sp>
      <p:sp>
        <p:nvSpPr>
          <p:cNvPr id="17" name="Shape 15"/>
          <p:cNvSpPr/>
          <p:nvPr/>
        </p:nvSpPr>
        <p:spPr>
          <a:xfrm>
            <a:off x="877824" y="3392424"/>
            <a:ext cx="164592" cy="164592"/>
          </a:xfrm>
          <a:prstGeom prst="ellipse">
            <a:avLst/>
          </a:prstGeom>
          <a:solidFill>
            <a:srgbClr val="F5A623"/>
          </a:solidFill>
          <a:ln w="19050">
            <a:solidFill>
              <a:srgbClr val="FFFFFF"/>
            </a:solidFill>
            <a:prstDash val="solid"/>
          </a:ln>
        </p:spPr>
      </p:sp>
      <p:sp>
        <p:nvSpPr>
          <p:cNvPr id="18" name="Text 16"/>
          <p:cNvSpPr/>
          <p:nvPr/>
        </p:nvSpPr>
        <p:spPr>
          <a:xfrm>
            <a:off x="1161288" y="3337560"/>
            <a:ext cx="502920" cy="347472"/>
          </a:xfrm>
          <a:prstGeom prst="rect">
            <a:avLst/>
          </a:prstGeom>
          <a:noFill/>
          <a:ln/>
        </p:spPr>
        <p:txBody>
          <a:bodyPr wrap="square" lIns="0" tIns="0" rIns="0" bIns="0" rtlCol="0" anchor="ctr"/>
          <a:lstStyle/>
          <a:p>
            <a:pPr marL="0" indent="0">
              <a:buNone/>
            </a:pPr>
            <a:r>
              <a:rPr lang="en-US" sz="1000" b="1" dirty="0">
                <a:solidFill>
                  <a:srgbClr val="F5A623"/>
                </a:solidFill>
                <a:latin typeface="Courier New" pitchFamily="34" charset="0"/>
                <a:ea typeface="Courier New" pitchFamily="34" charset="-122"/>
                <a:cs typeface="Courier New" pitchFamily="34" charset="-120"/>
              </a:rPr>
              <a:t>C5</a:t>
            </a:r>
            <a:endParaRPr lang="en-US" sz="1000" dirty="0"/>
          </a:p>
        </p:txBody>
      </p:sp>
      <p:sp>
        <p:nvSpPr>
          <p:cNvPr id="19" name="Text 17"/>
          <p:cNvSpPr/>
          <p:nvPr/>
        </p:nvSpPr>
        <p:spPr>
          <a:xfrm>
            <a:off x="1737360" y="3337560"/>
            <a:ext cx="9738360" cy="347472"/>
          </a:xfrm>
          <a:prstGeom prst="rect">
            <a:avLst/>
          </a:prstGeom>
          <a:noFill/>
          <a:ln/>
        </p:spPr>
        <p:txBody>
          <a:bodyPr wrap="square" lIns="0" tIns="0" rIns="0" bIns="0" rtlCol="0" anchor="ctr"/>
          <a:lstStyle/>
          <a:p>
            <a:pPr marL="0" indent="0">
              <a:buNone/>
            </a:pPr>
            <a:r>
              <a:rPr lang="en-US" sz="1000" dirty="0">
                <a:solidFill>
                  <a:srgbClr val="2D2D2D"/>
                </a:solidFill>
                <a:latin typeface="Calibri" pitchFamily="34" charset="0"/>
                <a:ea typeface="Calibri" pitchFamily="34" charset="-122"/>
                <a:cs typeface="Calibri" pitchFamily="34" charset="-120"/>
              </a:rPr>
              <a:t>CSS : responsive design mobile et tablette, media queries</a:t>
            </a:r>
            <a:endParaRPr lang="en-US" sz="1000" dirty="0"/>
          </a:p>
        </p:txBody>
      </p:sp>
      <p:sp>
        <p:nvSpPr>
          <p:cNvPr id="20" name="Shape 18"/>
          <p:cNvSpPr/>
          <p:nvPr/>
        </p:nvSpPr>
        <p:spPr>
          <a:xfrm>
            <a:off x="877824" y="3849624"/>
            <a:ext cx="164592" cy="164592"/>
          </a:xfrm>
          <a:prstGeom prst="ellipse">
            <a:avLst/>
          </a:prstGeom>
          <a:solidFill>
            <a:srgbClr val="F5A623"/>
          </a:solidFill>
          <a:ln w="19050">
            <a:solidFill>
              <a:srgbClr val="FFFFFF"/>
            </a:solidFill>
            <a:prstDash val="solid"/>
          </a:ln>
        </p:spPr>
      </p:sp>
      <p:sp>
        <p:nvSpPr>
          <p:cNvPr id="21" name="Text 19"/>
          <p:cNvSpPr/>
          <p:nvPr/>
        </p:nvSpPr>
        <p:spPr>
          <a:xfrm>
            <a:off x="1161288" y="3794760"/>
            <a:ext cx="502920" cy="347472"/>
          </a:xfrm>
          <a:prstGeom prst="rect">
            <a:avLst/>
          </a:prstGeom>
          <a:noFill/>
          <a:ln/>
        </p:spPr>
        <p:txBody>
          <a:bodyPr wrap="square" lIns="0" tIns="0" rIns="0" bIns="0" rtlCol="0" anchor="ctr"/>
          <a:lstStyle/>
          <a:p>
            <a:pPr marL="0" indent="0">
              <a:buNone/>
            </a:pPr>
            <a:r>
              <a:rPr lang="en-US" sz="1000" b="1" dirty="0">
                <a:solidFill>
                  <a:srgbClr val="F5A623"/>
                </a:solidFill>
                <a:latin typeface="Courier New" pitchFamily="34" charset="0"/>
                <a:ea typeface="Courier New" pitchFamily="34" charset="-122"/>
                <a:cs typeface="Courier New" pitchFamily="34" charset="-120"/>
              </a:rPr>
              <a:t>C6</a:t>
            </a:r>
            <a:endParaRPr lang="en-US" sz="1000" dirty="0"/>
          </a:p>
        </p:txBody>
      </p:sp>
      <p:sp>
        <p:nvSpPr>
          <p:cNvPr id="22" name="Text 20"/>
          <p:cNvSpPr/>
          <p:nvPr/>
        </p:nvSpPr>
        <p:spPr>
          <a:xfrm>
            <a:off x="1737360" y="3794760"/>
            <a:ext cx="9738360" cy="347472"/>
          </a:xfrm>
          <a:prstGeom prst="rect">
            <a:avLst/>
          </a:prstGeom>
          <a:noFill/>
          <a:ln/>
        </p:spPr>
        <p:txBody>
          <a:bodyPr wrap="square" lIns="0" tIns="0" rIns="0" bIns="0" rtlCol="0" anchor="ctr"/>
          <a:lstStyle/>
          <a:p>
            <a:pPr marL="0" indent="0">
              <a:buNone/>
            </a:pPr>
            <a:r>
              <a:rPr lang="en-US" sz="1000" dirty="0">
                <a:solidFill>
                  <a:srgbClr val="2D2D2D"/>
                </a:solidFill>
                <a:latin typeface="Calibri" pitchFamily="34" charset="0"/>
                <a:ea typeface="Calibri" pitchFamily="34" charset="-122"/>
                <a:cs typeface="Calibri" pitchFamily="34" charset="-120"/>
              </a:rPr>
              <a:t>JS : dark mode avec localStorage, navbar dynamique au scroll</a:t>
            </a:r>
            <a:endParaRPr lang="en-US" sz="1000" dirty="0"/>
          </a:p>
        </p:txBody>
      </p:sp>
      <p:sp>
        <p:nvSpPr>
          <p:cNvPr id="23" name="Shape 21"/>
          <p:cNvSpPr/>
          <p:nvPr/>
        </p:nvSpPr>
        <p:spPr>
          <a:xfrm>
            <a:off x="877824" y="4306824"/>
            <a:ext cx="164592" cy="164592"/>
          </a:xfrm>
          <a:prstGeom prst="ellipse">
            <a:avLst/>
          </a:prstGeom>
          <a:solidFill>
            <a:srgbClr val="F5A623"/>
          </a:solidFill>
          <a:ln w="19050">
            <a:solidFill>
              <a:srgbClr val="FFFFFF"/>
            </a:solidFill>
            <a:prstDash val="solid"/>
          </a:ln>
        </p:spPr>
      </p:sp>
      <p:sp>
        <p:nvSpPr>
          <p:cNvPr id="24" name="Text 22"/>
          <p:cNvSpPr/>
          <p:nvPr/>
        </p:nvSpPr>
        <p:spPr>
          <a:xfrm>
            <a:off x="1161288" y="4251960"/>
            <a:ext cx="502920" cy="347472"/>
          </a:xfrm>
          <a:prstGeom prst="rect">
            <a:avLst/>
          </a:prstGeom>
          <a:noFill/>
          <a:ln/>
        </p:spPr>
        <p:txBody>
          <a:bodyPr wrap="square" lIns="0" tIns="0" rIns="0" bIns="0" rtlCol="0" anchor="ctr"/>
          <a:lstStyle/>
          <a:p>
            <a:pPr marL="0" indent="0">
              <a:buNone/>
            </a:pPr>
            <a:r>
              <a:rPr lang="en-US" sz="1000" b="1" dirty="0">
                <a:solidFill>
                  <a:srgbClr val="F5A623"/>
                </a:solidFill>
                <a:latin typeface="Courier New" pitchFamily="34" charset="0"/>
                <a:ea typeface="Courier New" pitchFamily="34" charset="-122"/>
                <a:cs typeface="Courier New" pitchFamily="34" charset="-120"/>
              </a:rPr>
              <a:t>C7</a:t>
            </a:r>
            <a:endParaRPr lang="en-US" sz="1000" dirty="0"/>
          </a:p>
        </p:txBody>
      </p:sp>
      <p:sp>
        <p:nvSpPr>
          <p:cNvPr id="25" name="Text 23"/>
          <p:cNvSpPr/>
          <p:nvPr/>
        </p:nvSpPr>
        <p:spPr>
          <a:xfrm>
            <a:off x="1737360" y="4251960"/>
            <a:ext cx="9738360" cy="347472"/>
          </a:xfrm>
          <a:prstGeom prst="rect">
            <a:avLst/>
          </a:prstGeom>
          <a:noFill/>
          <a:ln/>
        </p:spPr>
        <p:txBody>
          <a:bodyPr wrap="square" lIns="0" tIns="0" rIns="0" bIns="0" rtlCol="0" anchor="ctr"/>
          <a:lstStyle/>
          <a:p>
            <a:pPr marL="0" indent="0">
              <a:buNone/>
            </a:pPr>
            <a:r>
              <a:rPr lang="en-US" sz="1000" dirty="0">
                <a:solidFill>
                  <a:srgbClr val="2D2D2D"/>
                </a:solidFill>
                <a:latin typeface="Calibri" pitchFamily="34" charset="0"/>
                <a:ea typeface="Calibri" pitchFamily="34" charset="-122"/>
                <a:cs typeface="Calibri" pitchFamily="34" charset="-120"/>
              </a:rPr>
              <a:t>JS : compteurs animes au scroll et animations fade-in des sections</a:t>
            </a:r>
            <a:endParaRPr lang="en-US" sz="1000" dirty="0"/>
          </a:p>
        </p:txBody>
      </p:sp>
      <p:sp>
        <p:nvSpPr>
          <p:cNvPr id="26" name="Shape 24"/>
          <p:cNvSpPr/>
          <p:nvPr/>
        </p:nvSpPr>
        <p:spPr>
          <a:xfrm>
            <a:off x="877824" y="4764024"/>
            <a:ext cx="164592" cy="164592"/>
          </a:xfrm>
          <a:prstGeom prst="ellipse">
            <a:avLst/>
          </a:prstGeom>
          <a:solidFill>
            <a:srgbClr val="F5A623"/>
          </a:solidFill>
          <a:ln w="19050">
            <a:solidFill>
              <a:srgbClr val="FFFFFF"/>
            </a:solidFill>
            <a:prstDash val="solid"/>
          </a:ln>
        </p:spPr>
      </p:sp>
      <p:sp>
        <p:nvSpPr>
          <p:cNvPr id="27" name="Text 25"/>
          <p:cNvSpPr/>
          <p:nvPr/>
        </p:nvSpPr>
        <p:spPr>
          <a:xfrm>
            <a:off x="1161288" y="4709160"/>
            <a:ext cx="502920" cy="347472"/>
          </a:xfrm>
          <a:prstGeom prst="rect">
            <a:avLst/>
          </a:prstGeom>
          <a:noFill/>
          <a:ln/>
        </p:spPr>
        <p:txBody>
          <a:bodyPr wrap="square" lIns="0" tIns="0" rIns="0" bIns="0" rtlCol="0" anchor="ctr"/>
          <a:lstStyle/>
          <a:p>
            <a:pPr marL="0" indent="0">
              <a:buNone/>
            </a:pPr>
            <a:r>
              <a:rPr lang="en-US" sz="1000" b="1" dirty="0">
                <a:solidFill>
                  <a:srgbClr val="F5A623"/>
                </a:solidFill>
                <a:latin typeface="Courier New" pitchFamily="34" charset="0"/>
                <a:ea typeface="Courier New" pitchFamily="34" charset="-122"/>
                <a:cs typeface="Courier New" pitchFamily="34" charset="-120"/>
              </a:rPr>
              <a:t>C8</a:t>
            </a:r>
            <a:endParaRPr lang="en-US" sz="1000" dirty="0"/>
          </a:p>
        </p:txBody>
      </p:sp>
      <p:sp>
        <p:nvSpPr>
          <p:cNvPr id="28" name="Text 26"/>
          <p:cNvSpPr/>
          <p:nvPr/>
        </p:nvSpPr>
        <p:spPr>
          <a:xfrm>
            <a:off x="1737360" y="4709160"/>
            <a:ext cx="9738360" cy="347472"/>
          </a:xfrm>
          <a:prstGeom prst="rect">
            <a:avLst/>
          </a:prstGeom>
          <a:noFill/>
          <a:ln/>
        </p:spPr>
        <p:txBody>
          <a:bodyPr wrap="square" lIns="0" tIns="0" rIns="0" bIns="0" rtlCol="0" anchor="ctr"/>
          <a:lstStyle/>
          <a:p>
            <a:pPr marL="0" indent="0">
              <a:buNone/>
            </a:pPr>
            <a:r>
              <a:rPr lang="en-US" sz="1000" dirty="0">
                <a:solidFill>
                  <a:srgbClr val="2D2D2D"/>
                </a:solidFill>
                <a:latin typeface="Calibri" pitchFamily="34" charset="0"/>
                <a:ea typeface="Calibri" pitchFamily="34" charset="-122"/>
                <a:cs typeface="Calibri" pitchFamily="34" charset="-120"/>
              </a:rPr>
              <a:t>JS : filtrage dynamique des freelances et validation du formulaire</a:t>
            </a:r>
            <a:endParaRPr lang="en-US" sz="1000" dirty="0"/>
          </a:p>
        </p:txBody>
      </p:sp>
      <p:sp>
        <p:nvSpPr>
          <p:cNvPr id="29" name="Shape 27"/>
          <p:cNvSpPr/>
          <p:nvPr/>
        </p:nvSpPr>
        <p:spPr>
          <a:xfrm>
            <a:off x="877824" y="5221224"/>
            <a:ext cx="164592" cy="164592"/>
          </a:xfrm>
          <a:prstGeom prst="ellipse">
            <a:avLst/>
          </a:prstGeom>
          <a:solidFill>
            <a:srgbClr val="F5A623"/>
          </a:solidFill>
          <a:ln w="19050">
            <a:solidFill>
              <a:srgbClr val="FFFFFF"/>
            </a:solidFill>
            <a:prstDash val="solid"/>
          </a:ln>
        </p:spPr>
      </p:sp>
      <p:sp>
        <p:nvSpPr>
          <p:cNvPr id="30" name="Text 28"/>
          <p:cNvSpPr/>
          <p:nvPr/>
        </p:nvSpPr>
        <p:spPr>
          <a:xfrm>
            <a:off x="1161288" y="5166360"/>
            <a:ext cx="502920" cy="347472"/>
          </a:xfrm>
          <a:prstGeom prst="rect">
            <a:avLst/>
          </a:prstGeom>
          <a:noFill/>
          <a:ln/>
        </p:spPr>
        <p:txBody>
          <a:bodyPr wrap="square" lIns="0" tIns="0" rIns="0" bIns="0" rtlCol="0" anchor="ctr"/>
          <a:lstStyle/>
          <a:p>
            <a:pPr marL="0" indent="0">
              <a:buNone/>
            </a:pPr>
            <a:r>
              <a:rPr lang="en-US" sz="1000" b="1" dirty="0">
                <a:solidFill>
                  <a:srgbClr val="F5A623"/>
                </a:solidFill>
                <a:latin typeface="Courier New" pitchFamily="34" charset="0"/>
                <a:ea typeface="Courier New" pitchFamily="34" charset="-122"/>
                <a:cs typeface="Courier New" pitchFamily="34" charset="-120"/>
              </a:rPr>
              <a:t>C9</a:t>
            </a:r>
            <a:endParaRPr lang="en-US" sz="1000" dirty="0"/>
          </a:p>
        </p:txBody>
      </p:sp>
      <p:sp>
        <p:nvSpPr>
          <p:cNvPr id="31" name="Text 29"/>
          <p:cNvSpPr/>
          <p:nvPr/>
        </p:nvSpPr>
        <p:spPr>
          <a:xfrm>
            <a:off x="1737360" y="5166360"/>
            <a:ext cx="9738360" cy="347472"/>
          </a:xfrm>
          <a:prstGeom prst="rect">
            <a:avLst/>
          </a:prstGeom>
          <a:noFill/>
          <a:ln/>
        </p:spPr>
        <p:txBody>
          <a:bodyPr wrap="square" lIns="0" tIns="0" rIns="0" bIns="0" rtlCol="0" anchor="ctr"/>
          <a:lstStyle/>
          <a:p>
            <a:pPr marL="0" indent="0">
              <a:buNone/>
            </a:pPr>
            <a:r>
              <a:rPr lang="en-US" sz="1000" dirty="0">
                <a:solidFill>
                  <a:srgbClr val="2D2D2D"/>
                </a:solidFill>
                <a:latin typeface="Calibri" pitchFamily="34" charset="0"/>
                <a:ea typeface="Calibri" pitchFamily="34" charset="-122"/>
                <a:cs typeface="Calibri" pitchFamily="34" charset="-120"/>
              </a:rPr>
              <a:t>Finalisation : corrections responsive, optimisation du code et commentaires</a:t>
            </a:r>
            <a:endParaRPr lang="en-US" sz="1000" dirty="0"/>
          </a:p>
        </p:txBody>
      </p:sp>
      <p:sp>
        <p:nvSpPr>
          <p:cNvPr id="32" name="Shape 30"/>
          <p:cNvSpPr/>
          <p:nvPr/>
        </p:nvSpPr>
        <p:spPr>
          <a:xfrm>
            <a:off x="877824" y="5678424"/>
            <a:ext cx="164592" cy="164592"/>
          </a:xfrm>
          <a:prstGeom prst="ellipse">
            <a:avLst/>
          </a:prstGeom>
          <a:solidFill>
            <a:srgbClr val="F5A623"/>
          </a:solidFill>
          <a:ln w="19050">
            <a:solidFill>
              <a:srgbClr val="FFFFFF"/>
            </a:solidFill>
            <a:prstDash val="solid"/>
          </a:ln>
        </p:spPr>
      </p:sp>
      <p:sp>
        <p:nvSpPr>
          <p:cNvPr id="33" name="Text 31"/>
          <p:cNvSpPr/>
          <p:nvPr/>
        </p:nvSpPr>
        <p:spPr>
          <a:xfrm>
            <a:off x="1161288" y="5623560"/>
            <a:ext cx="502920" cy="347472"/>
          </a:xfrm>
          <a:prstGeom prst="rect">
            <a:avLst/>
          </a:prstGeom>
          <a:noFill/>
          <a:ln/>
        </p:spPr>
        <p:txBody>
          <a:bodyPr wrap="square" lIns="0" tIns="0" rIns="0" bIns="0" rtlCol="0" anchor="ctr"/>
          <a:lstStyle/>
          <a:p>
            <a:pPr marL="0" indent="0">
              <a:buNone/>
            </a:pPr>
            <a:r>
              <a:rPr lang="en-US" sz="1000" b="1" dirty="0">
                <a:solidFill>
                  <a:srgbClr val="F5A623"/>
                </a:solidFill>
                <a:latin typeface="Courier New" pitchFamily="34" charset="0"/>
                <a:ea typeface="Courier New" pitchFamily="34" charset="-122"/>
                <a:cs typeface="Courier New" pitchFamily="34" charset="-120"/>
              </a:rPr>
              <a:t>C10</a:t>
            </a:r>
            <a:endParaRPr lang="en-US" sz="1000" dirty="0"/>
          </a:p>
        </p:txBody>
      </p:sp>
      <p:sp>
        <p:nvSpPr>
          <p:cNvPr id="34" name="Text 32"/>
          <p:cNvSpPr/>
          <p:nvPr/>
        </p:nvSpPr>
        <p:spPr>
          <a:xfrm>
            <a:off x="1737360" y="5623560"/>
            <a:ext cx="9738360" cy="347472"/>
          </a:xfrm>
          <a:prstGeom prst="rect">
            <a:avLst/>
          </a:prstGeom>
          <a:noFill/>
          <a:ln/>
        </p:spPr>
        <p:txBody>
          <a:bodyPr wrap="square" lIns="0" tIns="0" rIns="0" bIns="0" rtlCol="0" anchor="ctr"/>
          <a:lstStyle/>
          <a:p>
            <a:pPr marL="0" indent="0">
              <a:buNone/>
            </a:pPr>
            <a:r>
              <a:rPr lang="en-US" sz="1000" dirty="0">
                <a:solidFill>
                  <a:srgbClr val="2D2D2D"/>
                </a:solidFill>
                <a:latin typeface="Calibri" pitchFamily="34" charset="0"/>
                <a:ea typeface="Calibri" pitchFamily="34" charset="-122"/>
                <a:cs typeface="Calibri" pitchFamily="34" charset="-120"/>
              </a:rPr>
              <a:t>Deploiement : GitHub Pages active, README finalise et presentation ajoutee</a:t>
            </a:r>
            <a:endParaRPr lang="en-US" sz="1000" dirty="0"/>
          </a:p>
        </p:txBody>
      </p:sp>
      <p:sp>
        <p:nvSpPr>
          <p:cNvPr id="35" name="Shape 33"/>
          <p:cNvSpPr/>
          <p:nvPr/>
        </p:nvSpPr>
        <p:spPr>
          <a:xfrm>
            <a:off x="640080" y="6172200"/>
            <a:ext cx="10881360" cy="502920"/>
          </a:xfrm>
          <a:prstGeom prst="roundRect">
            <a:avLst>
              <a:gd name="adj" fmla="val 10909"/>
            </a:avLst>
          </a:prstGeom>
          <a:solidFill>
            <a:srgbClr val="1A1A2E"/>
          </a:solidFill>
          <a:ln/>
        </p:spPr>
      </p:sp>
      <p:pic>
        <p:nvPicPr>
          <p:cNvPr id="36" name="Image 0" descr="assets/icon-github-fixed.png"/>
          <p:cNvPicPr>
            <a:picLocks noChangeAspect="1"/>
          </p:cNvPicPr>
          <p:nvPr/>
        </p:nvPicPr>
        <p:blipFill>
          <a:blip r:embed="rId3"/>
          <a:stretch>
            <a:fillRect/>
          </a:stretch>
        </p:blipFill>
        <p:spPr>
          <a:xfrm>
            <a:off x="804672" y="6263640"/>
            <a:ext cx="292608" cy="292608"/>
          </a:xfrm>
          <a:prstGeom prst="rect">
            <a:avLst/>
          </a:prstGeom>
        </p:spPr>
      </p:pic>
      <p:sp>
        <p:nvSpPr>
          <p:cNvPr id="37" name="Text 34"/>
          <p:cNvSpPr/>
          <p:nvPr/>
        </p:nvSpPr>
        <p:spPr>
          <a:xfrm>
            <a:off x="1234440" y="6236208"/>
            <a:ext cx="10058400" cy="347472"/>
          </a:xfrm>
          <a:prstGeom prst="rect">
            <a:avLst/>
          </a:prstGeom>
          <a:noFill/>
          <a:ln/>
        </p:spPr>
        <p:txBody>
          <a:bodyPr wrap="square" lIns="0" tIns="0" rIns="0" bIns="0" rtlCol="0" anchor="ctr"/>
          <a:lstStyle/>
          <a:p>
            <a:pPr marL="0" indent="0">
              <a:buNone/>
            </a:pPr>
            <a:r>
              <a:rPr lang="en-US" sz="1250" b="1" dirty="0">
                <a:solidFill>
                  <a:srgbClr val="F5A623"/>
                </a:solidFill>
                <a:latin typeface="Courier New" pitchFamily="34" charset="0"/>
                <a:ea typeface="Courier New" pitchFamily="34" charset="-122"/>
                <a:cs typeface="Courier New" pitchFamily="34" charset="-120"/>
              </a:rPr>
              <a:t>mouhamedoct2005-cmd.github.io/NGUEYE-MOUHAMADOU-MOUSTAPHA-AfriTalent</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47472"/>
            <a:ext cx="8229600" cy="292608"/>
          </a:xfrm>
          <a:prstGeom prst="rect">
            <a:avLst/>
          </a:prstGeom>
          <a:noFill/>
          <a:ln/>
        </p:spPr>
        <p:txBody>
          <a:bodyPr wrap="square" lIns="0" tIns="0" rIns="0" bIns="0" rtlCol="0" anchor="ctr"/>
          <a:lstStyle/>
          <a:p>
            <a:pPr marL="0" indent="0">
              <a:buNone/>
            </a:pPr>
            <a:r>
              <a:rPr lang="en-US" sz="1100" b="1" kern="0" spc="250" dirty="0">
                <a:solidFill>
                  <a:srgbClr val="F5A623"/>
                </a:solidFill>
                <a:latin typeface="Calibri" pitchFamily="34" charset="0"/>
                <a:ea typeface="Calibri" pitchFamily="34" charset="-122"/>
                <a:cs typeface="Calibri" pitchFamily="34" charset="-120"/>
              </a:rPr>
              <a:t>RETOUR D'EXPERIENCE</a:t>
            </a:r>
            <a:endParaRPr lang="en-US" sz="1100" dirty="0"/>
          </a:p>
        </p:txBody>
      </p:sp>
      <p:sp>
        <p:nvSpPr>
          <p:cNvPr id="3" name="Text 1"/>
          <p:cNvSpPr/>
          <p:nvPr/>
        </p:nvSpPr>
        <p:spPr>
          <a:xfrm>
            <a:off x="640080" y="658368"/>
            <a:ext cx="9144000" cy="566928"/>
          </a:xfrm>
          <a:prstGeom prst="rect">
            <a:avLst/>
          </a:prstGeom>
          <a:noFill/>
          <a:ln/>
        </p:spPr>
        <p:txBody>
          <a:bodyPr wrap="square" lIns="0" tIns="0" rIns="0" bIns="0" rtlCol="0" anchor="ctr"/>
          <a:lstStyle/>
          <a:p>
            <a:pPr marL="0" indent="0">
              <a:buNone/>
            </a:pPr>
            <a:r>
              <a:rPr lang="en-US" sz="2800" b="1" dirty="0">
                <a:solidFill>
                  <a:srgbClr val="1A1A2E"/>
                </a:solidFill>
                <a:latin typeface="Bookman Old Style" pitchFamily="34" charset="0"/>
                <a:ea typeface="Bookman Old Style" pitchFamily="34" charset="-122"/>
                <a:cs typeface="Bookman Old Style" pitchFamily="34" charset="-120"/>
              </a:rPr>
              <a:t>Difficultes &amp; solutions</a:t>
            </a:r>
            <a:endParaRPr lang="en-US" sz="2800" dirty="0"/>
          </a:p>
        </p:txBody>
      </p:sp>
      <p:sp>
        <p:nvSpPr>
          <p:cNvPr id="4" name="Shape 2"/>
          <p:cNvSpPr/>
          <p:nvPr/>
        </p:nvSpPr>
        <p:spPr>
          <a:xfrm>
            <a:off x="640080" y="1481328"/>
            <a:ext cx="10881360" cy="1234440"/>
          </a:xfrm>
          <a:prstGeom prst="roundRect">
            <a:avLst>
              <a:gd name="adj" fmla="val 5185"/>
            </a:avLst>
          </a:prstGeom>
          <a:solidFill>
            <a:srgbClr val="F9F9F9"/>
          </a:solidFill>
          <a:ln w="12700">
            <a:solidFill>
              <a:srgbClr val="E5E7EB"/>
            </a:solidFill>
            <a:prstDash val="solid"/>
          </a:ln>
        </p:spPr>
      </p:sp>
      <p:sp>
        <p:nvSpPr>
          <p:cNvPr id="5" name="Shape 3"/>
          <p:cNvSpPr/>
          <p:nvPr/>
        </p:nvSpPr>
        <p:spPr>
          <a:xfrm>
            <a:off x="795528" y="1682496"/>
            <a:ext cx="384048" cy="384048"/>
          </a:xfrm>
          <a:prstGeom prst="ellipse">
            <a:avLst/>
          </a:prstGeom>
          <a:solidFill>
            <a:srgbClr val="1A1A2E"/>
          </a:solidFill>
          <a:ln/>
        </p:spPr>
      </p:sp>
      <p:sp>
        <p:nvSpPr>
          <p:cNvPr id="6" name="Text 4"/>
          <p:cNvSpPr/>
          <p:nvPr/>
        </p:nvSpPr>
        <p:spPr>
          <a:xfrm>
            <a:off x="795528" y="1682496"/>
            <a:ext cx="384048" cy="384048"/>
          </a:xfrm>
          <a:prstGeom prst="rect">
            <a:avLst/>
          </a:prstGeom>
          <a:noFill/>
          <a:ln/>
        </p:spPr>
        <p:txBody>
          <a:bodyPr wrap="square" lIns="0" tIns="0" rIns="0" bIns="0" rtlCol="0" anchor="ctr"/>
          <a:lstStyle/>
          <a:p>
            <a:pPr marL="0" indent="0" algn="ctr">
              <a:buNone/>
            </a:pPr>
            <a:r>
              <a:rPr lang="en-US" sz="1300" b="1" dirty="0">
                <a:solidFill>
                  <a:srgbClr val="F5A623"/>
                </a:solidFill>
                <a:latin typeface="Bookman Old Style" pitchFamily="34" charset="0"/>
                <a:ea typeface="Bookman Old Style" pitchFamily="34" charset="-122"/>
                <a:cs typeface="Bookman Old Style" pitchFamily="34" charset="-120"/>
              </a:rPr>
              <a:t>1</a:t>
            </a:r>
            <a:endParaRPr lang="en-US" sz="1300" dirty="0"/>
          </a:p>
        </p:txBody>
      </p:sp>
      <p:sp>
        <p:nvSpPr>
          <p:cNvPr id="7" name="Text 5"/>
          <p:cNvSpPr/>
          <p:nvPr/>
        </p:nvSpPr>
        <p:spPr>
          <a:xfrm>
            <a:off x="1325880" y="1554480"/>
            <a:ext cx="9966960" cy="292608"/>
          </a:xfrm>
          <a:prstGeom prst="rect">
            <a:avLst/>
          </a:prstGeom>
          <a:noFill/>
          <a:ln/>
        </p:spPr>
        <p:txBody>
          <a:bodyPr wrap="square" lIns="0" tIns="0" rIns="0" bIns="0" rtlCol="0" anchor="ctr"/>
          <a:lstStyle/>
          <a:p>
            <a:pPr marL="0" indent="0">
              <a:buNone/>
            </a:pPr>
            <a:r>
              <a:rPr lang="en-US" sz="1250" b="1" dirty="0">
                <a:solidFill>
                  <a:srgbClr val="1A1A2E"/>
                </a:solidFill>
                <a:latin typeface="Calibri" pitchFamily="34" charset="0"/>
                <a:ea typeface="Calibri" pitchFamily="34" charset="-122"/>
                <a:cs typeface="Calibri" pitchFamily="34" charset="-120"/>
              </a:rPr>
              <a:t>Bootstrap ecrasait le dark mode</a:t>
            </a:r>
            <a:endParaRPr lang="en-US" sz="1250" dirty="0"/>
          </a:p>
        </p:txBody>
      </p:sp>
      <p:sp>
        <p:nvSpPr>
          <p:cNvPr id="8" name="Text 6"/>
          <p:cNvSpPr/>
          <p:nvPr/>
        </p:nvSpPr>
        <p:spPr>
          <a:xfrm>
            <a:off x="1325880" y="1874520"/>
            <a:ext cx="4846320" cy="749808"/>
          </a:xfrm>
          <a:prstGeom prst="rect">
            <a:avLst/>
          </a:prstGeom>
          <a:noFill/>
          <a:ln/>
        </p:spPr>
        <p:txBody>
          <a:bodyPr wrap="square" lIns="0" tIns="0" rIns="0" bIns="0" rtlCol="0" anchor="ctr"/>
          <a:lstStyle/>
          <a:p>
            <a:pPr marL="0" indent="0">
              <a:lnSpc>
                <a:spcPct val="115000"/>
              </a:lnSpc>
              <a:buNone/>
            </a:pPr>
            <a:r>
              <a:rPr lang="en-US" sz="950" dirty="0">
                <a:solidFill>
                  <a:srgbClr val="6B7280"/>
                </a:solidFill>
                <a:latin typeface="Calibri" pitchFamily="34" charset="0"/>
                <a:ea typeface="Calibri" pitchFamily="34" charset="-122"/>
                <a:cs typeface="Calibri" pitchFamily="34" charset="-120"/>
              </a:rPr>
              <a:t>Probleme : Bootstrap impose background-color:#fff sur .card et .card-body avec une specificite elevee. Simple body.dark-mode .card sans !important etait ignore.</a:t>
            </a:r>
            <a:endParaRPr lang="en-US" sz="950" dirty="0"/>
          </a:p>
        </p:txBody>
      </p:sp>
      <p:sp>
        <p:nvSpPr>
          <p:cNvPr id="9" name="Text 7"/>
          <p:cNvSpPr/>
          <p:nvPr/>
        </p:nvSpPr>
        <p:spPr>
          <a:xfrm>
            <a:off x="6400800" y="1874520"/>
            <a:ext cx="4937760" cy="749808"/>
          </a:xfrm>
          <a:prstGeom prst="rect">
            <a:avLst/>
          </a:prstGeom>
          <a:noFill/>
          <a:ln/>
        </p:spPr>
        <p:txBody>
          <a:bodyPr wrap="square" lIns="0" tIns="0" rIns="0" bIns="0" rtlCol="0" anchor="ctr"/>
          <a:lstStyle/>
          <a:p>
            <a:pPr marL="0" indent="0">
              <a:lnSpc>
                <a:spcPct val="115000"/>
              </a:lnSpc>
              <a:buNone/>
            </a:pPr>
            <a:r>
              <a:rPr lang="en-US" sz="950" dirty="0">
                <a:solidFill>
                  <a:srgbClr val="16A34A"/>
                </a:solidFill>
                <a:latin typeface="Calibri" pitchFamily="34" charset="0"/>
                <a:ea typeface="Calibri" pitchFamily="34" charset="-122"/>
                <a:cs typeface="Calibri" pitchFamily="34" charset="-120"/>
              </a:rPr>
              <a:t>Solution : Cibler specifiquement body.dark-mode .card, body.dark-mode .card-body avec !important pour forcer la couleur sombre.</a:t>
            </a:r>
            <a:endParaRPr lang="en-US" sz="950" dirty="0"/>
          </a:p>
        </p:txBody>
      </p:sp>
      <p:sp>
        <p:nvSpPr>
          <p:cNvPr id="10" name="Shape 8"/>
          <p:cNvSpPr/>
          <p:nvPr/>
        </p:nvSpPr>
        <p:spPr>
          <a:xfrm>
            <a:off x="640080" y="2834640"/>
            <a:ext cx="10881360" cy="1234440"/>
          </a:xfrm>
          <a:prstGeom prst="roundRect">
            <a:avLst>
              <a:gd name="adj" fmla="val 5185"/>
            </a:avLst>
          </a:prstGeom>
          <a:solidFill>
            <a:srgbClr val="FFFFFF"/>
          </a:solidFill>
          <a:ln w="12700">
            <a:solidFill>
              <a:srgbClr val="E5E7EB"/>
            </a:solidFill>
            <a:prstDash val="solid"/>
          </a:ln>
        </p:spPr>
      </p:sp>
      <p:sp>
        <p:nvSpPr>
          <p:cNvPr id="11" name="Shape 9"/>
          <p:cNvSpPr/>
          <p:nvPr/>
        </p:nvSpPr>
        <p:spPr>
          <a:xfrm>
            <a:off x="795528" y="3035808"/>
            <a:ext cx="384048" cy="384048"/>
          </a:xfrm>
          <a:prstGeom prst="ellipse">
            <a:avLst/>
          </a:prstGeom>
          <a:solidFill>
            <a:srgbClr val="1A1A2E"/>
          </a:solidFill>
          <a:ln/>
        </p:spPr>
      </p:sp>
      <p:sp>
        <p:nvSpPr>
          <p:cNvPr id="12" name="Text 10"/>
          <p:cNvSpPr/>
          <p:nvPr/>
        </p:nvSpPr>
        <p:spPr>
          <a:xfrm>
            <a:off x="795528" y="3035808"/>
            <a:ext cx="384048" cy="384048"/>
          </a:xfrm>
          <a:prstGeom prst="rect">
            <a:avLst/>
          </a:prstGeom>
          <a:noFill/>
          <a:ln/>
        </p:spPr>
        <p:txBody>
          <a:bodyPr wrap="square" lIns="0" tIns="0" rIns="0" bIns="0" rtlCol="0" anchor="ctr"/>
          <a:lstStyle/>
          <a:p>
            <a:pPr marL="0" indent="0" algn="ctr">
              <a:buNone/>
            </a:pPr>
            <a:r>
              <a:rPr lang="en-US" sz="1300" b="1" dirty="0">
                <a:solidFill>
                  <a:srgbClr val="F5A623"/>
                </a:solidFill>
                <a:latin typeface="Bookman Old Style" pitchFamily="34" charset="0"/>
                <a:ea typeface="Bookman Old Style" pitchFamily="34" charset="-122"/>
                <a:cs typeface="Bookman Old Style" pitchFamily="34" charset="-120"/>
              </a:rPr>
              <a:t>2</a:t>
            </a:r>
            <a:endParaRPr lang="en-US" sz="1300" dirty="0"/>
          </a:p>
        </p:txBody>
      </p:sp>
      <p:sp>
        <p:nvSpPr>
          <p:cNvPr id="13" name="Text 11"/>
          <p:cNvSpPr/>
          <p:nvPr/>
        </p:nvSpPr>
        <p:spPr>
          <a:xfrm>
            <a:off x="1325880" y="2907792"/>
            <a:ext cx="9966960" cy="292608"/>
          </a:xfrm>
          <a:prstGeom prst="rect">
            <a:avLst/>
          </a:prstGeom>
          <a:noFill/>
          <a:ln/>
        </p:spPr>
        <p:txBody>
          <a:bodyPr wrap="square" lIns="0" tIns="0" rIns="0" bIns="0" rtlCol="0" anchor="ctr"/>
          <a:lstStyle/>
          <a:p>
            <a:pPr marL="0" indent="0">
              <a:buNone/>
            </a:pPr>
            <a:r>
              <a:rPr lang="en-US" sz="1250" b="1" dirty="0">
                <a:solidFill>
                  <a:srgbClr val="1A1A2E"/>
                </a:solidFill>
                <a:latin typeface="Calibri" pitchFamily="34" charset="0"/>
                <a:ea typeface="Calibri" pitchFamily="34" charset="-122"/>
                <a:cs typeface="Calibri" pitchFamily="34" charset="-120"/>
              </a:rPr>
              <a:t>Chemins d'images casses sur GitHub Pages</a:t>
            </a:r>
            <a:endParaRPr lang="en-US" sz="1250" dirty="0"/>
          </a:p>
        </p:txBody>
      </p:sp>
      <p:sp>
        <p:nvSpPr>
          <p:cNvPr id="14" name="Text 12"/>
          <p:cNvSpPr/>
          <p:nvPr/>
        </p:nvSpPr>
        <p:spPr>
          <a:xfrm>
            <a:off x="1325880" y="3227832"/>
            <a:ext cx="4846320" cy="749808"/>
          </a:xfrm>
          <a:prstGeom prst="rect">
            <a:avLst/>
          </a:prstGeom>
          <a:noFill/>
          <a:ln/>
        </p:spPr>
        <p:txBody>
          <a:bodyPr wrap="square" lIns="0" tIns="0" rIns="0" bIns="0" rtlCol="0" anchor="ctr"/>
          <a:lstStyle/>
          <a:p>
            <a:pPr marL="0" indent="0">
              <a:lnSpc>
                <a:spcPct val="115000"/>
              </a:lnSpc>
              <a:buNone/>
            </a:pPr>
            <a:r>
              <a:rPr lang="en-US" sz="950" dirty="0">
                <a:solidFill>
                  <a:srgbClr val="6B7280"/>
                </a:solidFill>
                <a:latin typeface="Calibri" pitchFamily="34" charset="0"/>
                <a:ea typeface="Calibri" pitchFamily="34" charset="-122"/>
                <a:cs typeface="Calibri" pitchFamily="34" charset="-120"/>
              </a:rPr>
              <a:t>Probleme : Les chemins ../image.jpg fonctionnaient avec Live Server mais echouaient une fois deploye car les fichiers etaient en dehors du dossier du projet.</a:t>
            </a:r>
            <a:endParaRPr lang="en-US" sz="950" dirty="0"/>
          </a:p>
        </p:txBody>
      </p:sp>
      <p:sp>
        <p:nvSpPr>
          <p:cNvPr id="15" name="Text 13"/>
          <p:cNvSpPr/>
          <p:nvPr/>
        </p:nvSpPr>
        <p:spPr>
          <a:xfrm>
            <a:off x="6400800" y="3227832"/>
            <a:ext cx="4937760" cy="749808"/>
          </a:xfrm>
          <a:prstGeom prst="rect">
            <a:avLst/>
          </a:prstGeom>
          <a:noFill/>
          <a:ln/>
        </p:spPr>
        <p:txBody>
          <a:bodyPr wrap="square" lIns="0" tIns="0" rIns="0" bIns="0" rtlCol="0" anchor="ctr"/>
          <a:lstStyle/>
          <a:p>
            <a:pPr marL="0" indent="0">
              <a:lnSpc>
                <a:spcPct val="115000"/>
              </a:lnSpc>
              <a:buNone/>
            </a:pPr>
            <a:r>
              <a:rPr lang="en-US" sz="950" dirty="0">
                <a:solidFill>
                  <a:srgbClr val="16A34A"/>
                </a:solidFill>
                <a:latin typeface="Calibri" pitchFamily="34" charset="0"/>
                <a:ea typeface="Calibri" pitchFamily="34" charset="-122"/>
                <a:cs typeface="Calibri" pitchFamily="34" charset="-120"/>
              </a:rPr>
              <a:t>Solution : Deplacer toutes les images dans le dossier /images/ du projet et corriger tous les chemins en images/nom.jpg.</a:t>
            </a:r>
            <a:endParaRPr lang="en-US" sz="950" dirty="0"/>
          </a:p>
        </p:txBody>
      </p:sp>
      <p:sp>
        <p:nvSpPr>
          <p:cNvPr id="16" name="Shape 14"/>
          <p:cNvSpPr/>
          <p:nvPr/>
        </p:nvSpPr>
        <p:spPr>
          <a:xfrm>
            <a:off x="640080" y="4187952"/>
            <a:ext cx="10881360" cy="1234440"/>
          </a:xfrm>
          <a:prstGeom prst="roundRect">
            <a:avLst>
              <a:gd name="adj" fmla="val 5185"/>
            </a:avLst>
          </a:prstGeom>
          <a:solidFill>
            <a:srgbClr val="F9F9F9"/>
          </a:solidFill>
          <a:ln w="12700">
            <a:solidFill>
              <a:srgbClr val="E5E7EB"/>
            </a:solidFill>
            <a:prstDash val="solid"/>
          </a:ln>
        </p:spPr>
      </p:sp>
      <p:sp>
        <p:nvSpPr>
          <p:cNvPr id="17" name="Shape 15"/>
          <p:cNvSpPr/>
          <p:nvPr/>
        </p:nvSpPr>
        <p:spPr>
          <a:xfrm>
            <a:off x="795528" y="4389120"/>
            <a:ext cx="384048" cy="384048"/>
          </a:xfrm>
          <a:prstGeom prst="ellipse">
            <a:avLst/>
          </a:prstGeom>
          <a:solidFill>
            <a:srgbClr val="1A1A2E"/>
          </a:solidFill>
          <a:ln/>
        </p:spPr>
      </p:sp>
      <p:sp>
        <p:nvSpPr>
          <p:cNvPr id="18" name="Text 16"/>
          <p:cNvSpPr/>
          <p:nvPr/>
        </p:nvSpPr>
        <p:spPr>
          <a:xfrm>
            <a:off x="795528" y="4389120"/>
            <a:ext cx="384048" cy="384048"/>
          </a:xfrm>
          <a:prstGeom prst="rect">
            <a:avLst/>
          </a:prstGeom>
          <a:noFill/>
          <a:ln/>
        </p:spPr>
        <p:txBody>
          <a:bodyPr wrap="square" lIns="0" tIns="0" rIns="0" bIns="0" rtlCol="0" anchor="ctr"/>
          <a:lstStyle/>
          <a:p>
            <a:pPr marL="0" indent="0" algn="ctr">
              <a:buNone/>
            </a:pPr>
            <a:r>
              <a:rPr lang="en-US" sz="1300" b="1" dirty="0">
                <a:solidFill>
                  <a:srgbClr val="F5A623"/>
                </a:solidFill>
                <a:latin typeface="Bookman Old Style" pitchFamily="34" charset="0"/>
                <a:ea typeface="Bookman Old Style" pitchFamily="34" charset="-122"/>
                <a:cs typeface="Bookman Old Style" pitchFamily="34" charset="-120"/>
              </a:rPr>
              <a:t>3</a:t>
            </a:r>
            <a:endParaRPr lang="en-US" sz="1300" dirty="0"/>
          </a:p>
        </p:txBody>
      </p:sp>
      <p:sp>
        <p:nvSpPr>
          <p:cNvPr id="19" name="Text 17"/>
          <p:cNvSpPr/>
          <p:nvPr/>
        </p:nvSpPr>
        <p:spPr>
          <a:xfrm>
            <a:off x="1325880" y="4261104"/>
            <a:ext cx="9966960" cy="292608"/>
          </a:xfrm>
          <a:prstGeom prst="rect">
            <a:avLst/>
          </a:prstGeom>
          <a:noFill/>
          <a:ln/>
        </p:spPr>
        <p:txBody>
          <a:bodyPr wrap="square" lIns="0" tIns="0" rIns="0" bIns="0" rtlCol="0" anchor="ctr"/>
          <a:lstStyle/>
          <a:p>
            <a:pPr marL="0" indent="0">
              <a:buNone/>
            </a:pPr>
            <a:r>
              <a:rPr lang="en-US" sz="1250" b="1" dirty="0">
                <a:solidFill>
                  <a:srgbClr val="1A1A2E"/>
                </a:solidFill>
                <a:latin typeface="Calibri" pitchFamily="34" charset="0"/>
                <a:ea typeface="Calibri" pitchFamily="34" charset="-122"/>
                <a:cs typeface="Calibri" pitchFamily="34" charset="-120"/>
              </a:rPr>
              <a:t>Bouton retour en haut invisible</a:t>
            </a:r>
            <a:endParaRPr lang="en-US" sz="1250" dirty="0"/>
          </a:p>
        </p:txBody>
      </p:sp>
      <p:sp>
        <p:nvSpPr>
          <p:cNvPr id="20" name="Text 18"/>
          <p:cNvSpPr/>
          <p:nvPr/>
        </p:nvSpPr>
        <p:spPr>
          <a:xfrm>
            <a:off x="1325880" y="4581144"/>
            <a:ext cx="4846320" cy="749808"/>
          </a:xfrm>
          <a:prstGeom prst="rect">
            <a:avLst/>
          </a:prstGeom>
          <a:noFill/>
          <a:ln/>
        </p:spPr>
        <p:txBody>
          <a:bodyPr wrap="square" lIns="0" tIns="0" rIns="0" bIns="0" rtlCol="0" anchor="ctr"/>
          <a:lstStyle/>
          <a:p>
            <a:pPr marL="0" indent="0">
              <a:lnSpc>
                <a:spcPct val="115000"/>
              </a:lnSpc>
              <a:buNone/>
            </a:pPr>
            <a:r>
              <a:rPr lang="en-US" sz="950" dirty="0">
                <a:solidFill>
                  <a:srgbClr val="6B7280"/>
                </a:solidFill>
                <a:latin typeface="Calibri" pitchFamily="34" charset="0"/>
                <a:ea typeface="Calibri" pitchFamily="34" charset="-122"/>
                <a:cs typeface="Calibri" pitchFamily="34" charset="-120"/>
              </a:rPr>
              <a:t>Probleme : Le style inline display:none ecrit directement dans le HTML avait une priorite superieure aux regles CSS. La classe .visible ajoutee par JS etait ignoree.</a:t>
            </a:r>
            <a:endParaRPr lang="en-US" sz="950" dirty="0"/>
          </a:p>
        </p:txBody>
      </p:sp>
      <p:sp>
        <p:nvSpPr>
          <p:cNvPr id="21" name="Text 19"/>
          <p:cNvSpPr/>
          <p:nvPr/>
        </p:nvSpPr>
        <p:spPr>
          <a:xfrm>
            <a:off x="6400800" y="4581144"/>
            <a:ext cx="4937760" cy="749808"/>
          </a:xfrm>
          <a:prstGeom prst="rect">
            <a:avLst/>
          </a:prstGeom>
          <a:noFill/>
          <a:ln/>
        </p:spPr>
        <p:txBody>
          <a:bodyPr wrap="square" lIns="0" tIns="0" rIns="0" bIns="0" rtlCol="0" anchor="ctr"/>
          <a:lstStyle/>
          <a:p>
            <a:pPr marL="0" indent="0">
              <a:lnSpc>
                <a:spcPct val="115000"/>
              </a:lnSpc>
              <a:buNone/>
            </a:pPr>
            <a:r>
              <a:rPr lang="en-US" sz="950" dirty="0">
                <a:solidFill>
                  <a:srgbClr val="16A34A"/>
                </a:solidFill>
                <a:latin typeface="Calibri" pitchFamily="34" charset="0"/>
                <a:ea typeface="Calibri" pitchFamily="34" charset="-122"/>
                <a:cs typeface="Calibri" pitchFamily="34" charset="-120"/>
              </a:rPr>
              <a:t>Solution : Supprimer le style inline du HTML. Gerer entierement l'affichage via classList.add('visible') et les regles CSS opacity/visibility.</a:t>
            </a:r>
            <a:endParaRPr lang="en-US" sz="950" dirty="0"/>
          </a:p>
        </p:txBody>
      </p:sp>
      <p:sp>
        <p:nvSpPr>
          <p:cNvPr id="22" name="Shape 20"/>
          <p:cNvSpPr/>
          <p:nvPr/>
        </p:nvSpPr>
        <p:spPr>
          <a:xfrm>
            <a:off x="640080" y="5541264"/>
            <a:ext cx="10881360" cy="1234440"/>
          </a:xfrm>
          <a:prstGeom prst="roundRect">
            <a:avLst>
              <a:gd name="adj" fmla="val 5185"/>
            </a:avLst>
          </a:prstGeom>
          <a:solidFill>
            <a:srgbClr val="FFFFFF"/>
          </a:solidFill>
          <a:ln w="12700">
            <a:solidFill>
              <a:srgbClr val="E5E7EB"/>
            </a:solidFill>
            <a:prstDash val="solid"/>
          </a:ln>
        </p:spPr>
      </p:sp>
      <p:sp>
        <p:nvSpPr>
          <p:cNvPr id="23" name="Shape 21"/>
          <p:cNvSpPr/>
          <p:nvPr/>
        </p:nvSpPr>
        <p:spPr>
          <a:xfrm>
            <a:off x="795528" y="5742432"/>
            <a:ext cx="384048" cy="384048"/>
          </a:xfrm>
          <a:prstGeom prst="ellipse">
            <a:avLst/>
          </a:prstGeom>
          <a:solidFill>
            <a:srgbClr val="1A1A2E"/>
          </a:solidFill>
          <a:ln/>
        </p:spPr>
      </p:sp>
      <p:sp>
        <p:nvSpPr>
          <p:cNvPr id="24" name="Text 22"/>
          <p:cNvSpPr/>
          <p:nvPr/>
        </p:nvSpPr>
        <p:spPr>
          <a:xfrm>
            <a:off x="795528" y="5742432"/>
            <a:ext cx="384048" cy="384048"/>
          </a:xfrm>
          <a:prstGeom prst="rect">
            <a:avLst/>
          </a:prstGeom>
          <a:noFill/>
          <a:ln/>
        </p:spPr>
        <p:txBody>
          <a:bodyPr wrap="square" lIns="0" tIns="0" rIns="0" bIns="0" rtlCol="0" anchor="ctr"/>
          <a:lstStyle/>
          <a:p>
            <a:pPr marL="0" indent="0" algn="ctr">
              <a:buNone/>
            </a:pPr>
            <a:r>
              <a:rPr lang="en-US" sz="1300" b="1" dirty="0">
                <a:solidFill>
                  <a:srgbClr val="F5A623"/>
                </a:solidFill>
                <a:latin typeface="Bookman Old Style" pitchFamily="34" charset="0"/>
                <a:ea typeface="Bookman Old Style" pitchFamily="34" charset="-122"/>
                <a:cs typeface="Bookman Old Style" pitchFamily="34" charset="-120"/>
              </a:rPr>
              <a:t>4</a:t>
            </a:r>
            <a:endParaRPr lang="en-US" sz="1300" dirty="0"/>
          </a:p>
        </p:txBody>
      </p:sp>
      <p:sp>
        <p:nvSpPr>
          <p:cNvPr id="25" name="Text 23"/>
          <p:cNvSpPr/>
          <p:nvPr/>
        </p:nvSpPr>
        <p:spPr>
          <a:xfrm>
            <a:off x="1325880" y="5614416"/>
            <a:ext cx="9966960" cy="292608"/>
          </a:xfrm>
          <a:prstGeom prst="rect">
            <a:avLst/>
          </a:prstGeom>
          <a:noFill/>
          <a:ln/>
        </p:spPr>
        <p:txBody>
          <a:bodyPr wrap="square" lIns="0" tIns="0" rIns="0" bIns="0" rtlCol="0" anchor="ctr"/>
          <a:lstStyle/>
          <a:p>
            <a:pPr marL="0" indent="0">
              <a:buNone/>
            </a:pPr>
            <a:r>
              <a:rPr lang="en-US" sz="1250" b="1" dirty="0">
                <a:solidFill>
                  <a:srgbClr val="1A1A2E"/>
                </a:solidFill>
                <a:latin typeface="Calibri" pitchFamily="34" charset="0"/>
                <a:ea typeface="Calibri" pitchFamily="34" charset="-122"/>
                <a:cs typeface="Calibri" pitchFamily="34" charset="-120"/>
              </a:rPr>
              <a:t>Validation nom acceptait des chiffres</a:t>
            </a:r>
            <a:endParaRPr lang="en-US" sz="1250" dirty="0"/>
          </a:p>
        </p:txBody>
      </p:sp>
      <p:sp>
        <p:nvSpPr>
          <p:cNvPr id="26" name="Text 24"/>
          <p:cNvSpPr/>
          <p:nvPr/>
        </p:nvSpPr>
        <p:spPr>
          <a:xfrm>
            <a:off x="1325880" y="5934456"/>
            <a:ext cx="4846320" cy="749808"/>
          </a:xfrm>
          <a:prstGeom prst="rect">
            <a:avLst/>
          </a:prstGeom>
          <a:noFill/>
          <a:ln/>
        </p:spPr>
        <p:txBody>
          <a:bodyPr wrap="square" lIns="0" tIns="0" rIns="0" bIns="0" rtlCol="0" anchor="ctr"/>
          <a:lstStyle/>
          <a:p>
            <a:pPr marL="0" indent="0">
              <a:lnSpc>
                <a:spcPct val="115000"/>
              </a:lnSpc>
              <a:buNone/>
            </a:pPr>
            <a:r>
              <a:rPr lang="en-US" sz="950" dirty="0">
                <a:solidFill>
                  <a:srgbClr val="6B7280"/>
                </a:solidFill>
                <a:latin typeface="Calibri" pitchFamily="34" charset="0"/>
                <a:ea typeface="Calibri" pitchFamily="34" charset="-122"/>
                <a:cs typeface="Calibri" pitchFamily="34" charset="-120"/>
              </a:rPr>
              <a:t>Probleme : La validation initiale verifiait seulement que le champ n'etait pas vide, sans verifier le contenu. Un nom comme 'Jean123' passait sans erreur.</a:t>
            </a:r>
            <a:endParaRPr lang="en-US" sz="950" dirty="0"/>
          </a:p>
        </p:txBody>
      </p:sp>
      <p:sp>
        <p:nvSpPr>
          <p:cNvPr id="27" name="Text 25"/>
          <p:cNvSpPr/>
          <p:nvPr/>
        </p:nvSpPr>
        <p:spPr>
          <a:xfrm>
            <a:off x="6400800" y="5934456"/>
            <a:ext cx="4937760" cy="749808"/>
          </a:xfrm>
          <a:prstGeom prst="rect">
            <a:avLst/>
          </a:prstGeom>
          <a:noFill/>
          <a:ln/>
        </p:spPr>
        <p:txBody>
          <a:bodyPr wrap="square" lIns="0" tIns="0" rIns="0" bIns="0" rtlCol="0" anchor="ctr"/>
          <a:lstStyle/>
          <a:p>
            <a:pPr marL="0" indent="0">
              <a:lnSpc>
                <a:spcPct val="115000"/>
              </a:lnSpc>
              <a:buNone/>
            </a:pPr>
            <a:r>
              <a:rPr lang="en-US" sz="950" dirty="0">
                <a:solidFill>
                  <a:srgbClr val="16A34A"/>
                </a:solidFill>
                <a:latin typeface="Calibri" pitchFamily="34" charset="0"/>
                <a:ea typeface="Calibri" pitchFamily="34" charset="-122"/>
                <a:cs typeface="Calibri" pitchFamily="34" charset="-120"/>
              </a:rPr>
              <a:t>Solution : Ajouter une regex /^[a-zA-ZA-y\s-']+$/ qui n'autorise que les lettres, espaces, tirets et apostrophes.</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47472"/>
            <a:ext cx="8229600" cy="292608"/>
          </a:xfrm>
          <a:prstGeom prst="rect">
            <a:avLst/>
          </a:prstGeom>
          <a:noFill/>
          <a:ln/>
        </p:spPr>
        <p:txBody>
          <a:bodyPr wrap="square" lIns="0" tIns="0" rIns="0" bIns="0" rtlCol="0" anchor="ctr"/>
          <a:lstStyle/>
          <a:p>
            <a:pPr marL="0" indent="0">
              <a:buNone/>
            </a:pPr>
            <a:r>
              <a:rPr lang="en-US" sz="1100" b="1" kern="0" spc="250" dirty="0">
                <a:solidFill>
                  <a:srgbClr val="F5A623"/>
                </a:solidFill>
                <a:latin typeface="Calibri" pitchFamily="34" charset="0"/>
                <a:ea typeface="Calibri" pitchFamily="34" charset="-122"/>
                <a:cs typeface="Calibri" pitchFamily="34" charset="-120"/>
              </a:rPr>
              <a:t>RESSOURCES</a:t>
            </a:r>
            <a:endParaRPr lang="en-US" sz="1100" dirty="0"/>
          </a:p>
        </p:txBody>
      </p:sp>
      <p:sp>
        <p:nvSpPr>
          <p:cNvPr id="3" name="Text 1"/>
          <p:cNvSpPr/>
          <p:nvPr/>
        </p:nvSpPr>
        <p:spPr>
          <a:xfrm>
            <a:off x="640080" y="658368"/>
            <a:ext cx="9144000" cy="566928"/>
          </a:xfrm>
          <a:prstGeom prst="rect">
            <a:avLst/>
          </a:prstGeom>
          <a:noFill/>
          <a:ln/>
        </p:spPr>
        <p:txBody>
          <a:bodyPr wrap="square" lIns="0" tIns="0" rIns="0" bIns="0" rtlCol="0" anchor="ctr"/>
          <a:lstStyle/>
          <a:p>
            <a:pPr marL="0" indent="0">
              <a:buNone/>
            </a:pPr>
            <a:r>
              <a:rPr lang="en-US" sz="2800" b="1" dirty="0">
                <a:solidFill>
                  <a:srgbClr val="1A1A2E"/>
                </a:solidFill>
                <a:latin typeface="Bookman Old Style" pitchFamily="34" charset="0"/>
                <a:ea typeface="Bookman Old Style" pitchFamily="34" charset="-122"/>
                <a:cs typeface="Bookman Old Style" pitchFamily="34" charset="-120"/>
              </a:rPr>
              <a:t>Documentation consultee</a:t>
            </a:r>
            <a:endParaRPr lang="en-US" sz="2800" dirty="0"/>
          </a:p>
        </p:txBody>
      </p:sp>
      <p:sp>
        <p:nvSpPr>
          <p:cNvPr id="4" name="Shape 2"/>
          <p:cNvSpPr/>
          <p:nvPr/>
        </p:nvSpPr>
        <p:spPr>
          <a:xfrm>
            <a:off x="640080" y="1572768"/>
            <a:ext cx="5257800" cy="914400"/>
          </a:xfrm>
          <a:prstGeom prst="roundRect">
            <a:avLst>
              <a:gd name="adj" fmla="val 7000"/>
            </a:avLst>
          </a:prstGeom>
          <a:solidFill>
            <a:srgbClr val="F9F9F9"/>
          </a:solidFill>
          <a:ln/>
        </p:spPr>
      </p:sp>
      <p:sp>
        <p:nvSpPr>
          <p:cNvPr id="5" name="Text 3"/>
          <p:cNvSpPr/>
          <p:nvPr/>
        </p:nvSpPr>
        <p:spPr>
          <a:xfrm>
            <a:off x="868680" y="1682496"/>
            <a:ext cx="4754880" cy="292608"/>
          </a:xfrm>
          <a:prstGeom prst="rect">
            <a:avLst/>
          </a:prstGeom>
          <a:noFill/>
          <a:ln/>
        </p:spPr>
        <p:txBody>
          <a:bodyPr wrap="square" lIns="0" tIns="0" rIns="0" bIns="0" rtlCol="0" anchor="ctr"/>
          <a:lstStyle/>
          <a:p>
            <a:pPr marL="0" indent="0">
              <a:buNone/>
            </a:pPr>
            <a:r>
              <a:rPr lang="en-US" sz="1350" b="1" dirty="0">
                <a:solidFill>
                  <a:srgbClr val="1A1A2E"/>
                </a:solidFill>
                <a:latin typeface="Calibri" pitchFamily="34" charset="0"/>
                <a:ea typeface="Calibri" pitchFamily="34" charset="-122"/>
                <a:cs typeface="Calibri" pitchFamily="34" charset="-120"/>
              </a:rPr>
              <a:t>MDN Web Docs</a:t>
            </a:r>
            <a:endParaRPr lang="en-US" sz="1350" dirty="0"/>
          </a:p>
        </p:txBody>
      </p:sp>
      <p:sp>
        <p:nvSpPr>
          <p:cNvPr id="6" name="Text 4"/>
          <p:cNvSpPr/>
          <p:nvPr/>
        </p:nvSpPr>
        <p:spPr>
          <a:xfrm>
            <a:off x="868680" y="2011680"/>
            <a:ext cx="4754880" cy="256032"/>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HTML5, CSS3, JavaScript — reference officielle</a:t>
            </a:r>
            <a:endParaRPr lang="en-US" sz="1000" dirty="0"/>
          </a:p>
        </p:txBody>
      </p:sp>
      <p:sp>
        <p:nvSpPr>
          <p:cNvPr id="7" name="Text 5"/>
          <p:cNvSpPr/>
          <p:nvPr/>
        </p:nvSpPr>
        <p:spPr>
          <a:xfrm>
            <a:off x="868680" y="2231136"/>
            <a:ext cx="4754880" cy="201168"/>
          </a:xfrm>
          <a:prstGeom prst="rect">
            <a:avLst/>
          </a:prstGeom>
          <a:noFill/>
          <a:ln/>
        </p:spPr>
        <p:txBody>
          <a:bodyPr wrap="square" lIns="0" tIns="0" rIns="0" bIns="0" rtlCol="0" anchor="ctr"/>
          <a:lstStyle/>
          <a:p>
            <a:pPr marL="0" indent="0">
              <a:buNone/>
            </a:pPr>
            <a:r>
              <a:rPr lang="en-US" sz="900" dirty="0">
                <a:solidFill>
                  <a:srgbClr val="F5A623"/>
                </a:solidFill>
                <a:latin typeface="Courier New" pitchFamily="34" charset="0"/>
                <a:ea typeface="Courier New" pitchFamily="34" charset="-122"/>
                <a:cs typeface="Courier New" pitchFamily="34" charset="-120"/>
              </a:rPr>
              <a:t>developer.mozilla.org</a:t>
            </a:r>
            <a:endParaRPr lang="en-US" sz="900" dirty="0"/>
          </a:p>
        </p:txBody>
      </p:sp>
      <p:sp>
        <p:nvSpPr>
          <p:cNvPr id="8" name="Shape 6"/>
          <p:cNvSpPr/>
          <p:nvPr/>
        </p:nvSpPr>
        <p:spPr>
          <a:xfrm>
            <a:off x="6309360" y="1572768"/>
            <a:ext cx="5257800" cy="914400"/>
          </a:xfrm>
          <a:prstGeom prst="roundRect">
            <a:avLst>
              <a:gd name="adj" fmla="val 7000"/>
            </a:avLst>
          </a:prstGeom>
          <a:solidFill>
            <a:srgbClr val="F9F9F9"/>
          </a:solidFill>
          <a:ln/>
        </p:spPr>
      </p:sp>
      <p:sp>
        <p:nvSpPr>
          <p:cNvPr id="9" name="Text 7"/>
          <p:cNvSpPr/>
          <p:nvPr/>
        </p:nvSpPr>
        <p:spPr>
          <a:xfrm>
            <a:off x="6537960" y="1682496"/>
            <a:ext cx="4754880" cy="292608"/>
          </a:xfrm>
          <a:prstGeom prst="rect">
            <a:avLst/>
          </a:prstGeom>
          <a:noFill/>
          <a:ln/>
        </p:spPr>
        <p:txBody>
          <a:bodyPr wrap="square" lIns="0" tIns="0" rIns="0" bIns="0" rtlCol="0" anchor="ctr"/>
          <a:lstStyle/>
          <a:p>
            <a:pPr marL="0" indent="0">
              <a:buNone/>
            </a:pPr>
            <a:r>
              <a:rPr lang="en-US" sz="1350" b="1" dirty="0">
                <a:solidFill>
                  <a:srgbClr val="1A1A2E"/>
                </a:solidFill>
                <a:latin typeface="Calibri" pitchFamily="34" charset="0"/>
                <a:ea typeface="Calibri" pitchFamily="34" charset="-122"/>
                <a:cs typeface="Calibri" pitchFamily="34" charset="-120"/>
              </a:rPr>
              <a:t>Bootstrap 5 Docs</a:t>
            </a:r>
            <a:endParaRPr lang="en-US" sz="1350" dirty="0"/>
          </a:p>
        </p:txBody>
      </p:sp>
      <p:sp>
        <p:nvSpPr>
          <p:cNvPr id="10" name="Text 8"/>
          <p:cNvSpPr/>
          <p:nvPr/>
        </p:nvSpPr>
        <p:spPr>
          <a:xfrm>
            <a:off x="6537960" y="2011680"/>
            <a:ext cx="4754880" cy="256032"/>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Composants, grille, utilitaires, accordion</a:t>
            </a:r>
            <a:endParaRPr lang="en-US" sz="1000" dirty="0"/>
          </a:p>
        </p:txBody>
      </p:sp>
      <p:sp>
        <p:nvSpPr>
          <p:cNvPr id="11" name="Text 9"/>
          <p:cNvSpPr/>
          <p:nvPr/>
        </p:nvSpPr>
        <p:spPr>
          <a:xfrm>
            <a:off x="6537960" y="2231136"/>
            <a:ext cx="4754880" cy="201168"/>
          </a:xfrm>
          <a:prstGeom prst="rect">
            <a:avLst/>
          </a:prstGeom>
          <a:noFill/>
          <a:ln/>
        </p:spPr>
        <p:txBody>
          <a:bodyPr wrap="square" lIns="0" tIns="0" rIns="0" bIns="0" rtlCol="0" anchor="ctr"/>
          <a:lstStyle/>
          <a:p>
            <a:pPr marL="0" indent="0">
              <a:buNone/>
            </a:pPr>
            <a:r>
              <a:rPr lang="en-US" sz="900" dirty="0">
                <a:solidFill>
                  <a:srgbClr val="F5A623"/>
                </a:solidFill>
                <a:latin typeface="Courier New" pitchFamily="34" charset="0"/>
                <a:ea typeface="Courier New" pitchFamily="34" charset="-122"/>
                <a:cs typeface="Courier New" pitchFamily="34" charset="-120"/>
              </a:rPr>
              <a:t>getbootstrap.com/docs/5.3</a:t>
            </a:r>
            <a:endParaRPr lang="en-US" sz="900" dirty="0"/>
          </a:p>
        </p:txBody>
      </p:sp>
      <p:sp>
        <p:nvSpPr>
          <p:cNvPr id="12" name="Shape 10"/>
          <p:cNvSpPr/>
          <p:nvPr/>
        </p:nvSpPr>
        <p:spPr>
          <a:xfrm>
            <a:off x="640080" y="2651760"/>
            <a:ext cx="5257800" cy="914400"/>
          </a:xfrm>
          <a:prstGeom prst="roundRect">
            <a:avLst>
              <a:gd name="adj" fmla="val 7000"/>
            </a:avLst>
          </a:prstGeom>
          <a:solidFill>
            <a:srgbClr val="F9F9F9"/>
          </a:solidFill>
          <a:ln/>
        </p:spPr>
      </p:sp>
      <p:sp>
        <p:nvSpPr>
          <p:cNvPr id="13" name="Text 11"/>
          <p:cNvSpPr/>
          <p:nvPr/>
        </p:nvSpPr>
        <p:spPr>
          <a:xfrm>
            <a:off x="868680" y="2761488"/>
            <a:ext cx="4754880" cy="292608"/>
          </a:xfrm>
          <a:prstGeom prst="rect">
            <a:avLst/>
          </a:prstGeom>
          <a:noFill/>
          <a:ln/>
        </p:spPr>
        <p:txBody>
          <a:bodyPr wrap="square" lIns="0" tIns="0" rIns="0" bIns="0" rtlCol="0" anchor="ctr"/>
          <a:lstStyle/>
          <a:p>
            <a:pPr marL="0" indent="0">
              <a:buNone/>
            </a:pPr>
            <a:r>
              <a:rPr lang="en-US" sz="1350" b="1" dirty="0">
                <a:solidFill>
                  <a:srgbClr val="1A1A2E"/>
                </a:solidFill>
                <a:latin typeface="Calibri" pitchFamily="34" charset="0"/>
                <a:ea typeface="Calibri" pitchFamily="34" charset="-122"/>
                <a:cs typeface="Calibri" pitchFamily="34" charset="-120"/>
              </a:rPr>
              <a:t>Bootstrap Icons</a:t>
            </a:r>
            <a:endParaRPr lang="en-US" sz="1350" dirty="0"/>
          </a:p>
        </p:txBody>
      </p:sp>
      <p:sp>
        <p:nvSpPr>
          <p:cNvPr id="14" name="Text 12"/>
          <p:cNvSpPr/>
          <p:nvPr/>
        </p:nvSpPr>
        <p:spPr>
          <a:xfrm>
            <a:off x="868680" y="3090672"/>
            <a:ext cx="4754880" cy="256032"/>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Icones vectorielles du site (bi-*)</a:t>
            </a:r>
            <a:endParaRPr lang="en-US" sz="1000" dirty="0"/>
          </a:p>
        </p:txBody>
      </p:sp>
      <p:sp>
        <p:nvSpPr>
          <p:cNvPr id="15" name="Text 13"/>
          <p:cNvSpPr/>
          <p:nvPr/>
        </p:nvSpPr>
        <p:spPr>
          <a:xfrm>
            <a:off x="868680" y="3310128"/>
            <a:ext cx="4754880" cy="201168"/>
          </a:xfrm>
          <a:prstGeom prst="rect">
            <a:avLst/>
          </a:prstGeom>
          <a:noFill/>
          <a:ln/>
        </p:spPr>
        <p:txBody>
          <a:bodyPr wrap="square" lIns="0" tIns="0" rIns="0" bIns="0" rtlCol="0" anchor="ctr"/>
          <a:lstStyle/>
          <a:p>
            <a:pPr marL="0" indent="0">
              <a:buNone/>
            </a:pPr>
            <a:r>
              <a:rPr lang="en-US" sz="900" dirty="0">
                <a:solidFill>
                  <a:srgbClr val="F5A623"/>
                </a:solidFill>
                <a:latin typeface="Courier New" pitchFamily="34" charset="0"/>
                <a:ea typeface="Courier New" pitchFamily="34" charset="-122"/>
                <a:cs typeface="Courier New" pitchFamily="34" charset="-120"/>
              </a:rPr>
              <a:t>icons.getbootstrap.com</a:t>
            </a:r>
            <a:endParaRPr lang="en-US" sz="900" dirty="0"/>
          </a:p>
        </p:txBody>
      </p:sp>
      <p:sp>
        <p:nvSpPr>
          <p:cNvPr id="16" name="Shape 14"/>
          <p:cNvSpPr/>
          <p:nvPr/>
        </p:nvSpPr>
        <p:spPr>
          <a:xfrm>
            <a:off x="6309360" y="2651760"/>
            <a:ext cx="5257800" cy="914400"/>
          </a:xfrm>
          <a:prstGeom prst="roundRect">
            <a:avLst>
              <a:gd name="adj" fmla="val 7000"/>
            </a:avLst>
          </a:prstGeom>
          <a:solidFill>
            <a:srgbClr val="F9F9F9"/>
          </a:solidFill>
          <a:ln/>
        </p:spPr>
      </p:sp>
      <p:sp>
        <p:nvSpPr>
          <p:cNvPr id="17" name="Text 15"/>
          <p:cNvSpPr/>
          <p:nvPr/>
        </p:nvSpPr>
        <p:spPr>
          <a:xfrm>
            <a:off x="6537960" y="2761488"/>
            <a:ext cx="4754880" cy="292608"/>
          </a:xfrm>
          <a:prstGeom prst="rect">
            <a:avLst/>
          </a:prstGeom>
          <a:noFill/>
          <a:ln/>
        </p:spPr>
        <p:txBody>
          <a:bodyPr wrap="square" lIns="0" tIns="0" rIns="0" bIns="0" rtlCol="0" anchor="ctr"/>
          <a:lstStyle/>
          <a:p>
            <a:pPr marL="0" indent="0">
              <a:buNone/>
            </a:pPr>
            <a:r>
              <a:rPr lang="en-US" sz="1350" b="1" dirty="0">
                <a:solidFill>
                  <a:srgbClr val="1A1A2E"/>
                </a:solidFill>
                <a:latin typeface="Calibri" pitchFamily="34" charset="0"/>
                <a:ea typeface="Calibri" pitchFamily="34" charset="-122"/>
                <a:cs typeface="Calibri" pitchFamily="34" charset="-120"/>
              </a:rPr>
              <a:t>Google Fonts</a:t>
            </a:r>
            <a:endParaRPr lang="en-US" sz="1350" dirty="0"/>
          </a:p>
        </p:txBody>
      </p:sp>
      <p:sp>
        <p:nvSpPr>
          <p:cNvPr id="18" name="Text 16"/>
          <p:cNvSpPr/>
          <p:nvPr/>
        </p:nvSpPr>
        <p:spPr>
          <a:xfrm>
            <a:off x="6537960" y="3090672"/>
            <a:ext cx="4754880" cy="256032"/>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Polices Syne (titres) et Inter (corps)</a:t>
            </a:r>
            <a:endParaRPr lang="en-US" sz="1000" dirty="0"/>
          </a:p>
        </p:txBody>
      </p:sp>
      <p:sp>
        <p:nvSpPr>
          <p:cNvPr id="19" name="Text 17"/>
          <p:cNvSpPr/>
          <p:nvPr/>
        </p:nvSpPr>
        <p:spPr>
          <a:xfrm>
            <a:off x="6537960" y="3310128"/>
            <a:ext cx="4754880" cy="201168"/>
          </a:xfrm>
          <a:prstGeom prst="rect">
            <a:avLst/>
          </a:prstGeom>
          <a:noFill/>
          <a:ln/>
        </p:spPr>
        <p:txBody>
          <a:bodyPr wrap="square" lIns="0" tIns="0" rIns="0" bIns="0" rtlCol="0" anchor="ctr"/>
          <a:lstStyle/>
          <a:p>
            <a:pPr marL="0" indent="0">
              <a:buNone/>
            </a:pPr>
            <a:r>
              <a:rPr lang="en-US" sz="900" dirty="0">
                <a:solidFill>
                  <a:srgbClr val="F5A623"/>
                </a:solidFill>
                <a:latin typeface="Courier New" pitchFamily="34" charset="0"/>
                <a:ea typeface="Courier New" pitchFamily="34" charset="-122"/>
                <a:cs typeface="Courier New" pitchFamily="34" charset="-120"/>
              </a:rPr>
              <a:t>fonts.google.com</a:t>
            </a:r>
            <a:endParaRPr lang="en-US" sz="900" dirty="0"/>
          </a:p>
        </p:txBody>
      </p:sp>
      <p:sp>
        <p:nvSpPr>
          <p:cNvPr id="20" name="Shape 18"/>
          <p:cNvSpPr/>
          <p:nvPr/>
        </p:nvSpPr>
        <p:spPr>
          <a:xfrm>
            <a:off x="640080" y="3730752"/>
            <a:ext cx="5257800" cy="914400"/>
          </a:xfrm>
          <a:prstGeom prst="roundRect">
            <a:avLst>
              <a:gd name="adj" fmla="val 7000"/>
            </a:avLst>
          </a:prstGeom>
          <a:solidFill>
            <a:srgbClr val="F9F9F9"/>
          </a:solidFill>
          <a:ln/>
        </p:spPr>
      </p:sp>
      <p:sp>
        <p:nvSpPr>
          <p:cNvPr id="21" name="Text 19"/>
          <p:cNvSpPr/>
          <p:nvPr/>
        </p:nvSpPr>
        <p:spPr>
          <a:xfrm>
            <a:off x="868680" y="3840480"/>
            <a:ext cx="4754880" cy="292608"/>
          </a:xfrm>
          <a:prstGeom prst="rect">
            <a:avLst/>
          </a:prstGeom>
          <a:noFill/>
          <a:ln/>
        </p:spPr>
        <p:txBody>
          <a:bodyPr wrap="square" lIns="0" tIns="0" rIns="0" bIns="0" rtlCol="0" anchor="ctr"/>
          <a:lstStyle/>
          <a:p>
            <a:pPr marL="0" indent="0">
              <a:buNone/>
            </a:pPr>
            <a:r>
              <a:rPr lang="en-US" sz="1350" b="1" dirty="0">
                <a:solidFill>
                  <a:srgbClr val="1A1A2E"/>
                </a:solidFill>
                <a:latin typeface="Calibri" pitchFamily="34" charset="0"/>
                <a:ea typeface="Calibri" pitchFamily="34" charset="-122"/>
                <a:cs typeface="Calibri" pitchFamily="34" charset="-120"/>
              </a:rPr>
              <a:t>CSS-Tricks</a:t>
            </a:r>
            <a:endParaRPr lang="en-US" sz="1350" dirty="0"/>
          </a:p>
        </p:txBody>
      </p:sp>
      <p:sp>
        <p:nvSpPr>
          <p:cNvPr id="22" name="Text 20"/>
          <p:cNvSpPr/>
          <p:nvPr/>
        </p:nvSpPr>
        <p:spPr>
          <a:xfrm>
            <a:off x="868680" y="4169664"/>
            <a:ext cx="4754880" cy="256032"/>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Guides Flexbox, CSS Grid avances</a:t>
            </a:r>
            <a:endParaRPr lang="en-US" sz="1000" dirty="0"/>
          </a:p>
        </p:txBody>
      </p:sp>
      <p:sp>
        <p:nvSpPr>
          <p:cNvPr id="23" name="Text 21"/>
          <p:cNvSpPr/>
          <p:nvPr/>
        </p:nvSpPr>
        <p:spPr>
          <a:xfrm>
            <a:off x="868680" y="4389120"/>
            <a:ext cx="4754880" cy="201168"/>
          </a:xfrm>
          <a:prstGeom prst="rect">
            <a:avLst/>
          </a:prstGeom>
          <a:noFill/>
          <a:ln/>
        </p:spPr>
        <p:txBody>
          <a:bodyPr wrap="square" lIns="0" tIns="0" rIns="0" bIns="0" rtlCol="0" anchor="ctr"/>
          <a:lstStyle/>
          <a:p>
            <a:pPr marL="0" indent="0">
              <a:buNone/>
            </a:pPr>
            <a:r>
              <a:rPr lang="en-US" sz="900" dirty="0">
                <a:solidFill>
                  <a:srgbClr val="F5A623"/>
                </a:solidFill>
                <a:latin typeface="Courier New" pitchFamily="34" charset="0"/>
                <a:ea typeface="Courier New" pitchFamily="34" charset="-122"/>
                <a:cs typeface="Courier New" pitchFamily="34" charset="-120"/>
              </a:rPr>
              <a:t>css-tricks.com</a:t>
            </a:r>
            <a:endParaRPr lang="en-US" sz="900" dirty="0"/>
          </a:p>
        </p:txBody>
      </p:sp>
      <p:sp>
        <p:nvSpPr>
          <p:cNvPr id="24" name="Shape 22"/>
          <p:cNvSpPr/>
          <p:nvPr/>
        </p:nvSpPr>
        <p:spPr>
          <a:xfrm>
            <a:off x="6309360" y="3730752"/>
            <a:ext cx="5257800" cy="914400"/>
          </a:xfrm>
          <a:prstGeom prst="roundRect">
            <a:avLst>
              <a:gd name="adj" fmla="val 7000"/>
            </a:avLst>
          </a:prstGeom>
          <a:solidFill>
            <a:srgbClr val="F9F9F9"/>
          </a:solidFill>
          <a:ln/>
        </p:spPr>
      </p:sp>
      <p:sp>
        <p:nvSpPr>
          <p:cNvPr id="25" name="Text 23"/>
          <p:cNvSpPr/>
          <p:nvPr/>
        </p:nvSpPr>
        <p:spPr>
          <a:xfrm>
            <a:off x="6537960" y="3840480"/>
            <a:ext cx="4754880" cy="292608"/>
          </a:xfrm>
          <a:prstGeom prst="rect">
            <a:avLst/>
          </a:prstGeom>
          <a:noFill/>
          <a:ln/>
        </p:spPr>
        <p:txBody>
          <a:bodyPr wrap="square" lIns="0" tIns="0" rIns="0" bIns="0" rtlCol="0" anchor="ctr"/>
          <a:lstStyle/>
          <a:p>
            <a:pPr marL="0" indent="0">
              <a:buNone/>
            </a:pPr>
            <a:r>
              <a:rPr lang="en-US" sz="1350" b="1" dirty="0">
                <a:solidFill>
                  <a:srgbClr val="1A1A2E"/>
                </a:solidFill>
                <a:latin typeface="Calibri" pitchFamily="34" charset="0"/>
                <a:ea typeface="Calibri" pitchFamily="34" charset="-122"/>
                <a:cs typeface="Calibri" pitchFamily="34" charset="-120"/>
              </a:rPr>
              <a:t>W3C Validator</a:t>
            </a:r>
            <a:endParaRPr lang="en-US" sz="1350" dirty="0"/>
          </a:p>
        </p:txBody>
      </p:sp>
      <p:sp>
        <p:nvSpPr>
          <p:cNvPr id="26" name="Text 24"/>
          <p:cNvSpPr/>
          <p:nvPr/>
        </p:nvSpPr>
        <p:spPr>
          <a:xfrm>
            <a:off x="6537960" y="4169664"/>
            <a:ext cx="4754880" cy="256032"/>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Validation HTML — 0 erreur bloquante</a:t>
            </a:r>
            <a:endParaRPr lang="en-US" sz="1000" dirty="0"/>
          </a:p>
        </p:txBody>
      </p:sp>
      <p:sp>
        <p:nvSpPr>
          <p:cNvPr id="27" name="Text 25"/>
          <p:cNvSpPr/>
          <p:nvPr/>
        </p:nvSpPr>
        <p:spPr>
          <a:xfrm>
            <a:off x="6537960" y="4389120"/>
            <a:ext cx="4754880" cy="201168"/>
          </a:xfrm>
          <a:prstGeom prst="rect">
            <a:avLst/>
          </a:prstGeom>
          <a:noFill/>
          <a:ln/>
        </p:spPr>
        <p:txBody>
          <a:bodyPr wrap="square" lIns="0" tIns="0" rIns="0" bIns="0" rtlCol="0" anchor="ctr"/>
          <a:lstStyle/>
          <a:p>
            <a:pPr marL="0" indent="0">
              <a:buNone/>
            </a:pPr>
            <a:r>
              <a:rPr lang="en-US" sz="900" dirty="0">
                <a:solidFill>
                  <a:srgbClr val="F5A623"/>
                </a:solidFill>
                <a:latin typeface="Courier New" pitchFamily="34" charset="0"/>
                <a:ea typeface="Courier New" pitchFamily="34" charset="-122"/>
                <a:cs typeface="Courier New" pitchFamily="34" charset="-120"/>
              </a:rPr>
              <a:t>validator.w3.org</a:t>
            </a:r>
            <a:endParaRPr lang="en-US" sz="900" dirty="0"/>
          </a:p>
        </p:txBody>
      </p:sp>
      <p:sp>
        <p:nvSpPr>
          <p:cNvPr id="28" name="Shape 26"/>
          <p:cNvSpPr/>
          <p:nvPr/>
        </p:nvSpPr>
        <p:spPr>
          <a:xfrm>
            <a:off x="640080" y="4809744"/>
            <a:ext cx="5257800" cy="914400"/>
          </a:xfrm>
          <a:prstGeom prst="roundRect">
            <a:avLst>
              <a:gd name="adj" fmla="val 7000"/>
            </a:avLst>
          </a:prstGeom>
          <a:solidFill>
            <a:srgbClr val="F9F9F9"/>
          </a:solidFill>
          <a:ln/>
        </p:spPr>
      </p:sp>
      <p:sp>
        <p:nvSpPr>
          <p:cNvPr id="29" name="Text 27"/>
          <p:cNvSpPr/>
          <p:nvPr/>
        </p:nvSpPr>
        <p:spPr>
          <a:xfrm>
            <a:off x="868680" y="4919472"/>
            <a:ext cx="4754880" cy="292608"/>
          </a:xfrm>
          <a:prstGeom prst="rect">
            <a:avLst/>
          </a:prstGeom>
          <a:noFill/>
          <a:ln/>
        </p:spPr>
        <p:txBody>
          <a:bodyPr wrap="square" lIns="0" tIns="0" rIns="0" bIns="0" rtlCol="0" anchor="ctr"/>
          <a:lstStyle/>
          <a:p>
            <a:pPr marL="0" indent="0">
              <a:buNone/>
            </a:pPr>
            <a:r>
              <a:rPr lang="en-US" sz="1350" b="1" dirty="0">
                <a:solidFill>
                  <a:srgbClr val="1A1A2E"/>
                </a:solidFill>
                <a:latin typeface="Calibri" pitchFamily="34" charset="0"/>
                <a:ea typeface="Calibri" pitchFamily="34" charset="-122"/>
                <a:cs typeface="Calibri" pitchFamily="34" charset="-120"/>
              </a:rPr>
              <a:t>Unsplash / Pexels</a:t>
            </a:r>
            <a:endParaRPr lang="en-US" sz="1350" dirty="0"/>
          </a:p>
        </p:txBody>
      </p:sp>
      <p:sp>
        <p:nvSpPr>
          <p:cNvPr id="30" name="Text 28"/>
          <p:cNvSpPr/>
          <p:nvPr/>
        </p:nvSpPr>
        <p:spPr>
          <a:xfrm>
            <a:off x="868680" y="5248656"/>
            <a:ext cx="4754880" cy="256032"/>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Photos de freelances libres de droits</a:t>
            </a:r>
            <a:endParaRPr lang="en-US" sz="1000" dirty="0"/>
          </a:p>
        </p:txBody>
      </p:sp>
      <p:sp>
        <p:nvSpPr>
          <p:cNvPr id="31" name="Text 29"/>
          <p:cNvSpPr/>
          <p:nvPr/>
        </p:nvSpPr>
        <p:spPr>
          <a:xfrm>
            <a:off x="868680" y="5468112"/>
            <a:ext cx="4754880" cy="201168"/>
          </a:xfrm>
          <a:prstGeom prst="rect">
            <a:avLst/>
          </a:prstGeom>
          <a:noFill/>
          <a:ln/>
        </p:spPr>
        <p:txBody>
          <a:bodyPr wrap="square" lIns="0" tIns="0" rIns="0" bIns="0" rtlCol="0" anchor="ctr"/>
          <a:lstStyle/>
          <a:p>
            <a:pPr marL="0" indent="0">
              <a:buNone/>
            </a:pPr>
            <a:r>
              <a:rPr lang="en-US" sz="900" dirty="0">
                <a:solidFill>
                  <a:srgbClr val="F5A623"/>
                </a:solidFill>
                <a:latin typeface="Courier New" pitchFamily="34" charset="0"/>
                <a:ea typeface="Courier New" pitchFamily="34" charset="-122"/>
                <a:cs typeface="Courier New" pitchFamily="34" charset="-120"/>
              </a:rPr>
              <a:t>unsplash.com / pexels.com</a:t>
            </a:r>
            <a:endParaRPr lang="en-US" sz="900" dirty="0"/>
          </a:p>
        </p:txBody>
      </p:sp>
      <p:sp>
        <p:nvSpPr>
          <p:cNvPr id="32" name="Shape 30"/>
          <p:cNvSpPr/>
          <p:nvPr/>
        </p:nvSpPr>
        <p:spPr>
          <a:xfrm>
            <a:off x="6309360" y="4809744"/>
            <a:ext cx="5257800" cy="914400"/>
          </a:xfrm>
          <a:prstGeom prst="roundRect">
            <a:avLst>
              <a:gd name="adj" fmla="val 7000"/>
            </a:avLst>
          </a:prstGeom>
          <a:solidFill>
            <a:srgbClr val="F9F9F9"/>
          </a:solidFill>
          <a:ln/>
        </p:spPr>
      </p:sp>
      <p:sp>
        <p:nvSpPr>
          <p:cNvPr id="33" name="Text 31"/>
          <p:cNvSpPr/>
          <p:nvPr/>
        </p:nvSpPr>
        <p:spPr>
          <a:xfrm>
            <a:off x="6537960" y="4919472"/>
            <a:ext cx="4754880" cy="292608"/>
          </a:xfrm>
          <a:prstGeom prst="rect">
            <a:avLst/>
          </a:prstGeom>
          <a:noFill/>
          <a:ln/>
        </p:spPr>
        <p:txBody>
          <a:bodyPr wrap="square" lIns="0" tIns="0" rIns="0" bIns="0" rtlCol="0" anchor="ctr"/>
          <a:lstStyle/>
          <a:p>
            <a:pPr marL="0" indent="0">
              <a:buNone/>
            </a:pPr>
            <a:r>
              <a:rPr lang="en-US" sz="1350" b="1" dirty="0">
                <a:solidFill>
                  <a:srgbClr val="1A1A2E"/>
                </a:solidFill>
                <a:latin typeface="Calibri" pitchFamily="34" charset="0"/>
                <a:ea typeface="Calibri" pitchFamily="34" charset="-122"/>
                <a:cs typeface="Calibri" pitchFamily="34" charset="-120"/>
              </a:rPr>
              <a:t>GitHub Docs</a:t>
            </a:r>
            <a:endParaRPr lang="en-US" sz="1350" dirty="0"/>
          </a:p>
        </p:txBody>
      </p:sp>
      <p:sp>
        <p:nvSpPr>
          <p:cNvPr id="34" name="Text 32"/>
          <p:cNvSpPr/>
          <p:nvPr/>
        </p:nvSpPr>
        <p:spPr>
          <a:xfrm>
            <a:off x="6537960" y="5248656"/>
            <a:ext cx="4754880" cy="256032"/>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GitHub Pages, README, workflow Git</a:t>
            </a:r>
            <a:endParaRPr lang="en-US" sz="1000" dirty="0"/>
          </a:p>
        </p:txBody>
      </p:sp>
      <p:sp>
        <p:nvSpPr>
          <p:cNvPr id="35" name="Text 33"/>
          <p:cNvSpPr/>
          <p:nvPr/>
        </p:nvSpPr>
        <p:spPr>
          <a:xfrm>
            <a:off x="6537960" y="5468112"/>
            <a:ext cx="4754880" cy="201168"/>
          </a:xfrm>
          <a:prstGeom prst="rect">
            <a:avLst/>
          </a:prstGeom>
          <a:noFill/>
          <a:ln/>
        </p:spPr>
        <p:txBody>
          <a:bodyPr wrap="square" lIns="0" tIns="0" rIns="0" bIns="0" rtlCol="0" anchor="ctr"/>
          <a:lstStyle/>
          <a:p>
            <a:pPr marL="0" indent="0">
              <a:buNone/>
            </a:pPr>
            <a:r>
              <a:rPr lang="en-US" sz="900" dirty="0">
                <a:solidFill>
                  <a:srgbClr val="F5A623"/>
                </a:solidFill>
                <a:latin typeface="Courier New" pitchFamily="34" charset="0"/>
                <a:ea typeface="Courier New" pitchFamily="34" charset="-122"/>
                <a:cs typeface="Courier New" pitchFamily="34" charset="-120"/>
              </a:rPr>
              <a:t>docs.github.com</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A1A2E"/>
        </a:solidFill>
        <a:effectLst/>
      </p:bgPr>
    </p:bg>
    <p:spTree>
      <p:nvGrpSpPr>
        <p:cNvPr id="1" name=""/>
        <p:cNvGrpSpPr/>
        <p:nvPr/>
      </p:nvGrpSpPr>
      <p:grpSpPr>
        <a:xfrm>
          <a:off x="0" y="0"/>
          <a:ext cx="0" cy="0"/>
          <a:chOff x="0" y="0"/>
          <a:chExt cx="0" cy="0"/>
        </a:xfrm>
      </p:grpSpPr>
      <p:sp>
        <p:nvSpPr>
          <p:cNvPr id="2" name="Shape 0"/>
          <p:cNvSpPr/>
          <p:nvPr/>
        </p:nvSpPr>
        <p:spPr>
          <a:xfrm>
            <a:off x="9601200" y="4114800"/>
            <a:ext cx="4114800" cy="4114800"/>
          </a:xfrm>
          <a:prstGeom prst="ellipse">
            <a:avLst/>
          </a:prstGeom>
          <a:solidFill>
            <a:srgbClr val="F5A623">
              <a:alpha val="12000"/>
            </a:srgbClr>
          </a:solidFill>
          <a:ln/>
        </p:spPr>
      </p:sp>
      <p:sp>
        <p:nvSpPr>
          <p:cNvPr id="3" name="Shape 1"/>
          <p:cNvSpPr/>
          <p:nvPr/>
        </p:nvSpPr>
        <p:spPr>
          <a:xfrm>
            <a:off x="-914400" y="-914400"/>
            <a:ext cx="3200400" cy="3200400"/>
          </a:xfrm>
          <a:prstGeom prst="ellipse">
            <a:avLst/>
          </a:prstGeom>
          <a:solidFill>
            <a:srgbClr val="E94560">
              <a:alpha val="12000"/>
            </a:srgbClr>
          </a:solidFill>
          <a:ln/>
        </p:spPr>
      </p:sp>
      <p:pic>
        <p:nvPicPr>
          <p:cNvPr id="4" name="Image 0" descr="assets/icon-rocket-fixed.png"/>
          <p:cNvPicPr>
            <a:picLocks noChangeAspect="1"/>
          </p:cNvPicPr>
          <p:nvPr/>
        </p:nvPicPr>
        <p:blipFill>
          <a:blip r:embed="rId3"/>
          <a:stretch>
            <a:fillRect/>
          </a:stretch>
        </p:blipFill>
        <p:spPr>
          <a:xfrm>
            <a:off x="5669280" y="1371600"/>
            <a:ext cx="868680" cy="868680"/>
          </a:xfrm>
          <a:prstGeom prst="rect">
            <a:avLst/>
          </a:prstGeom>
        </p:spPr>
      </p:pic>
      <p:sp>
        <p:nvSpPr>
          <p:cNvPr id="5" name="Text 2"/>
          <p:cNvSpPr/>
          <p:nvPr/>
        </p:nvSpPr>
        <p:spPr>
          <a:xfrm>
            <a:off x="640080" y="2423160"/>
            <a:ext cx="10881360" cy="731520"/>
          </a:xfrm>
          <a:prstGeom prst="rect">
            <a:avLst/>
          </a:prstGeom>
          <a:noFill/>
          <a:ln/>
        </p:spPr>
        <p:txBody>
          <a:bodyPr wrap="square" lIns="0" tIns="0" rIns="0" bIns="0" rtlCol="0" anchor="ctr"/>
          <a:lstStyle/>
          <a:p>
            <a:pPr marL="0" indent="0" algn="ctr">
              <a:buNone/>
            </a:pPr>
            <a:r>
              <a:rPr lang="en-US" sz="3800" b="1" dirty="0">
                <a:solidFill>
                  <a:srgbClr val="FFFFFF"/>
                </a:solidFill>
                <a:latin typeface="Bookman Old Style" pitchFamily="34" charset="0"/>
                <a:ea typeface="Bookman Old Style" pitchFamily="34" charset="-122"/>
                <a:cs typeface="Bookman Old Style" pitchFamily="34" charset="-120"/>
              </a:rPr>
              <a:t>Demonstration live</a:t>
            </a:r>
            <a:endParaRPr lang="en-US" sz="3800" dirty="0"/>
          </a:p>
        </p:txBody>
      </p:sp>
      <p:sp>
        <p:nvSpPr>
          <p:cNvPr id="6" name="Text 3"/>
          <p:cNvSpPr/>
          <p:nvPr/>
        </p:nvSpPr>
        <p:spPr>
          <a:xfrm>
            <a:off x="640080" y="3246120"/>
            <a:ext cx="10881360" cy="457200"/>
          </a:xfrm>
          <a:prstGeom prst="rect">
            <a:avLst/>
          </a:prstGeom>
          <a:noFill/>
          <a:ln/>
        </p:spPr>
        <p:txBody>
          <a:bodyPr wrap="square" lIns="0" tIns="0" rIns="0" bIns="0" rtlCol="0" anchor="ctr"/>
          <a:lstStyle/>
          <a:p>
            <a:pPr marL="0" indent="0" algn="ctr">
              <a:buNone/>
            </a:pPr>
            <a:r>
              <a:rPr lang="en-US" sz="1400" i="1" dirty="0">
                <a:solidFill>
                  <a:srgbClr val="C7C7D9"/>
                </a:solidFill>
                <a:latin typeface="Calibri" pitchFamily="34" charset="0"/>
                <a:ea typeface="Calibri" pitchFamily="34" charset="-122"/>
                <a:cs typeface="Calibri" pitchFamily="34" charset="-120"/>
              </a:rPr>
              <a:t>Navigation sur le site deploye — dark mode, filtres, formulaire valide, animations, etoiles</a:t>
            </a:r>
            <a:endParaRPr lang="en-US" sz="1400" dirty="0"/>
          </a:p>
        </p:txBody>
      </p:sp>
      <p:sp>
        <p:nvSpPr>
          <p:cNvPr id="7" name="Shape 4"/>
          <p:cNvSpPr/>
          <p:nvPr/>
        </p:nvSpPr>
        <p:spPr>
          <a:xfrm>
            <a:off x="822960" y="4160520"/>
            <a:ext cx="2606040" cy="1600200"/>
          </a:xfrm>
          <a:prstGeom prst="roundRect">
            <a:avLst>
              <a:gd name="adj" fmla="val 4571"/>
            </a:avLst>
          </a:prstGeom>
          <a:solidFill>
            <a:srgbClr val="24243D"/>
          </a:solidFill>
          <a:ln/>
          <a:effectLst>
            <a:outerShdw algn="bl" rotWithShape="0">
              <a:srgbClr val="000000">
                <a:alpha val="0"/>
              </a:srgbClr>
            </a:outerShdw>
          </a:effectLst>
        </p:spPr>
      </p:sp>
      <p:sp>
        <p:nvSpPr>
          <p:cNvPr id="8" name="Text 5"/>
          <p:cNvSpPr/>
          <p:nvPr/>
        </p:nvSpPr>
        <p:spPr>
          <a:xfrm>
            <a:off x="1005840" y="4315968"/>
            <a:ext cx="594360" cy="502920"/>
          </a:xfrm>
          <a:prstGeom prst="rect">
            <a:avLst/>
          </a:prstGeom>
          <a:noFill/>
          <a:ln/>
        </p:spPr>
        <p:txBody>
          <a:bodyPr wrap="square" lIns="0" tIns="0" rIns="0" bIns="0" rtlCol="0" anchor="ctr"/>
          <a:lstStyle/>
          <a:p>
            <a:pPr marL="0" indent="0">
              <a:buNone/>
            </a:pPr>
            <a:r>
              <a:rPr lang="en-US" sz="2200" b="1" dirty="0">
                <a:solidFill>
                  <a:srgbClr val="F5A623"/>
                </a:solidFill>
                <a:latin typeface="Bookman Old Style" pitchFamily="34" charset="0"/>
                <a:ea typeface="Bookman Old Style" pitchFamily="34" charset="-122"/>
                <a:cs typeface="Bookman Old Style" pitchFamily="34" charset="-120"/>
              </a:rPr>
              <a:t>1</a:t>
            </a:r>
            <a:endParaRPr lang="en-US" sz="2200" dirty="0"/>
          </a:p>
        </p:txBody>
      </p:sp>
      <p:sp>
        <p:nvSpPr>
          <p:cNvPr id="9" name="Text 6"/>
          <p:cNvSpPr/>
          <p:nvPr/>
        </p:nvSpPr>
        <p:spPr>
          <a:xfrm>
            <a:off x="1005840" y="4846320"/>
            <a:ext cx="2240280" cy="822960"/>
          </a:xfrm>
          <a:prstGeom prst="rect">
            <a:avLst/>
          </a:prstGeom>
          <a:noFill/>
          <a:ln/>
        </p:spPr>
        <p:txBody>
          <a:bodyPr wrap="square" lIns="0" tIns="0" rIns="0" bIns="0" rtlCol="0" anchor="ctr"/>
          <a:lstStyle/>
          <a:p>
            <a:pPr marL="0" indent="0">
              <a:lnSpc>
                <a:spcPct val="120000"/>
              </a:lnSpc>
              <a:buNone/>
            </a:pPr>
            <a:r>
              <a:rPr lang="en-US" sz="1100" b="1" dirty="0">
                <a:solidFill>
                  <a:srgbClr val="FFFFFF"/>
                </a:solidFill>
                <a:latin typeface="Calibri" pitchFamily="34" charset="0"/>
                <a:ea typeface="Calibri" pitchFamily="34" charset="-122"/>
                <a:cs typeface="Calibri" pitchFamily="34" charset="-120"/>
              </a:rPr>
              <a:t>index.html</a:t>
            </a:r>
            <a:endParaRPr lang="en-US" sz="1100" dirty="0"/>
          </a:p>
          <a:p>
            <a:pPr marL="0" indent="0">
              <a:lnSpc>
                <a:spcPct val="120000"/>
              </a:lnSpc>
              <a:buNone/>
            </a:pPr>
            <a:r>
              <a:rPr lang="en-US" sz="1100" b="1" dirty="0">
                <a:solidFill>
                  <a:srgbClr val="FFFFFF"/>
                </a:solidFill>
                <a:latin typeface="Calibri" pitchFamily="34" charset="0"/>
                <a:ea typeface="Calibri" pitchFamily="34" charset="-122"/>
                <a:cs typeface="Calibri" pitchFamily="34" charset="-120"/>
              </a:rPr>
              <a:t>Accueil &amp; Bento Grid</a:t>
            </a:r>
            <a:endParaRPr lang="en-US" sz="1100" dirty="0"/>
          </a:p>
        </p:txBody>
      </p:sp>
      <p:sp>
        <p:nvSpPr>
          <p:cNvPr id="10" name="Shape 7"/>
          <p:cNvSpPr/>
          <p:nvPr/>
        </p:nvSpPr>
        <p:spPr>
          <a:xfrm>
            <a:off x="3566160" y="4160520"/>
            <a:ext cx="2606040" cy="1600200"/>
          </a:xfrm>
          <a:prstGeom prst="roundRect">
            <a:avLst>
              <a:gd name="adj" fmla="val 4571"/>
            </a:avLst>
          </a:prstGeom>
          <a:solidFill>
            <a:srgbClr val="24243D"/>
          </a:solidFill>
          <a:ln/>
          <a:effectLst>
            <a:outerShdw algn="bl" rotWithShape="0">
              <a:srgbClr val="000000">
                <a:alpha val="0"/>
              </a:srgbClr>
            </a:outerShdw>
          </a:effectLst>
        </p:spPr>
      </p:sp>
      <p:sp>
        <p:nvSpPr>
          <p:cNvPr id="11" name="Text 8"/>
          <p:cNvSpPr/>
          <p:nvPr/>
        </p:nvSpPr>
        <p:spPr>
          <a:xfrm>
            <a:off x="3749040" y="4315968"/>
            <a:ext cx="594360" cy="502920"/>
          </a:xfrm>
          <a:prstGeom prst="rect">
            <a:avLst/>
          </a:prstGeom>
          <a:noFill/>
          <a:ln/>
        </p:spPr>
        <p:txBody>
          <a:bodyPr wrap="square" lIns="0" tIns="0" rIns="0" bIns="0" rtlCol="0" anchor="ctr"/>
          <a:lstStyle/>
          <a:p>
            <a:pPr marL="0" indent="0">
              <a:buNone/>
            </a:pPr>
            <a:r>
              <a:rPr lang="en-US" sz="2200" b="1" dirty="0">
                <a:solidFill>
                  <a:srgbClr val="F5A623"/>
                </a:solidFill>
                <a:latin typeface="Bookman Old Style" pitchFamily="34" charset="0"/>
                <a:ea typeface="Bookman Old Style" pitchFamily="34" charset="-122"/>
                <a:cs typeface="Bookman Old Style" pitchFamily="34" charset="-120"/>
              </a:rPr>
              <a:t>2</a:t>
            </a:r>
            <a:endParaRPr lang="en-US" sz="2200" dirty="0"/>
          </a:p>
        </p:txBody>
      </p:sp>
      <p:sp>
        <p:nvSpPr>
          <p:cNvPr id="12" name="Text 9"/>
          <p:cNvSpPr/>
          <p:nvPr/>
        </p:nvSpPr>
        <p:spPr>
          <a:xfrm>
            <a:off x="3749040" y="4846320"/>
            <a:ext cx="2240280" cy="822960"/>
          </a:xfrm>
          <a:prstGeom prst="rect">
            <a:avLst/>
          </a:prstGeom>
          <a:noFill/>
          <a:ln/>
        </p:spPr>
        <p:txBody>
          <a:bodyPr wrap="square" lIns="0" tIns="0" rIns="0" bIns="0" rtlCol="0" anchor="ctr"/>
          <a:lstStyle/>
          <a:p>
            <a:pPr marL="0" indent="0">
              <a:lnSpc>
                <a:spcPct val="120000"/>
              </a:lnSpc>
              <a:buNone/>
            </a:pPr>
            <a:r>
              <a:rPr lang="en-US" sz="1100" b="1" dirty="0">
                <a:solidFill>
                  <a:srgbClr val="FFFFFF"/>
                </a:solidFill>
                <a:latin typeface="Calibri" pitchFamily="34" charset="0"/>
                <a:ea typeface="Calibri" pitchFamily="34" charset="-122"/>
                <a:cs typeface="Calibri" pitchFamily="34" charset="-120"/>
              </a:rPr>
              <a:t>freelances.html</a:t>
            </a:r>
            <a:endParaRPr lang="en-US" sz="1100" dirty="0"/>
          </a:p>
          <a:p>
            <a:pPr marL="0" indent="0">
              <a:lnSpc>
                <a:spcPct val="120000"/>
              </a:lnSpc>
              <a:buNone/>
            </a:pPr>
            <a:r>
              <a:rPr lang="en-US" sz="1100" b="1" dirty="0">
                <a:solidFill>
                  <a:srgbClr val="FFFFFF"/>
                </a:solidFill>
                <a:latin typeface="Calibri" pitchFamily="34" charset="0"/>
                <a:ea typeface="Calibri" pitchFamily="34" charset="-122"/>
                <a:cs typeface="Calibri" pitchFamily="34" charset="-120"/>
              </a:rPr>
              <a:t>Filtres &amp; cartes</a:t>
            </a:r>
            <a:endParaRPr lang="en-US" sz="1100" dirty="0"/>
          </a:p>
        </p:txBody>
      </p:sp>
      <p:sp>
        <p:nvSpPr>
          <p:cNvPr id="13" name="Shape 10"/>
          <p:cNvSpPr/>
          <p:nvPr/>
        </p:nvSpPr>
        <p:spPr>
          <a:xfrm>
            <a:off x="6309360" y="4160520"/>
            <a:ext cx="2606040" cy="1600200"/>
          </a:xfrm>
          <a:prstGeom prst="roundRect">
            <a:avLst>
              <a:gd name="adj" fmla="val 4571"/>
            </a:avLst>
          </a:prstGeom>
          <a:solidFill>
            <a:srgbClr val="24243D"/>
          </a:solidFill>
          <a:ln/>
          <a:effectLst>
            <a:outerShdw algn="bl" rotWithShape="0">
              <a:srgbClr val="000000">
                <a:alpha val="0"/>
              </a:srgbClr>
            </a:outerShdw>
          </a:effectLst>
        </p:spPr>
      </p:sp>
      <p:sp>
        <p:nvSpPr>
          <p:cNvPr id="14" name="Text 11"/>
          <p:cNvSpPr/>
          <p:nvPr/>
        </p:nvSpPr>
        <p:spPr>
          <a:xfrm>
            <a:off x="6492240" y="4315968"/>
            <a:ext cx="594360" cy="502920"/>
          </a:xfrm>
          <a:prstGeom prst="rect">
            <a:avLst/>
          </a:prstGeom>
          <a:noFill/>
          <a:ln/>
        </p:spPr>
        <p:txBody>
          <a:bodyPr wrap="square" lIns="0" tIns="0" rIns="0" bIns="0" rtlCol="0" anchor="ctr"/>
          <a:lstStyle/>
          <a:p>
            <a:pPr marL="0" indent="0">
              <a:buNone/>
            </a:pPr>
            <a:r>
              <a:rPr lang="en-US" sz="2200" b="1" dirty="0">
                <a:solidFill>
                  <a:srgbClr val="F5A623"/>
                </a:solidFill>
                <a:latin typeface="Bookman Old Style" pitchFamily="34" charset="0"/>
                <a:ea typeface="Bookman Old Style" pitchFamily="34" charset="-122"/>
                <a:cs typeface="Bookman Old Style" pitchFamily="34" charset="-120"/>
              </a:rPr>
              <a:t>3</a:t>
            </a:r>
            <a:endParaRPr lang="en-US" sz="2200" dirty="0"/>
          </a:p>
        </p:txBody>
      </p:sp>
      <p:sp>
        <p:nvSpPr>
          <p:cNvPr id="15" name="Text 12"/>
          <p:cNvSpPr/>
          <p:nvPr/>
        </p:nvSpPr>
        <p:spPr>
          <a:xfrm>
            <a:off x="6492240" y="4846320"/>
            <a:ext cx="2240280" cy="822960"/>
          </a:xfrm>
          <a:prstGeom prst="rect">
            <a:avLst/>
          </a:prstGeom>
          <a:noFill/>
          <a:ln/>
        </p:spPr>
        <p:txBody>
          <a:bodyPr wrap="square" lIns="0" tIns="0" rIns="0" bIns="0" rtlCol="0" anchor="ctr"/>
          <a:lstStyle/>
          <a:p>
            <a:pPr marL="0" indent="0">
              <a:lnSpc>
                <a:spcPct val="120000"/>
              </a:lnSpc>
              <a:buNone/>
            </a:pPr>
            <a:r>
              <a:rPr lang="en-US" sz="1100" b="1" dirty="0">
                <a:solidFill>
                  <a:srgbClr val="FFFFFF"/>
                </a:solidFill>
                <a:latin typeface="Calibri" pitchFamily="34" charset="0"/>
                <a:ea typeface="Calibri" pitchFamily="34" charset="-122"/>
                <a:cs typeface="Calibri" pitchFamily="34" charset="-120"/>
              </a:rPr>
              <a:t>dark mode</a:t>
            </a:r>
            <a:endParaRPr lang="en-US" sz="1100" dirty="0"/>
          </a:p>
          <a:p>
            <a:pPr marL="0" indent="0">
              <a:lnSpc>
                <a:spcPct val="120000"/>
              </a:lnSpc>
              <a:buNone/>
            </a:pPr>
            <a:r>
              <a:rPr lang="en-US" sz="1100" b="1" dirty="0">
                <a:solidFill>
                  <a:srgbClr val="FFFFFF"/>
                </a:solidFill>
                <a:latin typeface="Calibri" pitchFamily="34" charset="0"/>
                <a:ea typeface="Calibri" pitchFamily="34" charset="-122"/>
                <a:cs typeface="Calibri" pitchFamily="34" charset="-120"/>
              </a:rPr>
              <a:t>Toggle lune/soleil</a:t>
            </a:r>
            <a:endParaRPr lang="en-US" sz="1100" dirty="0"/>
          </a:p>
        </p:txBody>
      </p:sp>
      <p:sp>
        <p:nvSpPr>
          <p:cNvPr id="16" name="Shape 13"/>
          <p:cNvSpPr/>
          <p:nvPr/>
        </p:nvSpPr>
        <p:spPr>
          <a:xfrm>
            <a:off x="9052560" y="4160520"/>
            <a:ext cx="2606040" cy="1600200"/>
          </a:xfrm>
          <a:prstGeom prst="roundRect">
            <a:avLst>
              <a:gd name="adj" fmla="val 4571"/>
            </a:avLst>
          </a:prstGeom>
          <a:solidFill>
            <a:srgbClr val="24243D"/>
          </a:solidFill>
          <a:ln/>
          <a:effectLst>
            <a:outerShdw algn="bl" rotWithShape="0">
              <a:srgbClr val="000000">
                <a:alpha val="0"/>
              </a:srgbClr>
            </a:outerShdw>
          </a:effectLst>
        </p:spPr>
      </p:sp>
      <p:sp>
        <p:nvSpPr>
          <p:cNvPr id="17" name="Text 14"/>
          <p:cNvSpPr/>
          <p:nvPr/>
        </p:nvSpPr>
        <p:spPr>
          <a:xfrm>
            <a:off x="9235440" y="4315968"/>
            <a:ext cx="594360" cy="502920"/>
          </a:xfrm>
          <a:prstGeom prst="rect">
            <a:avLst/>
          </a:prstGeom>
          <a:noFill/>
          <a:ln/>
        </p:spPr>
        <p:txBody>
          <a:bodyPr wrap="square" lIns="0" tIns="0" rIns="0" bIns="0" rtlCol="0" anchor="ctr"/>
          <a:lstStyle/>
          <a:p>
            <a:pPr marL="0" indent="0">
              <a:buNone/>
            </a:pPr>
            <a:r>
              <a:rPr lang="en-US" sz="2200" b="1" dirty="0">
                <a:solidFill>
                  <a:srgbClr val="F5A623"/>
                </a:solidFill>
                <a:latin typeface="Bookman Old Style" pitchFamily="34" charset="0"/>
                <a:ea typeface="Bookman Old Style" pitchFamily="34" charset="-122"/>
                <a:cs typeface="Bookman Old Style" pitchFamily="34" charset="-120"/>
              </a:rPr>
              <a:t>4</a:t>
            </a:r>
            <a:endParaRPr lang="en-US" sz="2200" dirty="0"/>
          </a:p>
        </p:txBody>
      </p:sp>
      <p:sp>
        <p:nvSpPr>
          <p:cNvPr id="18" name="Text 15"/>
          <p:cNvSpPr/>
          <p:nvPr/>
        </p:nvSpPr>
        <p:spPr>
          <a:xfrm>
            <a:off x="9235440" y="4846320"/>
            <a:ext cx="2240280" cy="822960"/>
          </a:xfrm>
          <a:prstGeom prst="rect">
            <a:avLst/>
          </a:prstGeom>
          <a:noFill/>
          <a:ln/>
        </p:spPr>
        <p:txBody>
          <a:bodyPr wrap="square" lIns="0" tIns="0" rIns="0" bIns="0" rtlCol="0" anchor="ctr"/>
          <a:lstStyle/>
          <a:p>
            <a:pPr marL="0" indent="0">
              <a:lnSpc>
                <a:spcPct val="120000"/>
              </a:lnSpc>
              <a:buNone/>
            </a:pPr>
            <a:r>
              <a:rPr lang="en-US" sz="1100" b="1" dirty="0">
                <a:solidFill>
                  <a:srgbClr val="FFFFFF"/>
                </a:solidFill>
                <a:latin typeface="Calibri" pitchFamily="34" charset="0"/>
                <a:ea typeface="Calibri" pitchFamily="34" charset="-122"/>
                <a:cs typeface="Calibri" pitchFamily="34" charset="-120"/>
              </a:rPr>
              <a:t>contact.html</a:t>
            </a:r>
            <a:endParaRPr lang="en-US" sz="1100" dirty="0"/>
          </a:p>
          <a:p>
            <a:pPr marL="0" indent="0">
              <a:lnSpc>
                <a:spcPct val="120000"/>
              </a:lnSpc>
              <a:buNone/>
            </a:pPr>
            <a:r>
              <a:rPr lang="en-US" sz="1100" b="1" dirty="0">
                <a:solidFill>
                  <a:srgbClr val="FFFFFF"/>
                </a:solidFill>
                <a:latin typeface="Calibri" pitchFamily="34" charset="0"/>
                <a:ea typeface="Calibri" pitchFamily="34" charset="-122"/>
                <a:cs typeface="Calibri" pitchFamily="34" charset="-120"/>
              </a:rPr>
              <a:t>Formulaire valide</a:t>
            </a:r>
            <a:endParaRPr lang="en-US" sz="1100" dirty="0"/>
          </a:p>
        </p:txBody>
      </p:sp>
      <p:sp>
        <p:nvSpPr>
          <p:cNvPr id="19" name="Text 16"/>
          <p:cNvSpPr/>
          <p:nvPr/>
        </p:nvSpPr>
        <p:spPr>
          <a:xfrm>
            <a:off x="640080" y="6035040"/>
            <a:ext cx="10881360" cy="548640"/>
          </a:xfrm>
          <a:prstGeom prst="rect">
            <a:avLst/>
          </a:prstGeom>
          <a:noFill/>
          <a:ln/>
        </p:spPr>
        <p:txBody>
          <a:bodyPr wrap="square" lIns="0" tIns="0" rIns="0" bIns="0" rtlCol="0" anchor="ctr"/>
          <a:lstStyle/>
          <a:p>
            <a:pPr marL="0" indent="0" algn="ctr">
              <a:buNone/>
            </a:pPr>
            <a:r>
              <a:rPr lang="en-US" sz="1200" dirty="0">
                <a:solidFill>
                  <a:srgbClr val="F5A623"/>
                </a:solidFill>
                <a:latin typeface="Courier New" pitchFamily="34" charset="0"/>
                <a:ea typeface="Courier New" pitchFamily="34" charset="-122"/>
                <a:cs typeface="Courier New" pitchFamily="34" charset="-120"/>
              </a:rPr>
              <a:t>mouhamedoct2005-cmd.github.io/NGUEYE-MOUHAMADOU-MOUSTAPHA-AfriTalent</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A1A2E"/>
        </a:solidFill>
        <a:effectLst/>
      </p:bgPr>
    </p:bg>
    <p:spTree>
      <p:nvGrpSpPr>
        <p:cNvPr id="1" name=""/>
        <p:cNvGrpSpPr/>
        <p:nvPr/>
      </p:nvGrpSpPr>
      <p:grpSpPr>
        <a:xfrm>
          <a:off x="0" y="0"/>
          <a:ext cx="0" cy="0"/>
          <a:chOff x="0" y="0"/>
          <a:chExt cx="0" cy="0"/>
        </a:xfrm>
      </p:grpSpPr>
      <p:sp>
        <p:nvSpPr>
          <p:cNvPr id="2" name="Shape 0"/>
          <p:cNvSpPr/>
          <p:nvPr/>
        </p:nvSpPr>
        <p:spPr>
          <a:xfrm>
            <a:off x="-1371600" y="-1371600"/>
            <a:ext cx="4572000" cy="4572000"/>
          </a:xfrm>
          <a:prstGeom prst="ellipse">
            <a:avLst/>
          </a:prstGeom>
          <a:solidFill>
            <a:srgbClr val="F5A623">
              <a:alpha val="12000"/>
            </a:srgbClr>
          </a:solidFill>
          <a:ln/>
        </p:spPr>
      </p:sp>
      <p:sp>
        <p:nvSpPr>
          <p:cNvPr id="3" name="Shape 1"/>
          <p:cNvSpPr/>
          <p:nvPr/>
        </p:nvSpPr>
        <p:spPr>
          <a:xfrm>
            <a:off x="9601200" y="4754880"/>
            <a:ext cx="4114800" cy="4114800"/>
          </a:xfrm>
          <a:prstGeom prst="ellipse">
            <a:avLst/>
          </a:prstGeom>
          <a:solidFill>
            <a:srgbClr val="E94560">
              <a:alpha val="12000"/>
            </a:srgbClr>
          </a:solidFill>
          <a:ln/>
        </p:spPr>
      </p:sp>
      <p:sp>
        <p:nvSpPr>
          <p:cNvPr id="4" name="Shape 2"/>
          <p:cNvSpPr/>
          <p:nvPr/>
        </p:nvSpPr>
        <p:spPr>
          <a:xfrm>
            <a:off x="0" y="0"/>
            <a:ext cx="73152" cy="6858000"/>
          </a:xfrm>
          <a:prstGeom prst="rect">
            <a:avLst/>
          </a:prstGeom>
          <a:solidFill>
            <a:srgbClr val="F5A623"/>
          </a:solidFill>
          <a:ln/>
        </p:spPr>
      </p:sp>
      <p:sp>
        <p:nvSpPr>
          <p:cNvPr id="5" name="Text 3"/>
          <p:cNvSpPr/>
          <p:nvPr/>
        </p:nvSpPr>
        <p:spPr>
          <a:xfrm>
            <a:off x="640080" y="566928"/>
            <a:ext cx="8229600" cy="685800"/>
          </a:xfrm>
          <a:prstGeom prst="rect">
            <a:avLst/>
          </a:prstGeom>
          <a:noFill/>
          <a:ln/>
        </p:spPr>
        <p:txBody>
          <a:bodyPr wrap="square" lIns="0" tIns="0" rIns="0" bIns="0" rtlCol="0" anchor="ctr"/>
          <a:lstStyle/>
          <a:p>
            <a:pPr marL="0" indent="0">
              <a:buNone/>
            </a:pPr>
            <a:r>
              <a:rPr lang="en-US" sz="3400" b="1" dirty="0">
                <a:solidFill>
                  <a:srgbClr val="FFFFFF"/>
                </a:solidFill>
                <a:latin typeface="Bookman Old Style" pitchFamily="34" charset="0"/>
                <a:ea typeface="Bookman Old Style" pitchFamily="34" charset="-122"/>
                <a:cs typeface="Bookman Old Style" pitchFamily="34" charset="-120"/>
              </a:rPr>
              <a:t>Conclusion</a:t>
            </a:r>
            <a:endParaRPr lang="en-US" sz="3400" dirty="0"/>
          </a:p>
        </p:txBody>
      </p:sp>
      <p:sp>
        <p:nvSpPr>
          <p:cNvPr id="6" name="Text 4"/>
          <p:cNvSpPr/>
          <p:nvPr/>
        </p:nvSpPr>
        <p:spPr>
          <a:xfrm>
            <a:off x="640080" y="1417320"/>
            <a:ext cx="10515600" cy="384048"/>
          </a:xfrm>
          <a:prstGeom prst="rect">
            <a:avLst/>
          </a:prstGeom>
          <a:noFill/>
          <a:ln/>
        </p:spPr>
        <p:txBody>
          <a:bodyPr wrap="square" lIns="0" tIns="0" rIns="0" bIns="0" rtlCol="0" anchor="ctr"/>
          <a:lstStyle/>
          <a:p>
            <a:pPr marL="0" indent="0">
              <a:buNone/>
            </a:pPr>
            <a:r>
              <a:rPr lang="en-US" sz="1450" b="1" dirty="0">
                <a:solidFill>
                  <a:srgbClr val="F5A623"/>
                </a:solidFill>
                <a:latin typeface="Calibri" pitchFamily="34" charset="0"/>
                <a:ea typeface="Calibri" pitchFamily="34" charset="-122"/>
                <a:cs typeface="Calibri" pitchFamily="34" charset="-120"/>
              </a:rPr>
              <a:t>Ce que ce projet m'a apporte</a:t>
            </a:r>
            <a:endParaRPr lang="en-US" sz="1450" dirty="0"/>
          </a:p>
        </p:txBody>
      </p:sp>
      <p:sp>
        <p:nvSpPr>
          <p:cNvPr id="7" name="Shape 5"/>
          <p:cNvSpPr/>
          <p:nvPr/>
        </p:nvSpPr>
        <p:spPr>
          <a:xfrm>
            <a:off x="713232" y="1965960"/>
            <a:ext cx="91440" cy="91440"/>
          </a:xfrm>
          <a:prstGeom prst="ellipse">
            <a:avLst/>
          </a:prstGeom>
          <a:solidFill>
            <a:srgbClr val="F5A623"/>
          </a:solidFill>
          <a:ln/>
        </p:spPr>
      </p:sp>
      <p:sp>
        <p:nvSpPr>
          <p:cNvPr id="8" name="Text 6"/>
          <p:cNvSpPr/>
          <p:nvPr/>
        </p:nvSpPr>
        <p:spPr>
          <a:xfrm>
            <a:off x="960120" y="1874520"/>
            <a:ext cx="10515600" cy="347472"/>
          </a:xfrm>
          <a:prstGeom prst="rect">
            <a:avLst/>
          </a:prstGeom>
          <a:noFill/>
          <a:ln/>
        </p:spPr>
        <p:txBody>
          <a:bodyPr wrap="square" lIns="0" tIns="0" rIns="0" bIns="0" rtlCol="0" anchor="ctr"/>
          <a:lstStyle/>
          <a:p>
            <a:pPr marL="0" indent="0">
              <a:buNone/>
            </a:pPr>
            <a:r>
              <a:rPr lang="en-US" sz="1250" dirty="0">
                <a:solidFill>
                  <a:srgbClr val="D8D8E8"/>
                </a:solidFill>
                <a:latin typeface="Calibri" pitchFamily="34" charset="0"/>
                <a:ea typeface="Calibri" pitchFamily="34" charset="-122"/>
                <a:cs typeface="Calibri" pitchFamily="34" charset="-120"/>
              </a:rPr>
              <a:t>Maitrise du HTML5 semantique et de l'accessibilite (alt, aria-label, roles)</a:t>
            </a:r>
            <a:endParaRPr lang="en-US" sz="1250" dirty="0"/>
          </a:p>
        </p:txBody>
      </p:sp>
      <p:sp>
        <p:nvSpPr>
          <p:cNvPr id="9" name="Shape 7"/>
          <p:cNvSpPr/>
          <p:nvPr/>
        </p:nvSpPr>
        <p:spPr>
          <a:xfrm>
            <a:off x="713232" y="2368296"/>
            <a:ext cx="91440" cy="91440"/>
          </a:xfrm>
          <a:prstGeom prst="ellipse">
            <a:avLst/>
          </a:prstGeom>
          <a:solidFill>
            <a:srgbClr val="F5A623"/>
          </a:solidFill>
          <a:ln/>
        </p:spPr>
      </p:sp>
      <p:sp>
        <p:nvSpPr>
          <p:cNvPr id="10" name="Text 8"/>
          <p:cNvSpPr/>
          <p:nvPr/>
        </p:nvSpPr>
        <p:spPr>
          <a:xfrm>
            <a:off x="960120" y="2276856"/>
            <a:ext cx="10515600" cy="347472"/>
          </a:xfrm>
          <a:prstGeom prst="rect">
            <a:avLst/>
          </a:prstGeom>
          <a:noFill/>
          <a:ln/>
        </p:spPr>
        <p:txBody>
          <a:bodyPr wrap="square" lIns="0" tIns="0" rIns="0" bIns="0" rtlCol="0" anchor="ctr"/>
          <a:lstStyle/>
          <a:p>
            <a:pPr marL="0" indent="0">
              <a:buNone/>
            </a:pPr>
            <a:r>
              <a:rPr lang="en-US" sz="1250" dirty="0">
                <a:solidFill>
                  <a:srgbClr val="D8D8E8"/>
                </a:solidFill>
                <a:latin typeface="Calibri" pitchFamily="34" charset="0"/>
                <a:ea typeface="Calibri" pitchFamily="34" charset="-122"/>
                <a:cs typeface="Calibri" pitchFamily="34" charset="-120"/>
              </a:rPr>
              <a:t>CSS avance : Flexbox, Grid, Bento Grid, variables CSS, animations, responsive</a:t>
            </a:r>
            <a:endParaRPr lang="en-US" sz="1250" dirty="0"/>
          </a:p>
        </p:txBody>
      </p:sp>
      <p:sp>
        <p:nvSpPr>
          <p:cNvPr id="11" name="Shape 9"/>
          <p:cNvSpPr/>
          <p:nvPr/>
        </p:nvSpPr>
        <p:spPr>
          <a:xfrm>
            <a:off x="713232" y="2770632"/>
            <a:ext cx="91440" cy="91440"/>
          </a:xfrm>
          <a:prstGeom prst="ellipse">
            <a:avLst/>
          </a:prstGeom>
          <a:solidFill>
            <a:srgbClr val="F5A623"/>
          </a:solidFill>
          <a:ln/>
        </p:spPr>
      </p:sp>
      <p:sp>
        <p:nvSpPr>
          <p:cNvPr id="12" name="Text 10"/>
          <p:cNvSpPr/>
          <p:nvPr/>
        </p:nvSpPr>
        <p:spPr>
          <a:xfrm>
            <a:off x="960120" y="2679192"/>
            <a:ext cx="10515600" cy="347472"/>
          </a:xfrm>
          <a:prstGeom prst="rect">
            <a:avLst/>
          </a:prstGeom>
          <a:noFill/>
          <a:ln/>
        </p:spPr>
        <p:txBody>
          <a:bodyPr wrap="square" lIns="0" tIns="0" rIns="0" bIns="0" rtlCol="0" anchor="ctr"/>
          <a:lstStyle/>
          <a:p>
            <a:pPr marL="0" indent="0">
              <a:buNone/>
            </a:pPr>
            <a:r>
              <a:rPr lang="en-US" sz="1250" dirty="0">
                <a:solidFill>
                  <a:srgbClr val="D8D8E8"/>
                </a:solidFill>
                <a:latin typeface="Calibri" pitchFamily="34" charset="0"/>
                <a:ea typeface="Calibri" pitchFamily="34" charset="-122"/>
                <a:cs typeface="Calibri" pitchFamily="34" charset="-120"/>
              </a:rPr>
              <a:t>JavaScript vanilla : DOM, evenements, IntersectionObserver, regex, localStorage</a:t>
            </a:r>
            <a:endParaRPr lang="en-US" sz="1250" dirty="0"/>
          </a:p>
        </p:txBody>
      </p:sp>
      <p:sp>
        <p:nvSpPr>
          <p:cNvPr id="13" name="Shape 11"/>
          <p:cNvSpPr/>
          <p:nvPr/>
        </p:nvSpPr>
        <p:spPr>
          <a:xfrm>
            <a:off x="713232" y="3172968"/>
            <a:ext cx="91440" cy="91440"/>
          </a:xfrm>
          <a:prstGeom prst="ellipse">
            <a:avLst/>
          </a:prstGeom>
          <a:solidFill>
            <a:srgbClr val="F5A623"/>
          </a:solidFill>
          <a:ln/>
        </p:spPr>
      </p:sp>
      <p:sp>
        <p:nvSpPr>
          <p:cNvPr id="14" name="Text 12"/>
          <p:cNvSpPr/>
          <p:nvPr/>
        </p:nvSpPr>
        <p:spPr>
          <a:xfrm>
            <a:off x="960120" y="3081528"/>
            <a:ext cx="10515600" cy="347472"/>
          </a:xfrm>
          <a:prstGeom prst="rect">
            <a:avLst/>
          </a:prstGeom>
          <a:noFill/>
          <a:ln/>
        </p:spPr>
        <p:txBody>
          <a:bodyPr wrap="square" lIns="0" tIns="0" rIns="0" bIns="0" rtlCol="0" anchor="ctr"/>
          <a:lstStyle/>
          <a:p>
            <a:pPr marL="0" indent="0">
              <a:buNone/>
            </a:pPr>
            <a:r>
              <a:rPr lang="en-US" sz="1250" dirty="0">
                <a:solidFill>
                  <a:srgbClr val="D8D8E8"/>
                </a:solidFill>
                <a:latin typeface="Calibri" pitchFamily="34" charset="0"/>
                <a:ea typeface="Calibri" pitchFamily="34" charset="-122"/>
                <a:cs typeface="Calibri" pitchFamily="34" charset="-120"/>
              </a:rPr>
              <a:t>Workflow Git complet : 10 commits structures, GitHub Pages, README professionnel</a:t>
            </a:r>
            <a:endParaRPr lang="en-US" sz="1250" dirty="0"/>
          </a:p>
        </p:txBody>
      </p:sp>
      <p:sp>
        <p:nvSpPr>
          <p:cNvPr id="15" name="Text 13"/>
          <p:cNvSpPr/>
          <p:nvPr/>
        </p:nvSpPr>
        <p:spPr>
          <a:xfrm>
            <a:off x="640080" y="3749040"/>
            <a:ext cx="10515600" cy="384048"/>
          </a:xfrm>
          <a:prstGeom prst="rect">
            <a:avLst/>
          </a:prstGeom>
          <a:noFill/>
          <a:ln/>
        </p:spPr>
        <p:txBody>
          <a:bodyPr wrap="square" lIns="0" tIns="0" rIns="0" bIns="0" rtlCol="0" anchor="ctr"/>
          <a:lstStyle/>
          <a:p>
            <a:pPr marL="0" indent="0">
              <a:buNone/>
            </a:pPr>
            <a:r>
              <a:rPr lang="en-US" sz="1450" b="1" dirty="0">
                <a:solidFill>
                  <a:srgbClr val="F5A623"/>
                </a:solidFill>
                <a:latin typeface="Calibri" pitchFamily="34" charset="0"/>
                <a:ea typeface="Calibri" pitchFamily="34" charset="-122"/>
                <a:cs typeface="Calibri" pitchFamily="34" charset="-120"/>
              </a:rPr>
              <a:t>Perspectives d'amelioration</a:t>
            </a:r>
            <a:endParaRPr lang="en-US" sz="1450" dirty="0"/>
          </a:p>
        </p:txBody>
      </p:sp>
      <p:sp>
        <p:nvSpPr>
          <p:cNvPr id="16" name="Shape 14"/>
          <p:cNvSpPr/>
          <p:nvPr/>
        </p:nvSpPr>
        <p:spPr>
          <a:xfrm>
            <a:off x="713232" y="4297680"/>
            <a:ext cx="91440" cy="91440"/>
          </a:xfrm>
          <a:prstGeom prst="ellipse">
            <a:avLst/>
          </a:prstGeom>
          <a:solidFill>
            <a:srgbClr val="A0C4FF"/>
          </a:solidFill>
          <a:ln/>
        </p:spPr>
      </p:sp>
      <p:sp>
        <p:nvSpPr>
          <p:cNvPr id="17" name="Text 15"/>
          <p:cNvSpPr/>
          <p:nvPr/>
        </p:nvSpPr>
        <p:spPr>
          <a:xfrm>
            <a:off x="960120" y="4206240"/>
            <a:ext cx="10515600" cy="347472"/>
          </a:xfrm>
          <a:prstGeom prst="rect">
            <a:avLst/>
          </a:prstGeom>
          <a:noFill/>
          <a:ln/>
        </p:spPr>
        <p:txBody>
          <a:bodyPr wrap="square" lIns="0" tIns="0" rIns="0" bIns="0" rtlCol="0" anchor="ctr"/>
          <a:lstStyle/>
          <a:p>
            <a:pPr marL="0" indent="0">
              <a:buNone/>
            </a:pPr>
            <a:r>
              <a:rPr lang="en-US" sz="1250" dirty="0">
                <a:solidFill>
                  <a:srgbClr val="D8D8E8"/>
                </a:solidFill>
                <a:latin typeface="Calibri" pitchFamily="34" charset="0"/>
                <a:ea typeface="Calibri" pitchFamily="34" charset="-122"/>
                <a:cs typeface="Calibri" pitchFamily="34" charset="-120"/>
              </a:rPr>
              <a:t>Backend reel (Node.js + MongoDB) pour des vrais comptes et missions</a:t>
            </a:r>
            <a:endParaRPr lang="en-US" sz="1250" dirty="0"/>
          </a:p>
        </p:txBody>
      </p:sp>
      <p:sp>
        <p:nvSpPr>
          <p:cNvPr id="18" name="Shape 16"/>
          <p:cNvSpPr/>
          <p:nvPr/>
        </p:nvSpPr>
        <p:spPr>
          <a:xfrm>
            <a:off x="713232" y="4700016"/>
            <a:ext cx="91440" cy="91440"/>
          </a:xfrm>
          <a:prstGeom prst="ellipse">
            <a:avLst/>
          </a:prstGeom>
          <a:solidFill>
            <a:srgbClr val="A0C4FF"/>
          </a:solidFill>
          <a:ln/>
        </p:spPr>
      </p:sp>
      <p:sp>
        <p:nvSpPr>
          <p:cNvPr id="19" name="Text 17"/>
          <p:cNvSpPr/>
          <p:nvPr/>
        </p:nvSpPr>
        <p:spPr>
          <a:xfrm>
            <a:off x="960120" y="4608576"/>
            <a:ext cx="10515600" cy="347472"/>
          </a:xfrm>
          <a:prstGeom prst="rect">
            <a:avLst/>
          </a:prstGeom>
          <a:noFill/>
          <a:ln/>
        </p:spPr>
        <p:txBody>
          <a:bodyPr wrap="square" lIns="0" tIns="0" rIns="0" bIns="0" rtlCol="0" anchor="ctr"/>
          <a:lstStyle/>
          <a:p>
            <a:pPr marL="0" indent="0">
              <a:buNone/>
            </a:pPr>
            <a:r>
              <a:rPr lang="en-US" sz="1250" dirty="0">
                <a:solidFill>
                  <a:srgbClr val="D8D8E8"/>
                </a:solidFill>
                <a:latin typeface="Calibri" pitchFamily="34" charset="0"/>
                <a:ea typeface="Calibri" pitchFamily="34" charset="-122"/>
                <a:cs typeface="Calibri" pitchFamily="34" charset="-120"/>
              </a:rPr>
              <a:t>Systeme de paiement integre (Mobile Money, Wave, Stripe)</a:t>
            </a:r>
            <a:endParaRPr lang="en-US" sz="1250" dirty="0"/>
          </a:p>
        </p:txBody>
      </p:sp>
      <p:sp>
        <p:nvSpPr>
          <p:cNvPr id="20" name="Shape 18"/>
          <p:cNvSpPr/>
          <p:nvPr/>
        </p:nvSpPr>
        <p:spPr>
          <a:xfrm>
            <a:off x="713232" y="5102352"/>
            <a:ext cx="91440" cy="91440"/>
          </a:xfrm>
          <a:prstGeom prst="ellipse">
            <a:avLst/>
          </a:prstGeom>
          <a:solidFill>
            <a:srgbClr val="A0C4FF"/>
          </a:solidFill>
          <a:ln/>
        </p:spPr>
      </p:sp>
      <p:sp>
        <p:nvSpPr>
          <p:cNvPr id="21" name="Text 19"/>
          <p:cNvSpPr/>
          <p:nvPr/>
        </p:nvSpPr>
        <p:spPr>
          <a:xfrm>
            <a:off x="960120" y="5010912"/>
            <a:ext cx="10515600" cy="347472"/>
          </a:xfrm>
          <a:prstGeom prst="rect">
            <a:avLst/>
          </a:prstGeom>
          <a:noFill/>
          <a:ln/>
        </p:spPr>
        <p:txBody>
          <a:bodyPr wrap="square" lIns="0" tIns="0" rIns="0" bIns="0" rtlCol="0" anchor="ctr"/>
          <a:lstStyle/>
          <a:p>
            <a:pPr marL="0" indent="0">
              <a:buNone/>
            </a:pPr>
            <a:r>
              <a:rPr lang="en-US" sz="1250" dirty="0">
                <a:solidFill>
                  <a:srgbClr val="D8D8E8"/>
                </a:solidFill>
                <a:latin typeface="Calibri" pitchFamily="34" charset="0"/>
                <a:ea typeface="Calibri" pitchFamily="34" charset="-122"/>
                <a:cs typeface="Calibri" pitchFamily="34" charset="-120"/>
              </a:rPr>
              <a:t>Messagerie en temps reel (WebSockets) entre freelances et entreprises</a:t>
            </a:r>
            <a:endParaRPr lang="en-US" sz="1250" dirty="0"/>
          </a:p>
        </p:txBody>
      </p:sp>
      <p:sp>
        <p:nvSpPr>
          <p:cNvPr id="22" name="Shape 20"/>
          <p:cNvSpPr/>
          <p:nvPr/>
        </p:nvSpPr>
        <p:spPr>
          <a:xfrm>
            <a:off x="640080" y="5596128"/>
            <a:ext cx="10881360" cy="18288"/>
          </a:xfrm>
          <a:prstGeom prst="rect">
            <a:avLst/>
          </a:prstGeom>
          <a:solidFill>
            <a:srgbClr val="3A3A5A"/>
          </a:solidFill>
          <a:ln/>
        </p:spPr>
      </p:sp>
      <p:sp>
        <p:nvSpPr>
          <p:cNvPr id="23" name="Text 21"/>
          <p:cNvSpPr/>
          <p:nvPr/>
        </p:nvSpPr>
        <p:spPr>
          <a:xfrm>
            <a:off x="640080" y="5806440"/>
            <a:ext cx="8229600" cy="502920"/>
          </a:xfrm>
          <a:prstGeom prst="rect">
            <a:avLst/>
          </a:prstGeom>
          <a:noFill/>
          <a:ln/>
        </p:spPr>
        <p:txBody>
          <a:bodyPr wrap="square" lIns="0" tIns="0" rIns="0" bIns="0" rtlCol="0" anchor="ctr"/>
          <a:lstStyle/>
          <a:p>
            <a:pPr marL="0" indent="0">
              <a:buNone/>
            </a:pPr>
            <a:r>
              <a:rPr lang="en-US" sz="2200" b="1" dirty="0">
                <a:solidFill>
                  <a:srgbClr val="FFFFFF"/>
                </a:solidFill>
                <a:latin typeface="Bookman Old Style" pitchFamily="34" charset="0"/>
                <a:ea typeface="Bookman Old Style" pitchFamily="34" charset="-122"/>
                <a:cs typeface="Bookman Old Style" pitchFamily="34" charset="-120"/>
              </a:rPr>
              <a:t>Merci pour votre attention.</a:t>
            </a:r>
            <a:endParaRPr lang="en-US" sz="2200" dirty="0"/>
          </a:p>
        </p:txBody>
      </p:sp>
      <p:sp>
        <p:nvSpPr>
          <p:cNvPr id="24" name="Text 22"/>
          <p:cNvSpPr/>
          <p:nvPr/>
        </p:nvSpPr>
        <p:spPr>
          <a:xfrm>
            <a:off x="640080" y="6309360"/>
            <a:ext cx="4572000" cy="365760"/>
          </a:xfrm>
          <a:prstGeom prst="rect">
            <a:avLst/>
          </a:prstGeom>
          <a:noFill/>
          <a:ln/>
        </p:spPr>
        <p:txBody>
          <a:bodyPr wrap="square" lIns="0" tIns="0" rIns="0" bIns="0" rtlCol="0" anchor="ctr"/>
          <a:lstStyle/>
          <a:p>
            <a:pPr marL="0" indent="0">
              <a:buNone/>
            </a:pPr>
            <a:r>
              <a:rPr lang="en-US" sz="1400" i="1" dirty="0">
                <a:solidFill>
                  <a:srgbClr val="F5A623"/>
                </a:solidFill>
                <a:latin typeface="Calibri" pitchFamily="34" charset="0"/>
                <a:ea typeface="Calibri" pitchFamily="34" charset="-122"/>
                <a:cs typeface="Calibri" pitchFamily="34" charset="-120"/>
              </a:rPr>
              <a:t>Questions ?</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1902</Words>
  <Application>Microsoft Office PowerPoint</Application>
  <PresentationFormat>Grand écran</PresentationFormat>
  <Paragraphs>266</Paragraphs>
  <Slides>14</Slides>
  <Notes>14</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14</vt:i4>
      </vt:variant>
    </vt:vector>
  </HeadingPairs>
  <TitlesOfParts>
    <vt:vector size="19" baseType="lpstr">
      <vt:lpstr>Arial</vt:lpstr>
      <vt:lpstr>Bookman Old Style</vt:lpstr>
      <vt:lpstr>Calibri</vt:lpstr>
      <vt:lpstr>Courier New</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AfriTalent - Soutenance Projet S2</dc:title>
  <dc:subject>PptxGenJS Presentation</dc:subject>
  <dc:creator>Mouhamadou Moustapha Gueye</dc:creator>
  <cp:lastModifiedBy>Mouhamed Gueye</cp:lastModifiedBy>
  <cp:revision>2</cp:revision>
  <dcterms:created xsi:type="dcterms:W3CDTF">2026-07-01T20:14:34Z</dcterms:created>
  <dcterms:modified xsi:type="dcterms:W3CDTF">2026-07-02T01:02:31Z</dcterms:modified>
</cp:coreProperties>
</file>